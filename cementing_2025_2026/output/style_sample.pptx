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4373D"/>
                </a:solidFill>
                <a:latin typeface="Montserrat Medium"/>
              </a:defRPr>
            </a:pPr>
            <a:r>
              <a:rPr sz="1200" b="0" i="0" u="none" strike="noStrike">
                <a:solidFill>
                  <a:srgbClr val="34373D"/>
                </a:solidFill>
                <a:latin typeface="Montserrat Medium"/>
              </a:rPr>
              <a:t>Средний коэффициент сцепления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— опубликованный агрегат (среднее)</c:v>
                </c:pt>
              </c:strCache>
            </c:strRef>
          </c:tx>
          <c:spPr>
            <a:solidFill>
              <a:srgbClr val="8FA6C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4373D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Открытый ствол</c:v>
                  </c:pt>
                  <c:pt idx="1">
                    <c:v>Весь интервал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0.74</c:v>
                </c:pt>
                <c:pt idx="1">
                  <c:v>0.81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— среднее по построчным данным</c:v>
                </c:pt>
              </c:strCache>
            </c:strRef>
          </c:tx>
          <c:spPr>
            <a:solidFill>
              <a:srgbClr val="4F9D4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4373D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Открытый ствол</c:v>
                  </c:pt>
                  <c:pt idx="1">
                    <c:v>Весь интервал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0.78</c:v>
                </c:pt>
                <c:pt idx="1">
                  <c:v>0.83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34373D"/>
                  </a:solidFill>
                  <a:latin typeface="Montserra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4373D"/>
                </a:solidFill>
                <a:latin typeface="Montserrat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3E8EE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6B7280"/>
              </a:solidFill>
              <a:latin typeface="Montserrat"/>
              <a:cs typeface="Montserra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88720" y="274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СП «РУСВЬЕТПЕТРО»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75488" y="978408"/>
            <a:ext cx="11338560" cy="5650992"/>
          </a:xfrm>
          <a:prstGeom prst="roundRect">
            <a:avLst>
              <a:gd name="adj" fmla="val 7282"/>
            </a:avLst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68680"/>
            <a:ext cx="11338560" cy="5650992"/>
          </a:xfrm>
          <a:prstGeom prst="roundRect">
            <a:avLst>
              <a:gd name="adj" fmla="val 7282"/>
            </a:avLst>
          </a:prstGeom>
          <a:solidFill>
            <a:srgbClr val="F4F7FA">
              <a:alpha val="94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5400000">
              <a:srgbClr val="1D3F7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033272"/>
            <a:ext cx="1060704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21240" y="1179576"/>
            <a:ext cx="100584" cy="100584"/>
          </a:xfrm>
          <a:prstGeom prst="ellipse">
            <a:avLst/>
          </a:prstGeom>
          <a:solidFill>
            <a:srgbClr val="E0A93B"/>
          </a:solidFill>
          <a:ln w="12700">
            <a:solidFill>
              <a:srgbClr val="E0A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94976" y="1179576"/>
            <a:ext cx="347472" cy="100584"/>
          </a:xfrm>
          <a:prstGeom prst="roundRect">
            <a:avLst>
              <a:gd name="adj" fmla="val 50000"/>
            </a:avLst>
          </a:prstGeom>
          <a:solidFill>
            <a:srgbClr val="4F9D46"/>
          </a:solidFill>
          <a:ln w="12700">
            <a:solidFill>
              <a:srgbClr val="4F9D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179576"/>
            <a:ext cx="777240" cy="100584"/>
          </a:xfrm>
          <a:prstGeom prst="roundRect">
            <a:avLst>
              <a:gd name="adj" fmla="val 50000"/>
            </a:avLst>
          </a:prstGeom>
          <a:solidFill>
            <a:srgbClr val="2F5FA6"/>
          </a:solidFill>
          <a:ln w="12700">
            <a:solidFill>
              <a:srgbClr val="2F5F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1691640"/>
            <a:ext cx="27432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1691640"/>
            <a:ext cx="1737360" cy="914400"/>
          </a:xfrm>
          <a:prstGeom prst="rect">
            <a:avLst/>
          </a:prstGeom>
          <a:solidFill>
            <a:srgbClr val="B9D98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0200" y="1691640"/>
            <a:ext cx="1463040" cy="914400"/>
          </a:xfrm>
          <a:prstGeom prst="rect">
            <a:avLst/>
          </a:prstGeom>
          <a:solidFill>
            <a:srgbClr val="F4F7FA"/>
          </a:solidFill>
          <a:ln w="22225">
            <a:solidFill>
              <a:srgbClr val="1D3F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28216" y="1691640"/>
            <a:ext cx="1207008" cy="2286000"/>
          </a:xfrm>
          <a:prstGeom prst="rect">
            <a:avLst/>
          </a:prstGeom>
          <a:solidFill>
            <a:srgbClr val="B9D98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47088" y="1691640"/>
            <a:ext cx="969264" cy="2286000"/>
          </a:xfrm>
          <a:prstGeom prst="rect">
            <a:avLst/>
          </a:prstGeom>
          <a:solidFill>
            <a:srgbClr val="F4F7FA"/>
          </a:solidFill>
          <a:ln w="22225">
            <a:solidFill>
              <a:srgbClr val="1D3F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9384" y="3429000"/>
            <a:ext cx="804672" cy="2194560"/>
          </a:xfrm>
          <a:prstGeom prst="rect">
            <a:avLst/>
          </a:prstGeom>
          <a:solidFill>
            <a:srgbClr val="9BC53D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39112" y="1691640"/>
            <a:ext cx="585216" cy="3931920"/>
          </a:xfrm>
          <a:prstGeom prst="rect">
            <a:avLst/>
          </a:prstGeom>
          <a:solidFill>
            <a:srgbClr val="F4F7FA"/>
          </a:solidFill>
          <a:ln w="22225">
            <a:solidFill>
              <a:srgbClr val="1D3F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83080" y="3154680"/>
            <a:ext cx="1097280" cy="0"/>
          </a:xfrm>
          <a:prstGeom prst="line">
            <a:avLst/>
          </a:prstGeom>
          <a:noFill/>
          <a:ln w="15875">
            <a:solidFill>
              <a:srgbClr val="2F5FA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783080" y="3429000"/>
            <a:ext cx="1097280" cy="0"/>
          </a:xfrm>
          <a:prstGeom prst="line">
            <a:avLst/>
          </a:prstGeom>
          <a:noFill/>
          <a:ln w="19050">
            <a:solidFill>
              <a:srgbClr val="C945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10128" y="22494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73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Кондуктор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310128" y="38039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73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Техническая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310128" y="52669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73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Эксплуатационная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310128" y="29626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5FA6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ВПЦ план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310128" y="3364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453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ВПЦ факт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2103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6B728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ИНЖЕНЕРНЫЙ АНАЛИЗ · АКЦ · ВПЦ · SRTi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24688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3F8A3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КАЧЕСТВО</a:t>
            </a:r>
            <a:endParaRPr lang="en-US" sz="32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3F8A3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ЦЕМЕНТИРОВАНИЯ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657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F5FA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обсадных колонн: 2025 → 2026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5897880" y="4572000"/>
            <a:ext cx="2834640" cy="566928"/>
          </a:xfrm>
          <a:prstGeom prst="roundRect">
            <a:avLst>
              <a:gd name="adj" fmla="val 50000"/>
            </a:avLst>
          </a:prstGeom>
          <a:solidFill>
            <a:srgbClr val="4F9D46"/>
          </a:solidFill>
          <a:ln w="12700">
            <a:solidFill>
              <a:srgbClr val="4F9D46"/>
            </a:solidFill>
            <a:prstDash val="solid"/>
          </a:ln>
          <a:effectLst>
            <a:outerShdw sx="100000" sy="100000" kx="0" ky="0" algn="bl" rotWithShape="0" blurRad="101600" dist="25400" dir="5400000">
              <a:srgbClr val="3F8A3A">
                <a:alpha val="2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5897880" y="45720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Образец оформления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012680" y="1783080"/>
            <a:ext cx="1325880" cy="1463040"/>
          </a:xfrm>
          <a:prstGeom prst="roundRect">
            <a:avLst>
              <a:gd name="adj" fmla="val 1931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D3F7A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158984" y="1929384"/>
            <a:ext cx="91440" cy="91440"/>
          </a:xfrm>
          <a:prstGeom prst="ellipse">
            <a:avLst/>
          </a:prstGeom>
          <a:solidFill>
            <a:srgbClr val="4F9D46"/>
          </a:solidFill>
          <a:ln w="12700">
            <a:solidFill>
              <a:srgbClr val="4F9D46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1003" y="2195703"/>
            <a:ext cx="729234" cy="729234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10012680" y="3429000"/>
            <a:ext cx="1325880" cy="1463040"/>
          </a:xfrm>
          <a:prstGeom prst="roundRect">
            <a:avLst>
              <a:gd name="adj" fmla="val 1931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D3F7A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10158984" y="3575304"/>
            <a:ext cx="91440" cy="91440"/>
          </a:xfrm>
          <a:prstGeom prst="ellipse">
            <a:avLst/>
          </a:prstGeom>
          <a:solidFill>
            <a:srgbClr val="4F9D46"/>
          </a:solidFill>
          <a:ln w="12700">
            <a:solidFill>
              <a:srgbClr val="4F9D46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1003" y="3841623"/>
            <a:ext cx="729234" cy="729234"/>
          </a:xfrm>
          <a:prstGeom prst="rect">
            <a:avLst/>
          </a:prstGeom>
        </p:spPr>
      </p:pic>
      <p:pic>
        <p:nvPicPr>
          <p:cNvPr id="34" name="Image 2" descr="/home/user/nestro/cementing_2025_2026/build/assets/grad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6053328"/>
            <a:ext cx="10332720" cy="457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978408"/>
            <a:ext cx="11338560" cy="5650992"/>
          </a:xfrm>
          <a:prstGeom prst="roundRect">
            <a:avLst>
              <a:gd name="adj" fmla="val 7282"/>
            </a:avLst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68680"/>
            <a:ext cx="11338560" cy="5650992"/>
          </a:xfrm>
          <a:prstGeom prst="roundRect">
            <a:avLst>
              <a:gd name="adj" fmla="val 7282"/>
            </a:avLst>
          </a:prstGeom>
          <a:solidFill>
            <a:srgbClr val="F4F7FA">
              <a:alpha val="94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5400000">
              <a:srgbClr val="1D3F7A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921240" y="1179576"/>
            <a:ext cx="100584" cy="100584"/>
          </a:xfrm>
          <a:prstGeom prst="ellipse">
            <a:avLst/>
          </a:prstGeom>
          <a:solidFill>
            <a:srgbClr val="E0A93B"/>
          </a:solidFill>
          <a:ln w="12700">
            <a:solidFill>
              <a:srgbClr val="E0A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94976" y="1179576"/>
            <a:ext cx="347472" cy="100584"/>
          </a:xfrm>
          <a:prstGeom prst="roundRect">
            <a:avLst>
              <a:gd name="adj" fmla="val 50000"/>
            </a:avLst>
          </a:prstGeom>
          <a:solidFill>
            <a:srgbClr val="4F9D46"/>
          </a:solidFill>
          <a:ln w="12700">
            <a:solidFill>
              <a:srgbClr val="4F9D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1179576"/>
            <a:ext cx="777240" cy="100584"/>
          </a:xfrm>
          <a:prstGeom prst="roundRect">
            <a:avLst>
              <a:gd name="adj" fmla="val 50000"/>
            </a:avLst>
          </a:prstGeom>
          <a:solidFill>
            <a:srgbClr val="2F5FA6"/>
          </a:solidFill>
          <a:ln w="12700">
            <a:solidFill>
              <a:srgbClr val="2F5F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868680" y="868680"/>
            <a:ext cx="603504" cy="1298448"/>
          </a:xfrm>
          <a:prstGeom prst="round2SameRect">
            <a:avLst>
              <a:gd name="adj" fmla="val 50000"/>
            </a:avLst>
          </a:prstGeom>
          <a:solidFill>
            <a:srgbClr val="4F9D46"/>
          </a:solidFill>
          <a:ln w="12700">
            <a:solidFill>
              <a:srgbClr val="4F9D4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91640" y="9875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B728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ОБРАЗЕЦ ОФОРМЛЕНИЯ · ДАННЫЕ УСЛОВНЫЕ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1261872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400" dirty="0">
                <a:solidFill>
                  <a:srgbClr val="3F8A3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Общая динамика</a:t>
            </a:r>
            <a:endParaRPr lang="en-US" sz="2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400" dirty="0">
                <a:solidFill>
                  <a:srgbClr val="2F5FA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коэффициент сцепления 2025 → 2026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77240" y="2331720"/>
            <a:ext cx="10607040" cy="3611880"/>
          </a:xfrm>
          <a:prstGeom prst="roundRect">
            <a:avLst>
              <a:gd name="adj" fmla="val 7595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05840" y="2542032"/>
            <a:ext cx="3749040" cy="978408"/>
          </a:xfrm>
          <a:prstGeom prst="roundRect">
            <a:avLst>
              <a:gd name="adj" fmla="val 16822"/>
            </a:avLst>
          </a:prstGeom>
          <a:solidFill>
            <a:srgbClr val="FFFFFF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88720" y="2633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Открытый ствол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87121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F8A3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0,78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2697480" y="29077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2025: </a:t>
            </a:r>
            <a:pPr indent="0" marL="0">
              <a:buNone/>
            </a:pPr>
            <a:r>
              <a:rPr lang="en-US" sz="950" b="1" dirty="0">
                <a:solidFill>
                  <a:srgbClr val="3437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0,74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 = 42 колонны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023360" y="2633472"/>
            <a:ext cx="621792" cy="237744"/>
          </a:xfrm>
          <a:prstGeom prst="roundRect">
            <a:avLst>
              <a:gd name="adj" fmla="val 50000"/>
            </a:avLst>
          </a:prstGeom>
          <a:solidFill>
            <a:srgbClr val="E3F1DC"/>
          </a:solidFill>
          <a:ln w="12700">
            <a:solidFill>
              <a:srgbClr val="E3F1D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023360" y="263347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8A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+0,04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005840" y="3657600"/>
            <a:ext cx="3749040" cy="978408"/>
          </a:xfrm>
          <a:prstGeom prst="roundRect">
            <a:avLst>
              <a:gd name="adj" fmla="val 16822"/>
            </a:avLst>
          </a:prstGeom>
          <a:solidFill>
            <a:srgbClr val="FFFFFF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188720" y="37490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Весь интервал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98678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F8A3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0,83</a:t>
            </a:r>
            <a:endParaRPr lang="en-US" sz="2800" dirty="0"/>
          </a:p>
        </p:txBody>
      </p:sp>
      <p:sp>
        <p:nvSpPr>
          <p:cNvPr id="21" name="Text 18"/>
          <p:cNvSpPr txBox="1"/>
          <p:nvPr/>
        </p:nvSpPr>
        <p:spPr>
          <a:xfrm>
            <a:off x="2697480" y="4023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2025: </a:t>
            </a:r>
            <a:pPr indent="0" marL="0">
              <a:buNone/>
            </a:pPr>
            <a:r>
              <a:rPr lang="en-US" sz="950" b="1" dirty="0">
                <a:solidFill>
                  <a:srgbClr val="3437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0,81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 = 42 колонны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023360" y="3749040"/>
            <a:ext cx="621792" cy="237744"/>
          </a:xfrm>
          <a:prstGeom prst="roundRect">
            <a:avLst>
              <a:gd name="adj" fmla="val 50000"/>
            </a:avLst>
          </a:prstGeom>
          <a:solidFill>
            <a:srgbClr val="E3F1DC"/>
          </a:solidFill>
          <a:ln w="12700">
            <a:solidFill>
              <a:srgbClr val="E3F1D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023360" y="374904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8A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+0,02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1005840" y="4773168"/>
            <a:ext cx="3749040" cy="978408"/>
          </a:xfrm>
          <a:prstGeom prst="roundRect">
            <a:avLst>
              <a:gd name="adj" fmla="val 16822"/>
            </a:avLst>
          </a:prstGeom>
          <a:solidFill>
            <a:srgbClr val="FFFFFF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188720" y="48646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ВПЦ: недоподъём, медиана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51023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F8A3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35 м</a:t>
            </a:r>
            <a:endParaRPr lang="en-US" sz="2800" dirty="0"/>
          </a:p>
        </p:txBody>
      </p:sp>
      <p:sp>
        <p:nvSpPr>
          <p:cNvPr id="27" name="Text 24"/>
          <p:cNvSpPr txBox="1"/>
          <p:nvPr/>
        </p:nvSpPr>
        <p:spPr>
          <a:xfrm>
            <a:off x="2697480" y="51389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2025: </a:t>
            </a:r>
            <a:pPr indent="0" marL="0">
              <a:buNone/>
            </a:pPr>
            <a:r>
              <a:rPr lang="en-US" sz="950" b="1" dirty="0">
                <a:solidFill>
                  <a:srgbClr val="3437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н/д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 = 18 пар план/факт</a:t>
            </a:r>
            <a:endParaRPr lang="en-US" sz="95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5029200" y="2514600"/>
          <a:ext cx="6172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Shape 25"/>
          <p:cNvSpPr/>
          <p:nvPr/>
        </p:nvSpPr>
        <p:spPr>
          <a:xfrm>
            <a:off x="7818120" y="6035040"/>
            <a:ext cx="35661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8001000" y="6035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Расчёт: лист «S2_Динамика», строки 4–9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10972800" y="607161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5FA6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0972800" y="6071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5F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978408"/>
            <a:ext cx="11338560" cy="5650992"/>
          </a:xfrm>
          <a:prstGeom prst="roundRect">
            <a:avLst>
              <a:gd name="adj" fmla="val 7282"/>
            </a:avLst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68680"/>
            <a:ext cx="11338560" cy="5650992"/>
          </a:xfrm>
          <a:prstGeom prst="roundRect">
            <a:avLst>
              <a:gd name="adj" fmla="val 7282"/>
            </a:avLst>
          </a:prstGeom>
          <a:solidFill>
            <a:srgbClr val="F4F7FA">
              <a:alpha val="94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5400000">
              <a:srgbClr val="1D3F7A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921240" y="1179576"/>
            <a:ext cx="100584" cy="100584"/>
          </a:xfrm>
          <a:prstGeom prst="ellipse">
            <a:avLst/>
          </a:prstGeom>
          <a:solidFill>
            <a:srgbClr val="E0A93B"/>
          </a:solidFill>
          <a:ln w="12700">
            <a:solidFill>
              <a:srgbClr val="E0A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94976" y="1179576"/>
            <a:ext cx="347472" cy="100584"/>
          </a:xfrm>
          <a:prstGeom prst="roundRect">
            <a:avLst>
              <a:gd name="adj" fmla="val 50000"/>
            </a:avLst>
          </a:prstGeom>
          <a:solidFill>
            <a:srgbClr val="4F9D46"/>
          </a:solidFill>
          <a:ln w="12700">
            <a:solidFill>
              <a:srgbClr val="4F9D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1179576"/>
            <a:ext cx="777240" cy="100584"/>
          </a:xfrm>
          <a:prstGeom prst="roundRect">
            <a:avLst>
              <a:gd name="adj" fmla="val 50000"/>
            </a:avLst>
          </a:prstGeom>
          <a:solidFill>
            <a:srgbClr val="2F5FA6"/>
          </a:solidFill>
          <a:ln w="12700">
            <a:solidFill>
              <a:srgbClr val="2F5F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868680" y="868680"/>
            <a:ext cx="603504" cy="1298448"/>
          </a:xfrm>
          <a:prstGeom prst="round2SameRect">
            <a:avLst>
              <a:gd name="adj" fmla="val 50000"/>
            </a:avLst>
          </a:prstGeom>
          <a:solidFill>
            <a:srgbClr val="4F9D46"/>
          </a:solidFill>
          <a:ln w="12700">
            <a:solidFill>
              <a:srgbClr val="4F9D4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91640" y="9875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B728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ОБРАЗЕЦ ОФОРМЛЕНИЯ · ДАННЫЕ УСЛОВНЫЕ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1261872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400" dirty="0">
                <a:solidFill>
                  <a:srgbClr val="3F8A3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Месторождение × колонна</a:t>
            </a:r>
            <a:endParaRPr lang="en-US" sz="2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400" dirty="0">
                <a:solidFill>
                  <a:srgbClr val="2F5FA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тепловая карта сцепления, весь интервал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77240" y="2331720"/>
            <a:ext cx="10607040" cy="3611880"/>
          </a:xfrm>
          <a:prstGeom prst="roundRect">
            <a:avLst>
              <a:gd name="adj" fmla="val 7595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1560" y="2560320"/>
          <a:ext cx="74066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737360"/>
                <a:gridCol w="137160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Техническая</a:t>
                      </a:r>
                      <a:endParaRPr lang="en-US" sz="105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Эксплуатационная</a:t>
                      </a:r>
                      <a:endParaRPr lang="en-US" sz="105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Хвостовик цем.</a:t>
                      </a:r>
                      <a:endParaRPr lang="en-US" sz="105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Полнота АКЦ</a:t>
                      </a:r>
                      <a:endParaRPr lang="en-US" sz="105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373D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Месторождение A</a:t>
                      </a:r>
                      <a:endParaRPr lang="en-US" sz="12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Montserrat ExtraBold" pitchFamily="34" charset="0"/>
                          <a:ea typeface="Montserrat ExtraBold" pitchFamily="34" charset="-122"/>
                          <a:cs typeface="Montserrat ExtraBold" pitchFamily="34" charset="-120"/>
                        </a:rPr>
                        <a:t>0,91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 = 18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8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4373D"/>
                          </a:solidFill>
                          <a:latin typeface="Montserrat ExtraBold" pitchFamily="34" charset="0"/>
                          <a:ea typeface="Montserrat ExtraBold" pitchFamily="34" charset="-122"/>
                          <a:cs typeface="Montserrat ExtraBold" pitchFamily="34" charset="-120"/>
                        </a:rPr>
                        <a:t>0,84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4373D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 = 17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н/д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5FA6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35 / 36</a:t>
                      </a:r>
                      <a:endParaRPr lang="en-US" sz="12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373D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Месторождение B</a:t>
                      </a:r>
                      <a:endParaRPr lang="en-US" sz="12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Montserrat ExtraBold" pitchFamily="34" charset="0"/>
                          <a:ea typeface="Montserrat ExtraBold" pitchFamily="34" charset="-122"/>
                          <a:cs typeface="Montserrat ExtraBold" pitchFamily="34" charset="-120"/>
                        </a:rPr>
                        <a:t>0,86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 = 9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E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4373D"/>
                          </a:solidFill>
                          <a:latin typeface="Montserrat ExtraBold" pitchFamily="34" charset="0"/>
                          <a:ea typeface="Montserrat ExtraBold" pitchFamily="34" charset="-122"/>
                          <a:cs typeface="Montserrat ExtraBold" pitchFamily="34" charset="-120"/>
                        </a:rPr>
                        <a:t>0,76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4373D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 = 9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4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4373D"/>
                          </a:solidFill>
                          <a:latin typeface="Montserrat ExtraBold" pitchFamily="34" charset="0"/>
                          <a:ea typeface="Montserrat ExtraBold" pitchFamily="34" charset="-122"/>
                          <a:cs typeface="Montserrat ExtraBold" pitchFamily="34" charset="-120"/>
                        </a:rPr>
                        <a:t>0,69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4373D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 = 4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5FA6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22 / 25</a:t>
                      </a:r>
                      <a:endParaRPr lang="en-US" sz="12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373D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Месторождение C</a:t>
                      </a:r>
                      <a:endParaRPr lang="en-US" sz="12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4373D"/>
                          </a:solidFill>
                          <a:latin typeface="Montserrat ExtraBold" pitchFamily="34" charset="0"/>
                          <a:ea typeface="Montserrat ExtraBold" pitchFamily="34" charset="-122"/>
                          <a:cs typeface="Montserrat ExtraBold" pitchFamily="34" charset="-120"/>
                        </a:rPr>
                        <a:t>0,82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4373D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 = 6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н/д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Montserrat ExtraBold" pitchFamily="34" charset="0"/>
                          <a:ea typeface="Montserrat ExtraBold" pitchFamily="34" charset="-122"/>
                          <a:cs typeface="Montserrat ExtraBold" pitchFamily="34" charset="-120"/>
                        </a:rPr>
                        <a:t>0,88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 = 3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E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5FA6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9 / 14</a:t>
                      </a:r>
                      <a:endParaRPr lang="en-US" sz="12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8823960" y="2560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Шкала (цветовая, не критерий «хорошо/плохо»)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823960" y="3108960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3F8A3A"/>
          </a:solidFill>
          <a:ln w="12700">
            <a:solidFill>
              <a:srgbClr val="3F8A3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326880" y="310896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7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≥ 0,90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823960" y="3474720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6FAE55"/>
          </a:solidFill>
          <a:ln w="12700">
            <a:solidFill>
              <a:srgbClr val="6FAE55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326880" y="34747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7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0,85–0,90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823960" y="3840480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A9CC5C"/>
          </a:solidFill>
          <a:ln w="12700">
            <a:solidFill>
              <a:srgbClr val="A9CC5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326880" y="38404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7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0,80–0,85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8823960" y="4206240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F0D48A"/>
          </a:solidFill>
          <a:ln w="12700">
            <a:solidFill>
              <a:srgbClr val="F0D48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326880" y="42062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7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0,70–0,80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8823960" y="4572000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E8A39E"/>
          </a:solidFill>
          <a:ln w="12700">
            <a:solidFill>
              <a:srgbClr val="E8A39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326880" y="45720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7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 0,70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8823960" y="4937760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E4E8ED"/>
          </a:solidFill>
          <a:ln w="12700">
            <a:solidFill>
              <a:srgbClr val="E4E8ED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326880" y="493776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7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н/д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1051560" y="53492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«н/д» — нет валидного замера в реестре; значения не восстанавливаются.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7818120" y="6035040"/>
            <a:ext cx="35661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001000" y="6035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Расчёт: лист «S5_Мест_Колонна»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10972800" y="607161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5FA6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0972800" y="6071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5F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978408"/>
            <a:ext cx="11338560" cy="5650992"/>
          </a:xfrm>
          <a:prstGeom prst="roundRect">
            <a:avLst>
              <a:gd name="adj" fmla="val 7282"/>
            </a:avLst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68680"/>
            <a:ext cx="11338560" cy="5650992"/>
          </a:xfrm>
          <a:prstGeom prst="roundRect">
            <a:avLst>
              <a:gd name="adj" fmla="val 7282"/>
            </a:avLst>
          </a:prstGeom>
          <a:solidFill>
            <a:srgbClr val="F4F7FA">
              <a:alpha val="94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5400000">
              <a:srgbClr val="1D3F7A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921240" y="1179576"/>
            <a:ext cx="100584" cy="100584"/>
          </a:xfrm>
          <a:prstGeom prst="ellipse">
            <a:avLst/>
          </a:prstGeom>
          <a:solidFill>
            <a:srgbClr val="E0A93B"/>
          </a:solidFill>
          <a:ln w="12700">
            <a:solidFill>
              <a:srgbClr val="E0A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94976" y="1179576"/>
            <a:ext cx="347472" cy="100584"/>
          </a:xfrm>
          <a:prstGeom prst="roundRect">
            <a:avLst>
              <a:gd name="adj" fmla="val 50000"/>
            </a:avLst>
          </a:prstGeom>
          <a:solidFill>
            <a:srgbClr val="4F9D46"/>
          </a:solidFill>
          <a:ln w="12700">
            <a:solidFill>
              <a:srgbClr val="4F9D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1179576"/>
            <a:ext cx="777240" cy="100584"/>
          </a:xfrm>
          <a:prstGeom prst="roundRect">
            <a:avLst>
              <a:gd name="adj" fmla="val 50000"/>
            </a:avLst>
          </a:prstGeom>
          <a:solidFill>
            <a:srgbClr val="2F5FA6"/>
          </a:solidFill>
          <a:ln w="12700">
            <a:solidFill>
              <a:srgbClr val="2F5F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868680" y="868680"/>
            <a:ext cx="603504" cy="1298448"/>
          </a:xfrm>
          <a:prstGeom prst="round2SameRect">
            <a:avLst>
              <a:gd name="adj" fmla="val 50000"/>
            </a:avLst>
          </a:prstGeom>
          <a:solidFill>
            <a:srgbClr val="4F9D46"/>
          </a:solidFill>
          <a:ln w="12700">
            <a:solidFill>
              <a:srgbClr val="4F9D4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91640" y="9875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B728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СЛУЖЕБНЫЙ СЛАЙД · НА СОГЛАСОВАНИЕ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1261872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400" dirty="0">
                <a:solidFill>
                  <a:srgbClr val="3F8A3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Паспорт стиля</a:t>
            </a:r>
            <a:endParaRPr lang="en-US" sz="2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400" dirty="0">
                <a:solidFill>
                  <a:srgbClr val="2F5FA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цвета, шрифты, правила диаграмм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77240" y="2331720"/>
            <a:ext cx="10607040" cy="3611880"/>
          </a:xfrm>
          <a:prstGeom prst="roundRect">
            <a:avLst>
              <a:gd name="adj" fmla="val 7595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51560" y="2560320"/>
            <a:ext cx="475488" cy="475488"/>
          </a:xfrm>
          <a:prstGeom prst="ellipse">
            <a:avLst/>
          </a:prstGeom>
          <a:solidFill>
            <a:srgbClr val="3F8A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618488" y="252374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73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Зелёный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#3F8A3A · заголовок, стр. 1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83280" y="2560320"/>
            <a:ext cx="475488" cy="475488"/>
          </a:xfrm>
          <a:prstGeom prst="ellipse">
            <a:avLst/>
          </a:prstGeom>
          <a:solidFill>
            <a:srgbClr val="4F9D4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50208" y="252374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73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Зелёный акцент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#4F9D46 · кнопки, 2026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051560" y="3364992"/>
            <a:ext cx="475488" cy="475488"/>
          </a:xfrm>
          <a:prstGeom prst="ellipse">
            <a:avLst/>
          </a:prstGeom>
          <a:solidFill>
            <a:srgbClr val="2F5FA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618488" y="332841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73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Синий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#2F5FA6 · заголовок, стр. 2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383280" y="3364992"/>
            <a:ext cx="475488" cy="475488"/>
          </a:xfrm>
          <a:prstGeom prst="ellipse">
            <a:avLst/>
          </a:prstGeom>
          <a:solidFill>
            <a:srgbClr val="1D3F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950208" y="332841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73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Тёмно-синий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#1D3F7A · контуры, схемы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051560" y="4169664"/>
            <a:ext cx="475488" cy="475488"/>
          </a:xfrm>
          <a:prstGeom prst="ellipse">
            <a:avLst/>
          </a:prstGeom>
          <a:solidFill>
            <a:srgbClr val="9BC5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618488" y="41330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73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Лайм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#9BC53D · цемент, фон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383280" y="4169664"/>
            <a:ext cx="475488" cy="475488"/>
          </a:xfrm>
          <a:prstGeom prst="ellipse">
            <a:avLst/>
          </a:prstGeom>
          <a:solidFill>
            <a:srgbClr val="E0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950208" y="41330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73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Янтарь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#E0A93B · индикатор, внимание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051560" y="4974336"/>
            <a:ext cx="475488" cy="475488"/>
          </a:xfrm>
          <a:prstGeom prst="ellipse">
            <a:avLst/>
          </a:prstGeom>
          <a:solidFill>
            <a:srgbClr val="C945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618488" y="4937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73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Красный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#C9453F · недоподъём, худшие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383280" y="4974336"/>
            <a:ext cx="475488" cy="475488"/>
          </a:xfrm>
          <a:prstGeom prst="ellipse">
            <a:avLst/>
          </a:prstGeom>
          <a:solidFill>
            <a:srgbClr val="8FA6C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950208" y="4937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73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Серо-синий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#8FA6C4 · агрегаты 2025</a:t>
            </a:r>
            <a:endParaRPr lang="en-US" sz="1050" dirty="0"/>
          </a:p>
        </p:txBody>
      </p:sp>
      <p:pic>
        <p:nvPicPr>
          <p:cNvPr id="28" name="Image 1" descr="/home/user/nestro/cementing_2025_2026/build/assets/v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606040"/>
            <a:ext cx="182880" cy="306324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6309360" y="2852928"/>
            <a:ext cx="411480" cy="0"/>
          </a:xfrm>
          <a:prstGeom prst="line">
            <a:avLst/>
          </a:prstGeom>
          <a:noFill/>
          <a:ln w="12700">
            <a:solidFill>
              <a:srgbClr val="2F5FA6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858000" y="269748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5FA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Заголовок</a:t>
            </a:r>
            <a:pPr indent="0" marL="0">
              <a:buNone/>
            </a:pPr>
            <a:r>
              <a:rPr lang="en-US" sz="1100" dirty="0">
                <a:solidFill>
                  <a:srgbClr val="3437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Montserrat ExtraBold 24–40 пт: 1-я строка зелёная, 2-я синяя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309360" y="3456432"/>
            <a:ext cx="411480" cy="0"/>
          </a:xfrm>
          <a:prstGeom prst="line">
            <a:avLst/>
          </a:prstGeom>
          <a:noFill/>
          <a:ln w="12700">
            <a:solidFill>
              <a:srgbClr val="2F5FA6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858000" y="330098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5FA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Текст</a:t>
            </a:r>
            <a:pPr indent="0" marL="0">
              <a:buNone/>
            </a:pPr>
            <a:r>
              <a:rPr lang="en-US" sz="1100" dirty="0">
                <a:solidFill>
                  <a:srgbClr val="3437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Montserrat 10–14 пт, ключевые слова жирным зелёным/синим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6309360" y="4059936"/>
            <a:ext cx="411480" cy="0"/>
          </a:xfrm>
          <a:prstGeom prst="line">
            <a:avLst/>
          </a:prstGeom>
          <a:noFill/>
          <a:ln w="12700">
            <a:solidFill>
              <a:srgbClr val="2F5FA6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858000" y="39044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5FA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2025</a:t>
            </a:r>
            <a:pPr indent="0" marL="0">
              <a:buNone/>
            </a:pPr>
            <a:r>
              <a:rPr lang="en-US" sz="1100" dirty="0">
                <a:solidFill>
                  <a:srgbClr val="3437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только опубликованные агрегаты, серо-синий, без медианы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6309360" y="4663440"/>
            <a:ext cx="411480" cy="0"/>
          </a:xfrm>
          <a:prstGeom prst="line">
            <a:avLst/>
          </a:prstGeom>
          <a:noFill/>
          <a:ln w="12700">
            <a:solidFill>
              <a:srgbClr val="2F5FA6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858000" y="450799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5FA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Пороги 0,80 / 0,90</a:t>
            </a:r>
            <a:pPr indent="0" marL="0">
              <a:buNone/>
            </a:pPr>
            <a:r>
              <a:rPr lang="en-US" sz="1100" dirty="0">
                <a:solidFill>
                  <a:srgbClr val="3437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показываются оба, пока критерий не подтверждён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6309360" y="5266944"/>
            <a:ext cx="411480" cy="0"/>
          </a:xfrm>
          <a:prstGeom prst="line">
            <a:avLst/>
          </a:prstGeom>
          <a:noFill/>
          <a:ln w="12700">
            <a:solidFill>
              <a:srgbClr val="2F5FA6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858000" y="511149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5FA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Каждый слайд</a:t>
            </a:r>
            <a:pPr indent="0" marL="0">
              <a:buNone/>
            </a:pPr>
            <a:r>
              <a:rPr lang="en-US" sz="1100" dirty="0">
                <a:solidFill>
                  <a:srgbClr val="3437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«пилюля» со ссылкой на лист и строки расчёта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7818120" y="6035040"/>
            <a:ext cx="35661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8001000" y="6035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Цвета сняты с фото экрана и нормализованы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10972800" y="607161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5FA6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10972800" y="6071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5F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Качество цементирования — образец оформления</dc:title>
  <dc:subject>PptxGenJS Presentation</dc:subject>
  <dc:creator>СП «РУСВЬЕТПЕТРО»</dc:creator>
  <cp:lastModifiedBy>СП «РУСВЬЕТПЕТРО»</cp:lastModifiedBy>
  <cp:revision>1</cp:revision>
  <dcterms:created xsi:type="dcterms:W3CDTF">2026-09-24T12:45:27Z</dcterms:created>
  <dcterms:modified xsi:type="dcterms:W3CDTF">2026-09-24T12:45:27Z</dcterms:modified>
</cp:coreProperties>
</file>