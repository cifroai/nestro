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6"/>
  </p:notesMasterIdLst>
  <p:handoutMasterIdLst>
    <p:handoutMasterId r:id="rId7"/>
  </p:handoutMasterIdLst>
  <p:sldIdLst>
    <p:sldId id="288" r:id="rId3"/>
    <p:sldId id="297" r:id="rId28"/>
    <p:sldId id="296" r:id="rId27"/>
    <p:sldId id="295" r:id="rId26"/>
    <p:sldId id="294" r:id="rId25"/>
    <p:sldId id="293" r:id="rId24"/>
    <p:sldId id="292" r:id="rId23"/>
    <p:sldId id="291" r:id="rId22"/>
    <p:sldId id="290" r:id="rId21"/>
    <p:sldId id="287" r:id="rId4"/>
    <p:sldId id="286" r:id="rId5"/>
    <p:sldId id="289" r:id="rId20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8"/>
    </p:embeddedFont>
    <p:embeddedFont>
      <p:font typeface="TT Bluescreens Pro Normal" panose="020B0006030000020204" pitchFamily="34" charset="-5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T Bluescreens Pro Expanded Med" panose="020B0006030000020204" pitchFamily="34" charset="-5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89" d="100"/>
          <a:sy n="89" d="100"/>
        </p:scale>
        <p:origin x="108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  <Relationship Id="rId20" Type="http://schemas.openxmlformats.org/officeDocument/2006/relationships/slide" Target="slides/slide5.xml"/>
  <Relationship Id="rId21" Type="http://schemas.openxmlformats.org/officeDocument/2006/relationships/slide" Target="slides/slide6.xml"/>
  <Relationship Id="rId22" Type="http://schemas.openxmlformats.org/officeDocument/2006/relationships/slide" Target="slides/slide7.xml"/>
  <Relationship Id="rId23" Type="http://schemas.openxmlformats.org/officeDocument/2006/relationships/slide" Target="slides/slide8.xml"/>
  <Relationship Id="rId24" Type="http://schemas.openxmlformats.org/officeDocument/2006/relationships/slide" Target="slides/slide9.xml"/>
  <Relationship Id="rId25" Type="http://schemas.openxmlformats.org/officeDocument/2006/relationships/slide" Target="slides/slide10.xml"/>
  <Relationship Id="rId26" Type="http://schemas.openxmlformats.org/officeDocument/2006/relationships/slide" Target="slides/slide11.xml"/>
  <Relationship Id="rId27" Type="http://schemas.openxmlformats.org/officeDocument/2006/relationships/slide" Target="slides/slide12.xml"/>
  <Relationship Id="rId28" Type="http://schemas.openxmlformats.org/officeDocument/2006/relationships/slide" Target="slides/slide1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:a16="http://schemas.microsoft.com/office/drawing/2014/main" xmlns="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xmlns="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xmlns="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xmlns="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xmlns="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xmlns="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xmlns="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:a16="http://schemas.microsoft.com/office/drawing/2014/main" xmlns="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xmlns="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:a16="http://schemas.microsoft.com/office/drawing/2014/main" xmlns="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xmlns="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:a16="http://schemas.microsoft.com/office/drawing/2014/main" xmlns="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xmlns="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:a16="http://schemas.microsoft.com/office/drawing/2014/main" xmlns="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xmlns="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xmlns="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:a16="http://schemas.microsoft.com/office/drawing/2014/main" xmlns="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xmlns="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xmlns="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newwavees.com/products/modular-tanks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www.flamax.ru/reservoirs/myagkie-rezervuary-dlya-vody.php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ironcladenvironmental.com/wp-content/uploads/2023/11/21000-Gallon-500bbl-Insulated-Frac-Tank-1.pdf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titanenviro.com/wp-content/uploads/2023/10/Fire-Water-Pond-Multi-layer-Geosynthetic-Lining-System.pdf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neftebak.ru/produktsiya/po-obemam/500-m3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poli.ru/catalog/rezervuary-i-emkosti/emkosti-2000-m3/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www.flamax.ru/reservoirs/rvs-1000m3.html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www.flamax.ru/reservoirs/rvs-500m3.html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www.flamax.ru/reservoirs/rvs-200m3.html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modutank.com/modular-rectangular-tanks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modutank.com/arctic-and-antarctic-storage-tanks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50" Type="http://schemas.openxmlformats.org/officeDocument/2006/relationships/hyperlink" Target="https://mustangextreme.com/environmental-containment/above-ground-storage/" TargetMode="Externa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New Wave Modular Storage Tank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Открытый сборный бассейн ГРП · New Wave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(newwavees.com)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newwavees.com/products/modular-tanks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2 000–6 300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30,46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диаметр при 2 000 м³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3,05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высота стенки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опция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утеплённые панели, плавающее укрытие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≈730 м² под чашу 2 000 м³ (расчёт по Ø), без проходов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Открытая чаша; укрытие — опция, снеговая нагрузка не указана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Ветровые нагрузки на укрытие и обвязку — расчётом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Утепление и укрытие снижают теплопотери; нужен подогрев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1–3 машины, сборка &lt; 8 ч (производитель); планировка основания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10. FLAMAX мягкий резервуар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Закрытая ПВХ-ёмкость · FLAMAX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(flamax.ru)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flamax.ru/reservoirs/myagkie-rezervuary-dlya-vody.php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25–250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−50…+70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°C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диапазон материала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900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г/м²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плотность ПВХ-ткани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10–12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лет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срок службы при обогреве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Габариты на странице не указаны — уточнить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Укрытие не указано; снеговую нагрузку считать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Ветровые данные не приведены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Производитель требует обогрев для плюсовой температуры воды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Автофургоном; ремонт в полевых условиях (производитель)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11. Ironclad Insulated Frac Tank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Закрытая утеплённая мобильная ёмкость · Ironclad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(ironcladenvironmental.com)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ironcladenvironmental.com/wp-content/uploads/2023/11/21…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≈79,5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 (500 барр.)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326E"/>
                </a:solidFill>
                <a:latin typeface="+mj-lt"/>
              </a:rPr>
              <a:t>13,95 × 2,59 × 3,38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габариты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≈13,6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масса порожней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EPS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R-16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утепление панелями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≈36 м² на 79,5 м³; большой запас — много ёмкостей и обвязки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Закрытый верх; снеговая нагрузка не указана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Ветровые данные не приведены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Утепление снижает теплопотери, не исключает замерзание; подогрев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13,6 т на колёсном шасси — проверить проходимость подъёма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12. Облицованный амбар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Накопительный амбар с геомембраной · пример Titan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(titanenviro.com)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titanenviro.com/wp-content/uploads/2023/10/Fire-Water-P…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2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слоя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геомембрана HDPE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80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mil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толщина HDPE (пример)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геокомпозит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и геотекстиль между слоями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по проекту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Земляное сооружение; требует отвода площадки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Открытая поверхность воды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Анкеровка и пригрузка мембраны — проектом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Защита от замерзания в решении не предусмотрена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Земляные работы, сварка и контроль швов мембраны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9. НефтеБак 500 м³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Закрытая мягкая ёмкость · НефтеБак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(neftebak.ru)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neftebak.ru/produktsiya/po-obemam/500-m3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1364" y="5780000"/>
            <a:ext cx="5300000" cy="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C00000"/>
                </a:solidFill>
                <a:latin typeface="+mn-lt"/>
              </a:rPr>
              <a:t>* Данные на странице расходятся: в тексте масса 763 кг и предел +85 °C — уточнить у производителя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500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326E"/>
                </a:solidFill>
                <a:latin typeface="+mj-lt"/>
              </a:rPr>
              <a:t>24 × 15,3 × 1,75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габариты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925*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кг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масса (таблица)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−60…+50*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°C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температурный режим (таблица)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Фигура 30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≈367 м² без проходов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TextBox 34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Укрытие не указано; снеговую нагрузку считать</a:t>
            </a:r>
          </a:p>
        </p:txBody>
      </p:sp>
      <p:sp>
        <p:nvSpPr>
          <p:cNvPr id="36" name="Фигура 36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Фигура 37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Ветровые данные не приведены</a:t>
            </a:r>
          </a:p>
        </p:txBody>
      </p:sp>
      <p:sp>
        <p:nvSpPr>
          <p:cNvPr id="40" name="Фигура 40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TextBox 41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Подогрев — опция; диапазон материала ≠ незамерзание воды</a:t>
            </a:r>
          </a:p>
        </p:txBody>
      </p:sp>
      <p:sp>
        <p:nvSpPr>
          <p:cNvPr id="43" name="Фигура 43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Фигура 44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TextBox 45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Любой транспорт; монтаж за 1 смену (производитель)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8. Политехника ПЭР-250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Закрытая эластичная ёмкость · НПФ «Политехника»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(poli.ru)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poli.ru/catalog/rezervuary-i-emkosti/emkosti-2000-m3/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250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 секции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326E"/>
                </a:solidFill>
                <a:latin typeface="+mj-lt"/>
              </a:rPr>
              <a:t>15 × 13,5 × 1,5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габариты секции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≈660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кг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масса секции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8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секций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= 2 000 м³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≈203 м² на секцию; 2 000 м³ — ≈1 620 м² без проходов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Защитный полог — опция; снеговую нагрузку считать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Крепление полога и обвязки — проектом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−60…+80 °C — диапазон применения, не незамерзание; тепловой расчёт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Лёгкие секции, без фундамента (производитель)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7. FLAMAX РВС-1000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Закрытый сборный стальной резервуар · FLAMAX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(flamax.ru)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flamax.ru/reservoirs/rvs-1000m3.html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≈1 008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полезный объём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10,92–11,70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диаметр (примеры)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10,21–11,97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высота (примеры)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100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теплоизоляция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≈94–108 м² по Ø — наименьшая площадь на 1 м³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1,0 кН/м² и 240 кг/м² — примеры; без перепроектирования не принимать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0,38 кПа и 300 Па — примеры; высота до ≈12 м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Утепление снижает теплопотери; подогрев — проектом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Монтаж 9–11 дней (производитель)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6. FLAMAX РВС-500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Закрытый сборный стальной резервуар · FLAMAX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(flamax.ru)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flamax.ru/reservoirs/rvs-500m3.html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500–509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полезный объём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8,58–9,36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диаметр (примеры)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8,37–9,57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высота (примеры)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50–100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теплоизоляция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≈58–69 м² по Ø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1,5–1,95 кН/м² — для показанных примеров, не для площадки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0,23–0,3 кПа — примеры; для площадки нужен перерасчёт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Утепление снижает теплопотери; подогрев — проектом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Монтаж 6–8 дней (производитель); сравнить с батареей РВС-200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5. FLAMAX РВС-200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Закрытый сборный стальной резервуар · FLAMAX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(flamax.ru)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flamax.ru/reservoirs/rvs-200m3.html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216–217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полезный объём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6,24–7,81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диаметр (примеры)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5,41–8,37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высота (примеры)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50–100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теплоизоляция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≈31–48 м² по Ø — компактная секция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120 кг/м² и 2,0 кН/м² — для показанных примеров, не для площадки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480 Па и 0,23 кПа — примеры; для площадки нужен перерасчёт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Утепление снижает теплопотери; подогрев — проектом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Монтаж 4–5 дней без сварки и спецтехники (производитель)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ModuTank Rectangular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Прямоугольный болтовой резервуар · ModuTank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(modutank.com)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modutank.com/modular-rectangular-tanks/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Г, Т, S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формы под стеснённую площадку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опция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плавающая или стальная крышка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2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слоя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мембрана, контроль утечек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по проекту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 и размеры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Форма подгоняется под конфигурацию площадки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Крышка — опция; несущую схему считать на снег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Ветровая нагрузка не указана — расчёт для площадки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Утепление на странице не указано; нужен подогрев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Компактные элементы, сборка ручным инструментом (производитель)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ModuTank Arctic / Antarctic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Сборная ёмкость для холодного климата · ModuTank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(modutank.com)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modutank.com/arctic-and-antarctic-storage-tanks/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−46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°C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рейтинг материалов (−50 °F)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опция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утеплённые стеновые панели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внешний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подогрев с рециркуляцией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по проекту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 и размеры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Объём и габариты — по проекту; оценить после подбора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Плавающее укрытие под снег (производитель); нагрузку площадки — расчётом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Ветровая нагрузка не указана — расчёт для площадки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−46 °C — рейтинг материала, не незамерзание воды; нужен подогрев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Модульные панели; логистику и сроки уточнить у производителя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Mustang Epic 360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Открытый наземный резервуар ГРП · Mustang Extreme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Водонакопление для бурения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300000" cy="39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671364" y="2650000"/>
            <a:ext cx="4700000" cy="1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ФОТО НЕ ЗАГРУЖЕНО</a:t>
            </a:r>
          </a:p>
          <a:p>
            <a:pPr algn="ctr">
              <a:spcBef>
                <a:spcPts val="6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Сайт производителя (mustangextreme.com) недоступен из среды подготовки: доступ закрыт сетевой политикой.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Вставьте фото продукции со страницы производителя (ссылка ниже).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64" y="5480000"/>
            <a:ext cx="5300000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Страница производителя: </a:t>
            </a:r>
            <a:r>
              <a:rPr lang="ru-RU" sz="1000" b="0" u="sng" dirty="0">
                <a:solidFill>
                  <a:srgbClr val="0078AE"/>
                </a:solidFill>
                <a:latin typeface="+mn-lt"/>
                <a:hlinkClick r:id="rId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mustangextreme.com/environmental-containment/above-grou…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1364" y="144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Ключевые характеристики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21364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6051364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1 590–7 310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1364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объём (10 000–46 000 барр.)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8930740" y="176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9060740" y="180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23–50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0740" y="213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диаметр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5921364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6051364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1 / 2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слоя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1364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мембрана по геотекстилю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8930740" y="2500000"/>
            <a:ext cx="2889376" cy="6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9060740" y="2540000"/>
            <a:ext cx="2689376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до 6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 машин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0740" y="2870000"/>
            <a:ext cx="2689376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доставка (производитель)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21364" y="3320000"/>
            <a:ext cx="589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Применимость для Южного участка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5921364" y="3650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Фигура 29"/>
          <p:cNvSpPr/>
          <p:nvPr/>
        </p:nvSpPr>
        <p:spPr>
          <a:xfrm>
            <a:off x="6011364" y="3807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6241364" y="3650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Площадь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1364" y="3650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≈415–1 960 м² по Ø 23–50 м — крупнейшее пятно застройки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011364" y="4271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6241364" y="4114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Снег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364" y="4114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Открытый резервуар; защиту от снежных масс прорабатывать отдельно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5921364" y="4578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6011364" y="4735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6241364" y="4578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Штормовой ветер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1364" y="4578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Ветровые нагрузки производителем не приведены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011364" y="5199000"/>
            <a:ext cx="150000" cy="15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241364" y="5042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Замерзание воды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1364" y="5042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Утепление и обогрев на странице не указаны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921364" y="5506000"/>
            <a:ext cx="5898752" cy="464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6011364" y="5663000"/>
            <a:ext cx="150000" cy="15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6241364" y="5506000"/>
            <a:ext cx="1450000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Доставка и монтаж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1364" y="5506000"/>
            <a:ext cx="4018752" cy="46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Монтаж «за дни» (производитель); стенки ставят тяжёлой техникой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21364" y="5990000"/>
            <a:ext cx="58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00" b="0" dirty="0">
                <a:solidFill>
                  <a:srgbClr val="4BAF46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благоприятно   </a:t>
            </a:r>
            <a:r>
              <a:rPr lang="ru-RU" sz="9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требует проработки   </a:t>
            </a:r>
            <a:r>
              <a:rPr lang="ru-RU" sz="900" b="0" dirty="0">
                <a:solidFill>
                  <a:srgbClr val="C00000"/>
                </a:solidFill>
                <a:latin typeface="+mn-lt"/>
              </a:rPr>
              <a:t>●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 ограничение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12242</TotalTime>
  <Words>708</Words>
  <Application>Microsoft Office PowerPoint</Application>
  <PresentationFormat>Широкоэкранный</PresentationFormat>
  <Paragraphs>98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Wingdings</vt:lpstr>
      <vt:lpstr>TT Bluescreens Pro Normal Mediu</vt:lpstr>
      <vt:lpstr>TT Bluescreens Pro Normal</vt:lpstr>
      <vt:lpstr>Calibri</vt:lpstr>
      <vt:lpstr>TT Bluescreens Pro Expanded Med</vt:lpstr>
      <vt:lpstr>Тема Office 2013 – 2022</vt:lpstr>
      <vt:lpstr>Статус подготовительных работ и переезда МБУ</vt:lpstr>
      <vt:lpstr>Статус подготовки площадки</vt:lpstr>
      <vt:lpstr>Причины отставания и меры</vt:lpstr>
      <vt:lpstr>График и риски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220</cp:revision>
  <dcterms:created xsi:type="dcterms:W3CDTF">2026-05-25T10:20:22Z</dcterms:created>
  <dcterms:modified xsi:type="dcterms:W3CDTF">2026-10-01T11:18:30Z</dcterms:modified>
</cp:coreProperties>
</file>