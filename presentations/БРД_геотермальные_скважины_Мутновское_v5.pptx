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xlsx" ContentType="application/vnd.openxmlformats-officedocument.spreadsheetml.sheet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744" r:id="rId1"/>
  </p:sldMasterIdLst>
  <p:notesMasterIdLst>
    <p:notesMasterId r:id="rId11"/>
  </p:notesMasterIdLst>
  <p:handoutMasterIdLst>
    <p:handoutMasterId r:id="rId12"/>
  </p:handoutMasterIdLst>
  <p:sldIdLst>
    <p:sldId id="288" r:id="rId2"/>
    <p:sldId id="297" r:id="rId3"/>
    <p:sldId id="298" r:id="rId4"/>
    <p:sldId id="299" r:id="rId5"/>
    <p:sldId id="300" r:id="rId6"/>
    <p:sldId id="301" r:id="rId7"/>
    <p:sldId id="303" r:id="rId8"/>
    <p:sldId id="304" r:id="rId9"/>
    <p:sldId id="305" r:id="rId10"/>
  </p:sldIdLst>
  <p:sldSz cx="12192000" cy="6858000"/>
  <p:notesSz cx="6858000" cy="9144000"/>
  <p:embeddedFontLst>
    <p:embeddedFont>
      <p:font typeface="TT Bluescreens Pro Normal Mediu" panose="020B0006030000020204" pitchFamily="34" charset="-52"/>
      <p:regular r:id="rId13"/>
    </p:embeddedFont>
    <p:embeddedFont>
      <p:font typeface="TT Bluescreens Pro Normal" panose="020B0006030000020204" pitchFamily="34" charset="-52"/>
      <p:regular r:id="rId14"/>
      <p:bold r:id="rId15"/>
    </p:embeddedFont>
    <p:embeddedFont>
      <p:font typeface="TT Bluescreens Pro Expanded Med" panose="020B0006030000020204" pitchFamily="34" charset="-52"/>
      <p:regular r:id="rId16"/>
    </p:embeddedFont>
    <p:embeddedFont>
      <p:font typeface="Calibri" panose="020F0502020204030204" pitchFamily="34" charset="0"/>
      <p:regular r:id="rId17"/>
      <p:bold r:id="rId18"/>
      <p:italic r:id="rId19"/>
      <p:boldItalic r:id="rId2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CF3DB"/>
    <a:srgbClr val="E5EAF0"/>
    <a:srgbClr val="CEE1A5"/>
    <a:srgbClr val="FF0000"/>
    <a:srgbClr val="0000FF"/>
    <a:srgbClr val="00FFAF"/>
    <a:srgbClr val="000000"/>
    <a:srgbClr val="32AA46"/>
    <a:srgbClr val="EAEEF3"/>
    <a:srgbClr val="0032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18" autoAdjust="0"/>
    <p:restoredTop sz="96327" autoAdjust="0"/>
  </p:normalViewPr>
  <p:slideViewPr>
    <p:cSldViewPr snapToGrid="0" snapToObjects="1">
      <p:cViewPr varScale="1">
        <p:scale>
          <a:sx n="112" d="100"/>
          <a:sy n="112" d="100"/>
        </p:scale>
        <p:origin x="708" y="10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 showGuides="1">
      <p:cViewPr varScale="1">
        <p:scale>
          <a:sx n="166" d="100"/>
          <a:sy n="166" d="100"/>
        </p:scale>
        <p:origin x="5080" y="192"/>
      </p:cViewPr>
      <p:guideLst/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МВт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4BAF46"/>
              </a:solidFill>
            </c:spPr>
          </c:dPt>
          <c:dPt>
            <c:idx val="1"/>
            <c:invertIfNegative val="1"/>
            <c:bubble3D val="0"/>
            <c:spPr>
              <a:solidFill>
                <a:srgbClr val="4BAF46"/>
              </a:solidFill>
            </c:spPr>
          </c:dPt>
          <c:dPt>
            <c:idx val="2"/>
            <c:invertIfNegative val="1"/>
            <c:bubble3D val="0"/>
            <c:spPr>
              <a:solidFill>
                <a:srgbClr val="4BAF46"/>
              </a:solidFill>
            </c:spPr>
          </c:dPt>
          <c:dPt>
            <c:idx val="3"/>
            <c:invertIfNegative val="1"/>
            <c:bubble3D val="0"/>
            <c:spPr>
              <a:solidFill>
                <a:srgbClr val="4BAF46"/>
              </a:solidFill>
            </c:spPr>
          </c:dPt>
          <c:dPt>
            <c:idx val="4"/>
            <c:invertIfNegative val="1"/>
            <c:bubble3D val="0"/>
            <c:spPr>
              <a:solidFill>
                <a:srgbClr val="4BAF46"/>
              </a:solidFill>
            </c:spPr>
          </c:dPt>
          <c:dPt>
            <c:idx val="5"/>
            <c:invertIfNegative val="1"/>
            <c:bubble3D val="0"/>
            <c:spPr>
              <a:solidFill>
                <a:srgbClr val="0078AE"/>
              </a:solidFill>
            </c:spPr>
          </c:dPt>
          <c:dPt>
            <c:idx val="6"/>
            <c:invertIfNegative val="1"/>
            <c:bubble3D val="0"/>
            <c:spPr>
              <a:solidFill>
                <a:srgbClr val="0078AE"/>
              </a:solidFill>
            </c:spPr>
          </c:dPt>
          <c:dPt>
            <c:idx val="7"/>
            <c:invertIfNegative val="1"/>
            <c:bubble3D val="0"/>
            <c:spPr>
              <a:solidFill>
                <a:srgbClr val="0078AE"/>
              </a:solidFill>
            </c:spPr>
          </c:dPt>
          <c:dPt>
            <c:idx val="8"/>
            <c:invertIfNegative val="1"/>
            <c:bubble3D val="0"/>
            <c:spPr>
              <a:solidFill>
                <a:srgbClr val="0078AE"/>
              </a:solidFill>
            </c:spPr>
          </c:dPt>
          <c:dPt>
            <c:idx val="9"/>
            <c:invertIfNegative val="1"/>
            <c:bubble3D val="0"/>
            <c:spPr>
              <a:solidFill>
                <a:srgbClr val="0078AE"/>
              </a:solidFill>
            </c:spPr>
          </c:dPt>
          <c:dPt>
            <c:idx val="10"/>
            <c:invertIfNegative val="1"/>
            <c:bubble3D val="0"/>
            <c:spPr>
              <a:solidFill>
                <a:srgbClr val="0078AE"/>
              </a:solidFill>
            </c:spPr>
          </c:dPt>
          <c:dPt>
            <c:idx val="11"/>
            <c:invertIfNegative val="1"/>
            <c:bubble3D val="0"/>
            <c:spPr>
              <a:solidFill>
                <a:srgbClr val="0078AE"/>
              </a:solidFill>
            </c:spPr>
          </c:dPt>
          <c:dPt>
            <c:idx val="12"/>
            <c:invertIfNegative val="1"/>
            <c:bubble3D val="0"/>
            <c:spPr>
              <a:solidFill>
                <a:srgbClr val="0078AE"/>
              </a:solidFill>
            </c:spPr>
          </c:dPt>
          <c:dPt>
            <c:idx val="13"/>
            <c:invertIfNegative val="1"/>
            <c:bubble3D val="0"/>
            <c:spPr>
              <a:solidFill>
                <a:srgbClr val="0078AE"/>
              </a:solidFill>
            </c:spPr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>
                    <a:solidFill>
                      <a:srgbClr val="00326E"/>
                    </a:solidFill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Sheet1!$A$2:$A$15</c:f>
              <c:strCache>
                <c:ptCount val="14"/>
                <c:pt idx="0">
                  <c:v>029W</c:v>
                </c:pt>
                <c:pt idx="1">
                  <c:v>042</c:v>
                </c:pt>
                <c:pt idx="2">
                  <c:v>Гео-3</c:v>
                </c:pt>
                <c:pt idx="3">
                  <c:v>Гео-7</c:v>
                </c:pt>
                <c:pt idx="4">
                  <c:v>Гео-1Б</c:v>
                </c:pt>
                <c:pt idx="5">
                  <c:v>Гео-2</c:v>
                </c:pt>
                <c:pt idx="6">
                  <c:v>037</c:v>
                </c:pt>
                <c:pt idx="7">
                  <c:v>Гео-6</c:v>
                </c:pt>
                <c:pt idx="8">
                  <c:v>А-4</c:v>
                </c:pt>
                <c:pt idx="9">
                  <c:v>ГК-1</c:v>
                </c:pt>
                <c:pt idx="10">
                  <c:v>Гео-8</c:v>
                </c:pt>
                <c:pt idx="11">
                  <c:v>Гео-4</c:v>
                </c:pt>
                <c:pt idx="12">
                  <c:v>016</c:v>
                </c:pt>
                <c:pt idx="13">
                  <c:v>Гео-9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7.08</c:v>
                </c:pt>
                <c:pt idx="1">
                  <c:v>4.91</c:v>
                </c:pt>
                <c:pt idx="2">
                  <c:v>4.9000000000000004</c:v>
                </c:pt>
                <c:pt idx="3">
                  <c:v>4.9000000000000004</c:v>
                </c:pt>
                <c:pt idx="4">
                  <c:v>4.1100000000000003</c:v>
                </c:pt>
                <c:pt idx="5">
                  <c:v>2.19</c:v>
                </c:pt>
                <c:pt idx="6">
                  <c:v>2.0699999999999998</c:v>
                </c:pt>
                <c:pt idx="7">
                  <c:v>1.7</c:v>
                </c:pt>
                <c:pt idx="8">
                  <c:v>1.63</c:v>
                </c:pt>
                <c:pt idx="9">
                  <c:v>1.54</c:v>
                </c:pt>
                <c:pt idx="10">
                  <c:v>1.53</c:v>
                </c:pt>
                <c:pt idx="11">
                  <c:v>1.44</c:v>
                </c:pt>
                <c:pt idx="12">
                  <c:v>1.1200000000000001</c:v>
                </c:pt>
                <c:pt idx="13">
                  <c:v>0.87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19695264"/>
        <c:axId val="219694088"/>
      </c:barChart>
      <c:catAx>
        <c:axId val="21969526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BFC8D3"/>
            </a:solidFill>
          </a:ln>
        </c:spPr>
        <c:txPr>
          <a:bodyPr/>
          <a:lstStyle/>
          <a:p>
            <a:pPr>
              <a:defRPr sz="800">
                <a:solidFill>
                  <a:srgbClr val="5A5A5A"/>
                </a:solidFill>
              </a:defRPr>
            </a:pPr>
            <a:endParaRPr lang="ru-RU"/>
          </a:p>
        </c:txPr>
        <c:crossAx val="219694088"/>
        <c:crosses val="autoZero"/>
        <c:auto val="1"/>
        <c:lblAlgn val="ctr"/>
        <c:lblOffset val="100"/>
        <c:noMultiLvlLbl val="0"/>
      </c:catAx>
      <c:valAx>
        <c:axId val="219694088"/>
        <c:scaling>
          <c:orientation val="minMax"/>
          <c:max val="8"/>
        </c:scaling>
        <c:delete val="1"/>
        <c:axPos val="l"/>
        <c:numFmt formatCode="General" sourceLinked="1"/>
        <c:majorTickMark val="out"/>
        <c:minorTickMark val="none"/>
        <c:tickLblPos val="nextTo"/>
        <c:crossAx val="219695264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ru-RU"/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="" xmlns:a16="http://schemas.microsoft.com/office/drawing/2014/main" id="{1061F133-104D-3D94-F33A-98783353F30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="" xmlns:a16="http://schemas.microsoft.com/office/drawing/2014/main" id="{F00A57D9-8044-2C66-2784-6B5BC95FCAF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01547F-7F3B-EB49-AFCC-1B3F32A21968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="" xmlns:a16="http://schemas.microsoft.com/office/drawing/2014/main" id="{1F9A3C98-0E7A-6FCC-7BFD-F6AD21CDDDF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="" xmlns:a16="http://schemas.microsoft.com/office/drawing/2014/main" id="{CAB25081-B125-EDAD-A0C1-AD2C163612F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CE9AF0-57A2-5C44-AF93-8BF26CE660E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0185145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60AA2C-32D4-F54A-BA97-57DD499C1944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859214-118D-E44B-8EFB-BFB7DF3AD28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3310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>
            <a:extLst>
              <a:ext uri="{FF2B5EF4-FFF2-40B4-BE49-F238E27FC236}">
                <a16:creationId xmlns="" xmlns:a16="http://schemas.microsoft.com/office/drawing/2014/main" id="{6922AB89-AA29-E6B4-C24C-3105ED558C8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371475" y="369395"/>
            <a:ext cx="3351031" cy="518735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="" xmlns:a16="http://schemas.microsoft.com/office/drawing/2014/main" id="{D511EEC7-FC3E-D80B-8708-3BAC1BE2F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1645920"/>
            <a:ext cx="5832475" cy="2254704"/>
          </a:xfrm>
        </p:spPr>
        <p:txBody>
          <a:bodyPr anchor="b"/>
          <a:lstStyle>
            <a:lvl1pPr>
              <a:lnSpc>
                <a:spcPts val="4000"/>
              </a:lnSpc>
              <a:defRPr sz="4000" b="0" i="0">
                <a:latin typeface="+mj-lt"/>
              </a:defRPr>
            </a:lvl1pPr>
          </a:lstStyle>
          <a:p>
            <a:r>
              <a:rPr lang="ru-RU" dirty="0"/>
              <a:t>Текст текст текст текст текст текст текст текст текст текст</a:t>
            </a:r>
            <a:endParaRPr lang="en-US" dirty="0"/>
          </a:p>
        </p:txBody>
      </p:sp>
      <p:pic>
        <p:nvPicPr>
          <p:cNvPr id="20" name="Рисунок 19">
            <a:extLst>
              <a:ext uri="{FF2B5EF4-FFF2-40B4-BE49-F238E27FC236}">
                <a16:creationId xmlns="" xmlns:a16="http://schemas.microsoft.com/office/drawing/2014/main" id="{B6B671CA-0671-1232-A327-62CA7BE9FF6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8465173" y="368300"/>
            <a:ext cx="3354418" cy="376859"/>
          </a:xfrm>
          <a:prstGeom prst="rect">
            <a:avLst/>
          </a:prstGeom>
        </p:spPr>
      </p:pic>
      <p:sp>
        <p:nvSpPr>
          <p:cNvPr id="2" name="Текст 8">
            <a:extLst>
              <a:ext uri="{FF2B5EF4-FFF2-40B4-BE49-F238E27FC236}">
                <a16:creationId xmlns="" xmlns:a16="http://schemas.microsoft.com/office/drawing/2014/main" id="{6252E02D-987C-E453-A947-6D9755CA1B4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5" y="4011257"/>
            <a:ext cx="5832475" cy="891667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100" baseline="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ru-RU" sz="2100" dirty="0">
                <a:solidFill>
                  <a:schemeClr val="tx2"/>
                </a:solidFill>
              </a:rPr>
              <a:t>Более </a:t>
            </a:r>
            <a:r>
              <a:rPr lang="ru-RU" sz="2100" dirty="0">
                <a:solidFill>
                  <a:srgbClr val="4BAF46"/>
                </a:solidFill>
              </a:rPr>
              <a:t>длинный</a:t>
            </a:r>
            <a:r>
              <a:rPr lang="ru-RU" sz="2100" dirty="0">
                <a:solidFill>
                  <a:schemeClr val="tx2"/>
                </a:solidFill>
              </a:rPr>
              <a:t> подзаголовок</a:t>
            </a:r>
            <a:r>
              <a:rPr lang="en-US" sz="2100" dirty="0">
                <a:solidFill>
                  <a:schemeClr val="tx2"/>
                </a:solidFill>
              </a:rPr>
              <a:t/>
            </a:r>
            <a:br>
              <a:rPr lang="en-US" sz="2100" dirty="0">
                <a:solidFill>
                  <a:schemeClr val="tx2"/>
                </a:solidFill>
              </a:rPr>
            </a:br>
            <a:r>
              <a:rPr lang="ru-RU" sz="2100" dirty="0">
                <a:solidFill>
                  <a:schemeClr val="tx2"/>
                </a:solidFill>
              </a:rPr>
              <a:t>в несколько строк</a:t>
            </a:r>
            <a:endParaRPr lang="en-US" sz="21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29037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Титульный слайд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="" xmlns:a16="http://schemas.microsoft.com/office/drawing/2014/main" id="{D511EEC7-FC3E-D80B-8708-3BAC1BE2F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1645920"/>
            <a:ext cx="5832475" cy="2254704"/>
          </a:xfrm>
        </p:spPr>
        <p:txBody>
          <a:bodyPr anchor="b"/>
          <a:lstStyle>
            <a:lvl1pPr>
              <a:lnSpc>
                <a:spcPts val="4000"/>
              </a:lnSpc>
              <a:defRPr sz="4000" b="0" i="0">
                <a:latin typeface="+mj-lt"/>
              </a:defRPr>
            </a:lvl1pPr>
          </a:lstStyle>
          <a:p>
            <a:r>
              <a:rPr lang="ru-RU" dirty="0"/>
              <a:t>Текст текст текст текст текст текст текст текст текст текст</a:t>
            </a:r>
            <a:endParaRPr lang="en-US" dirty="0"/>
          </a:p>
        </p:txBody>
      </p:sp>
      <p:sp>
        <p:nvSpPr>
          <p:cNvPr id="2" name="Текст 8">
            <a:extLst>
              <a:ext uri="{FF2B5EF4-FFF2-40B4-BE49-F238E27FC236}">
                <a16:creationId xmlns="" xmlns:a16="http://schemas.microsoft.com/office/drawing/2014/main" id="{4270179A-37E2-E331-B4DC-A16F9A4803F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5" y="4011257"/>
            <a:ext cx="5832475" cy="891667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100" baseline="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ru-RU" sz="2100" dirty="0">
                <a:solidFill>
                  <a:schemeClr val="tx2"/>
                </a:solidFill>
              </a:rPr>
              <a:t>Более </a:t>
            </a:r>
            <a:r>
              <a:rPr lang="ru-RU" sz="2100" dirty="0">
                <a:solidFill>
                  <a:srgbClr val="4BAF46"/>
                </a:solidFill>
              </a:rPr>
              <a:t>длинный</a:t>
            </a:r>
            <a:r>
              <a:rPr lang="ru-RU" sz="2100" dirty="0">
                <a:solidFill>
                  <a:schemeClr val="tx2"/>
                </a:solidFill>
              </a:rPr>
              <a:t> подзаголовок</a:t>
            </a:r>
            <a:r>
              <a:rPr lang="en-US" sz="2100" dirty="0">
                <a:solidFill>
                  <a:schemeClr val="tx2"/>
                </a:solidFill>
              </a:rPr>
              <a:t/>
            </a:r>
            <a:br>
              <a:rPr lang="en-US" sz="2100" dirty="0">
                <a:solidFill>
                  <a:schemeClr val="tx2"/>
                </a:solidFill>
              </a:rPr>
            </a:br>
            <a:r>
              <a:rPr lang="ru-RU" sz="2100" dirty="0">
                <a:solidFill>
                  <a:schemeClr val="tx2"/>
                </a:solidFill>
              </a:rPr>
              <a:t>в несколько строк</a:t>
            </a:r>
            <a:endParaRPr lang="en-US" sz="2100" dirty="0">
              <a:solidFill>
                <a:schemeClr val="tx2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="" xmlns:a16="http://schemas.microsoft.com/office/drawing/2014/main" id="{838835CE-8F39-2ED3-6ED0-D2F8CD63D60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371475" y="369395"/>
            <a:ext cx="3351031" cy="51873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="" xmlns:a16="http://schemas.microsoft.com/office/drawing/2014/main" id="{11156186-F16F-0322-F042-B2C44584B6B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8465173" y="368300"/>
            <a:ext cx="3354418" cy="376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8226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>
            <a:extLst>
              <a:ext uri="{FF2B5EF4-FFF2-40B4-BE49-F238E27FC236}">
                <a16:creationId xmlns="" xmlns:a16="http://schemas.microsoft.com/office/drawing/2014/main" id="{6922AB89-AA29-E6B4-C24C-3105ED558C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71475" y="689064"/>
            <a:ext cx="3351031" cy="518735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="" xmlns:a16="http://schemas.microsoft.com/office/drawing/2014/main" id="{D511EEC7-FC3E-D80B-8708-3BAC1BE2F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1645920"/>
            <a:ext cx="5832475" cy="2254704"/>
          </a:xfrm>
        </p:spPr>
        <p:txBody>
          <a:bodyPr anchor="b"/>
          <a:lstStyle>
            <a:lvl1pPr>
              <a:lnSpc>
                <a:spcPts val="4000"/>
              </a:lnSpc>
              <a:defRPr sz="4000" b="0" i="0">
                <a:latin typeface="+mj-lt"/>
              </a:defRPr>
            </a:lvl1pPr>
          </a:lstStyle>
          <a:p>
            <a:r>
              <a:rPr lang="ru-RU" dirty="0"/>
              <a:t>Текст текст текст текст текст текст текст текст текст текст</a:t>
            </a:r>
            <a:endParaRPr lang="en-US" dirty="0"/>
          </a:p>
        </p:txBody>
      </p:sp>
      <p:pic>
        <p:nvPicPr>
          <p:cNvPr id="20" name="Рисунок 19">
            <a:extLst>
              <a:ext uri="{FF2B5EF4-FFF2-40B4-BE49-F238E27FC236}">
                <a16:creationId xmlns="" xmlns:a16="http://schemas.microsoft.com/office/drawing/2014/main" id="{B6B671CA-0671-1232-A327-62CA7BE9FF6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367154" y="6112841"/>
            <a:ext cx="3354418" cy="376859"/>
          </a:xfrm>
          <a:prstGeom prst="rect">
            <a:avLst/>
          </a:prstGeom>
        </p:spPr>
      </p:pic>
      <p:sp>
        <p:nvSpPr>
          <p:cNvPr id="7" name="Текст 8">
            <a:extLst>
              <a:ext uri="{FF2B5EF4-FFF2-40B4-BE49-F238E27FC236}">
                <a16:creationId xmlns="" xmlns:a16="http://schemas.microsoft.com/office/drawing/2014/main" id="{F6E5E0A2-3441-DC91-4414-E5C19370FA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5" y="4011257"/>
            <a:ext cx="5832475" cy="891667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100" baseline="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ru-RU" sz="2100" dirty="0">
                <a:solidFill>
                  <a:schemeClr val="tx2"/>
                </a:solidFill>
              </a:rPr>
              <a:t>Более </a:t>
            </a:r>
            <a:r>
              <a:rPr lang="ru-RU" sz="2100" dirty="0">
                <a:solidFill>
                  <a:srgbClr val="4BAF46"/>
                </a:solidFill>
              </a:rPr>
              <a:t>длинный</a:t>
            </a:r>
            <a:r>
              <a:rPr lang="ru-RU" sz="2100" dirty="0">
                <a:solidFill>
                  <a:schemeClr val="tx2"/>
                </a:solidFill>
              </a:rPr>
              <a:t> подзаголовок</a:t>
            </a:r>
            <a:r>
              <a:rPr lang="en-US" sz="2100" dirty="0">
                <a:solidFill>
                  <a:schemeClr val="tx2"/>
                </a:solidFill>
              </a:rPr>
              <a:t/>
            </a:r>
            <a:br>
              <a:rPr lang="en-US" sz="2100" dirty="0">
                <a:solidFill>
                  <a:schemeClr val="tx2"/>
                </a:solidFill>
              </a:rPr>
            </a:br>
            <a:r>
              <a:rPr lang="ru-RU" sz="2100" dirty="0">
                <a:solidFill>
                  <a:schemeClr val="tx2"/>
                </a:solidFill>
              </a:rPr>
              <a:t>в несколько строк</a:t>
            </a:r>
            <a:endParaRPr lang="en-US" sz="2100" dirty="0">
              <a:solidFill>
                <a:schemeClr val="tx2"/>
              </a:solidFill>
            </a:endParaRPr>
          </a:p>
        </p:txBody>
      </p:sp>
      <p:grpSp>
        <p:nvGrpSpPr>
          <p:cNvPr id="33" name="Группа 32">
            <a:extLst>
              <a:ext uri="{FF2B5EF4-FFF2-40B4-BE49-F238E27FC236}">
                <a16:creationId xmlns="" xmlns:a16="http://schemas.microsoft.com/office/drawing/2014/main" id="{866205B0-174B-4CAF-905C-E3D68210279C}"/>
              </a:ext>
            </a:extLst>
          </p:cNvPr>
          <p:cNvGrpSpPr/>
          <p:nvPr userDrawn="1"/>
        </p:nvGrpSpPr>
        <p:grpSpPr>
          <a:xfrm>
            <a:off x="371475" y="368300"/>
            <a:ext cx="11449048" cy="72000"/>
            <a:chOff x="1802606" y="368300"/>
            <a:chExt cx="8586786" cy="92300"/>
          </a:xfrm>
        </p:grpSpPr>
        <p:sp>
          <p:nvSpPr>
            <p:cNvPr id="34" name="Прямоугольник 33">
              <a:extLst>
                <a:ext uri="{FF2B5EF4-FFF2-40B4-BE49-F238E27FC236}">
                  <a16:creationId xmlns="" xmlns:a16="http://schemas.microsoft.com/office/drawing/2014/main" id="{3355CE0C-E45E-DF7E-EA34-3DECC3ED244B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5" name="Прямоугольник 34">
              <a:extLst>
                <a:ext uri="{FF2B5EF4-FFF2-40B4-BE49-F238E27FC236}">
                  <a16:creationId xmlns="" xmlns:a16="http://schemas.microsoft.com/office/drawing/2014/main" id="{820395B7-7B9A-BF7F-3691-6B270B2F9D85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6" name="Прямоугольник 35">
              <a:extLst>
                <a:ext uri="{FF2B5EF4-FFF2-40B4-BE49-F238E27FC236}">
                  <a16:creationId xmlns="" xmlns:a16="http://schemas.microsoft.com/office/drawing/2014/main" id="{EBE3B693-EBD0-C916-2406-BA4498DD1898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7" name="Прямоугольник 36">
              <a:extLst>
                <a:ext uri="{FF2B5EF4-FFF2-40B4-BE49-F238E27FC236}">
                  <a16:creationId xmlns="" xmlns:a16="http://schemas.microsoft.com/office/drawing/2014/main" id="{23E9D015-D921-C70A-2C9A-658BE0AF27FB}"/>
                </a:ext>
              </a:extLst>
            </p:cNvPr>
            <p:cNvSpPr/>
            <p:nvPr userDrawn="1"/>
          </p:nvSpPr>
          <p:spPr>
            <a:xfrm>
              <a:off x="6095999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8" name="Прямоугольник 37">
              <a:extLst>
                <a:ext uri="{FF2B5EF4-FFF2-40B4-BE49-F238E27FC236}">
                  <a16:creationId xmlns="" xmlns:a16="http://schemas.microsoft.com/office/drawing/2014/main" id="{5C082D9F-3DA0-B589-51F4-D8C20BB205D7}"/>
                </a:ext>
              </a:extLst>
            </p:cNvPr>
            <p:cNvSpPr/>
            <p:nvPr userDrawn="1"/>
          </p:nvSpPr>
          <p:spPr>
            <a:xfrm>
              <a:off x="7527129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9" name="Прямоугольник 38">
              <a:extLst>
                <a:ext uri="{FF2B5EF4-FFF2-40B4-BE49-F238E27FC236}">
                  <a16:creationId xmlns="" xmlns:a16="http://schemas.microsoft.com/office/drawing/2014/main" id="{14445EF4-3108-F6EE-6F1D-820491DEA4F4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6183462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="" xmlns:a16="http://schemas.microsoft.com/office/drawing/2014/main" id="{D511EEC7-FC3E-D80B-8708-3BAC1BE2F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1545336"/>
            <a:ext cx="4932045" cy="3008376"/>
          </a:xfrm>
        </p:spPr>
        <p:txBody>
          <a:bodyPr anchor="b"/>
          <a:lstStyle>
            <a:lvl1pPr>
              <a:lnSpc>
                <a:spcPts val="5500"/>
              </a:lnSpc>
              <a:defRPr sz="5500" b="0" i="0">
                <a:latin typeface="+mj-lt"/>
              </a:defRPr>
            </a:lvl1pPr>
          </a:lstStyle>
          <a:p>
            <a:r>
              <a:rPr lang="ru-RU" dirty="0"/>
              <a:t>Титульный слайд </a:t>
            </a:r>
            <a:br>
              <a:rPr lang="ru-RU" dirty="0"/>
            </a:br>
            <a:r>
              <a:rPr lang="ru-RU" dirty="0"/>
              <a:t>с заголовком </a:t>
            </a:r>
            <a:br>
              <a:rPr lang="ru-RU" dirty="0"/>
            </a:br>
            <a:r>
              <a:rPr lang="ru-RU" dirty="0"/>
              <a:t>в три строки</a:t>
            </a:r>
            <a:endParaRPr lang="en-US" dirty="0"/>
          </a:p>
        </p:txBody>
      </p:sp>
      <p:sp>
        <p:nvSpPr>
          <p:cNvPr id="21" name="Picture Placeholder 2">
            <a:extLst>
              <a:ext uri="{FF2B5EF4-FFF2-40B4-BE49-F238E27FC236}">
                <a16:creationId xmlns="" xmlns:a16="http://schemas.microsoft.com/office/drawing/2014/main" id="{EE97543A-F850-1FD1-D549-DC0511AA8CC8}"/>
              </a:ext>
            </a:extLst>
          </p:cNvPr>
          <p:cNvSpPr>
            <a:spLocks noGrp="1" noChangeAspect="1"/>
          </p:cNvSpPr>
          <p:nvPr>
            <p:ph type="pic" idx="1" hasCustomPrompt="1"/>
          </p:nvPr>
        </p:nvSpPr>
        <p:spPr>
          <a:xfrm>
            <a:off x="6203949" y="438150"/>
            <a:ext cx="5616575" cy="6051551"/>
          </a:xfrm>
        </p:spPr>
        <p:txBody>
          <a:bodyPr anchor="ctr"/>
          <a:lstStyle>
            <a:lvl1pPr marL="0" indent="0" algn="ctr">
              <a:buNone/>
              <a:defRPr sz="3200" b="0" i="0">
                <a:latin typeface="TT Bluescreens Pro Normal" panose="020B0006030000020204" pitchFamily="34" charset="0"/>
              </a:defRPr>
            </a:lvl1pPr>
            <a:lvl2pPr marL="0" indent="0" algn="ctr">
              <a:spcBef>
                <a:spcPts val="0"/>
              </a:spcBef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1"/>
            <a:r>
              <a:rPr lang="ru-RU" dirty="0"/>
              <a:t>Вставка </a:t>
            </a:r>
            <a:br>
              <a:rPr lang="ru-RU" dirty="0"/>
            </a:br>
            <a:r>
              <a:rPr lang="ru-RU" dirty="0"/>
              <a:t>рисунка</a:t>
            </a:r>
            <a:endParaRPr lang="en-US" dirty="0"/>
          </a:p>
        </p:txBody>
      </p:sp>
      <p:grpSp>
        <p:nvGrpSpPr>
          <p:cNvPr id="43" name="Группа 42">
            <a:extLst>
              <a:ext uri="{FF2B5EF4-FFF2-40B4-BE49-F238E27FC236}">
                <a16:creationId xmlns="" xmlns:a16="http://schemas.microsoft.com/office/drawing/2014/main" id="{4CCF2A1A-6731-FA67-3E5C-FD8F6AE64842}"/>
              </a:ext>
            </a:extLst>
          </p:cNvPr>
          <p:cNvGrpSpPr/>
          <p:nvPr userDrawn="1"/>
        </p:nvGrpSpPr>
        <p:grpSpPr>
          <a:xfrm>
            <a:off x="6203949" y="368300"/>
            <a:ext cx="5616573" cy="72000"/>
            <a:chOff x="1802606" y="368300"/>
            <a:chExt cx="8586786" cy="92300"/>
          </a:xfrm>
        </p:grpSpPr>
        <p:sp>
          <p:nvSpPr>
            <p:cNvPr id="44" name="Прямоугольник 43">
              <a:extLst>
                <a:ext uri="{FF2B5EF4-FFF2-40B4-BE49-F238E27FC236}">
                  <a16:creationId xmlns="" xmlns:a16="http://schemas.microsoft.com/office/drawing/2014/main" id="{1E9FC09B-02A8-64B4-1349-34EF596C4D42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5" name="Прямоугольник 44">
              <a:extLst>
                <a:ext uri="{FF2B5EF4-FFF2-40B4-BE49-F238E27FC236}">
                  <a16:creationId xmlns="" xmlns:a16="http://schemas.microsoft.com/office/drawing/2014/main" id="{13E10249-934D-0927-49BF-C01331F82BF3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6" name="Прямоугольник 45">
              <a:extLst>
                <a:ext uri="{FF2B5EF4-FFF2-40B4-BE49-F238E27FC236}">
                  <a16:creationId xmlns="" xmlns:a16="http://schemas.microsoft.com/office/drawing/2014/main" id="{060DDCE2-8A3F-D565-C782-77FFFFA156F7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7" name="Прямоугольник 46">
              <a:extLst>
                <a:ext uri="{FF2B5EF4-FFF2-40B4-BE49-F238E27FC236}">
                  <a16:creationId xmlns="" xmlns:a16="http://schemas.microsoft.com/office/drawing/2014/main" id="{201BEC10-9DFE-9871-2DF1-EEBC0B0A4BE8}"/>
                </a:ext>
              </a:extLst>
            </p:cNvPr>
            <p:cNvSpPr/>
            <p:nvPr userDrawn="1"/>
          </p:nvSpPr>
          <p:spPr>
            <a:xfrm>
              <a:off x="6095999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8" name="Прямоугольник 47">
              <a:extLst>
                <a:ext uri="{FF2B5EF4-FFF2-40B4-BE49-F238E27FC236}">
                  <a16:creationId xmlns="" xmlns:a16="http://schemas.microsoft.com/office/drawing/2014/main" id="{4A79793C-B489-EBEB-945B-22B36A974900}"/>
                </a:ext>
              </a:extLst>
            </p:cNvPr>
            <p:cNvSpPr/>
            <p:nvPr userDrawn="1"/>
          </p:nvSpPr>
          <p:spPr>
            <a:xfrm>
              <a:off x="7527129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>
              <a:extLst>
                <a:ext uri="{FF2B5EF4-FFF2-40B4-BE49-F238E27FC236}">
                  <a16:creationId xmlns="" xmlns:a16="http://schemas.microsoft.com/office/drawing/2014/main" id="{3D08D57A-8561-7AD9-BBAD-A6282B11BA2A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pic>
        <p:nvPicPr>
          <p:cNvPr id="2" name="Рисунок 1">
            <a:extLst>
              <a:ext uri="{FF2B5EF4-FFF2-40B4-BE49-F238E27FC236}">
                <a16:creationId xmlns="" xmlns:a16="http://schemas.microsoft.com/office/drawing/2014/main" id="{C5A9F417-A7B6-8EAF-A768-2C65D05470F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71475" y="369395"/>
            <a:ext cx="3351031" cy="51873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="" xmlns:a16="http://schemas.microsoft.com/office/drawing/2014/main" id="{7D86BB3B-F8C5-F8DE-E01B-5C61B653B32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367154" y="6112841"/>
            <a:ext cx="3354418" cy="376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16466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лайд-разделитель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="" xmlns:a16="http://schemas.microsoft.com/office/drawing/2014/main" id="{D511EEC7-FC3E-D80B-8708-3BAC1BE2F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4114032"/>
            <a:ext cx="10477500" cy="1274400"/>
          </a:xfrm>
        </p:spPr>
        <p:txBody>
          <a:bodyPr anchor="b"/>
          <a:lstStyle>
            <a:lvl1pPr>
              <a:lnSpc>
                <a:spcPts val="4500"/>
              </a:lnSpc>
              <a:defRPr sz="45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ru-RU" dirty="0"/>
              <a:t>Слайд-разделитель</a:t>
            </a:r>
            <a:endParaRPr lang="en-US" dirty="0"/>
          </a:p>
        </p:txBody>
      </p:sp>
      <p:pic>
        <p:nvPicPr>
          <p:cNvPr id="3" name="Рисунок 2">
            <a:extLst>
              <a:ext uri="{FF2B5EF4-FFF2-40B4-BE49-F238E27FC236}">
                <a16:creationId xmlns="" xmlns:a16="http://schemas.microsoft.com/office/drawing/2014/main" id="{C5D69904-6A27-16CF-3FC2-44B5B550FF5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=""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87969"/>
            <a:ext cx="520926" cy="520926"/>
          </a:xfrm>
          <a:prstGeom prst="rect">
            <a:avLst/>
          </a:prstGeom>
        </p:spPr>
      </p:pic>
      <p:sp>
        <p:nvSpPr>
          <p:cNvPr id="31" name="Text Placeholder 3">
            <a:extLst>
              <a:ext uri="{FF2B5EF4-FFF2-40B4-BE49-F238E27FC236}">
                <a16:creationId xmlns="" xmlns:a16="http://schemas.microsoft.com/office/drawing/2014/main" id="{8A505FCE-CA29-8E49-4AC1-800570054A9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371475" y="5353200"/>
            <a:ext cx="10477500" cy="371287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Подзаголовок второго порядка</a:t>
            </a:r>
          </a:p>
        </p:txBody>
      </p:sp>
      <p:grpSp>
        <p:nvGrpSpPr>
          <p:cNvPr id="46" name="Группа 45">
            <a:extLst>
              <a:ext uri="{FF2B5EF4-FFF2-40B4-BE49-F238E27FC236}">
                <a16:creationId xmlns="" xmlns:a16="http://schemas.microsoft.com/office/drawing/2014/main" id="{01395D1E-FB07-285F-1D40-59855D3B38AD}"/>
              </a:ext>
            </a:extLst>
          </p:cNvPr>
          <p:cNvGrpSpPr/>
          <p:nvPr userDrawn="1"/>
        </p:nvGrpSpPr>
        <p:grpSpPr>
          <a:xfrm>
            <a:off x="371475" y="368300"/>
            <a:ext cx="11449052" cy="72000"/>
            <a:chOff x="1802606" y="368300"/>
            <a:chExt cx="8586786" cy="92300"/>
          </a:xfrm>
        </p:grpSpPr>
        <p:sp>
          <p:nvSpPr>
            <p:cNvPr id="47" name="Прямоугольник 46">
              <a:extLst>
                <a:ext uri="{FF2B5EF4-FFF2-40B4-BE49-F238E27FC236}">
                  <a16:creationId xmlns="" xmlns:a16="http://schemas.microsoft.com/office/drawing/2014/main" id="{1D47909A-3C7E-AB8B-6D6E-ED6113A30AAE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8" name="Прямоугольник 47">
              <a:extLst>
                <a:ext uri="{FF2B5EF4-FFF2-40B4-BE49-F238E27FC236}">
                  <a16:creationId xmlns="" xmlns:a16="http://schemas.microsoft.com/office/drawing/2014/main" id="{74DD34AC-CF2B-445D-D397-067B41BFCA90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>
              <a:extLst>
                <a:ext uri="{FF2B5EF4-FFF2-40B4-BE49-F238E27FC236}">
                  <a16:creationId xmlns="" xmlns:a16="http://schemas.microsoft.com/office/drawing/2014/main" id="{0E34296B-7C26-56A8-F167-4EC91F1BCA6B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0" name="Прямоугольник 49">
              <a:extLst>
                <a:ext uri="{FF2B5EF4-FFF2-40B4-BE49-F238E27FC236}">
                  <a16:creationId xmlns="" xmlns:a16="http://schemas.microsoft.com/office/drawing/2014/main" id="{432D1DB9-B2BB-CE00-F0FD-463BD5EC19CE}"/>
                </a:ext>
              </a:extLst>
            </p:cNvPr>
            <p:cNvSpPr/>
            <p:nvPr userDrawn="1"/>
          </p:nvSpPr>
          <p:spPr>
            <a:xfrm>
              <a:off x="6095998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>
              <a:extLst>
                <a:ext uri="{FF2B5EF4-FFF2-40B4-BE49-F238E27FC236}">
                  <a16:creationId xmlns="" xmlns:a16="http://schemas.microsoft.com/office/drawing/2014/main" id="{3A1E06DE-819F-930F-5FF2-CBB7D0DC3B62}"/>
                </a:ext>
              </a:extLst>
            </p:cNvPr>
            <p:cNvSpPr/>
            <p:nvPr userDrawn="1"/>
          </p:nvSpPr>
          <p:spPr>
            <a:xfrm>
              <a:off x="7527128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2" name="Прямоугольник 51">
              <a:extLst>
                <a:ext uri="{FF2B5EF4-FFF2-40B4-BE49-F238E27FC236}">
                  <a16:creationId xmlns="" xmlns:a16="http://schemas.microsoft.com/office/drawing/2014/main" id="{2CCAF0B2-5F1D-FB59-CD96-6ED080F4528E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037272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лайд-разделител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Группа 33">
            <a:extLst>
              <a:ext uri="{FF2B5EF4-FFF2-40B4-BE49-F238E27FC236}">
                <a16:creationId xmlns="" xmlns:a16="http://schemas.microsoft.com/office/drawing/2014/main" id="{3EC3F9AE-8D23-6FCA-72D5-1B441FFBD0B4}"/>
              </a:ext>
            </a:extLst>
          </p:cNvPr>
          <p:cNvGrpSpPr/>
          <p:nvPr userDrawn="1"/>
        </p:nvGrpSpPr>
        <p:grpSpPr>
          <a:xfrm>
            <a:off x="371475" y="368300"/>
            <a:ext cx="11449048" cy="72000"/>
            <a:chOff x="1802606" y="368300"/>
            <a:chExt cx="8586786" cy="92300"/>
          </a:xfrm>
        </p:grpSpPr>
        <p:sp>
          <p:nvSpPr>
            <p:cNvPr id="35" name="Прямоугольник 34">
              <a:extLst>
                <a:ext uri="{FF2B5EF4-FFF2-40B4-BE49-F238E27FC236}">
                  <a16:creationId xmlns="" xmlns:a16="http://schemas.microsoft.com/office/drawing/2014/main" id="{E563AF0F-5955-6170-29EE-2CEF391C7B33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6" name="Прямоугольник 35">
              <a:extLst>
                <a:ext uri="{FF2B5EF4-FFF2-40B4-BE49-F238E27FC236}">
                  <a16:creationId xmlns="" xmlns:a16="http://schemas.microsoft.com/office/drawing/2014/main" id="{3DFA4962-8A3A-FE64-7AB8-26FB403DD16E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7" name="Прямоугольник 36">
              <a:extLst>
                <a:ext uri="{FF2B5EF4-FFF2-40B4-BE49-F238E27FC236}">
                  <a16:creationId xmlns="" xmlns:a16="http://schemas.microsoft.com/office/drawing/2014/main" id="{655616F9-0BAC-F10B-65BB-355B8DC64F1B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8" name="Прямоугольник 37">
              <a:extLst>
                <a:ext uri="{FF2B5EF4-FFF2-40B4-BE49-F238E27FC236}">
                  <a16:creationId xmlns="" xmlns:a16="http://schemas.microsoft.com/office/drawing/2014/main" id="{A75E6AEB-D8CE-CBCA-C692-CA1F14F9F229}"/>
                </a:ext>
              </a:extLst>
            </p:cNvPr>
            <p:cNvSpPr/>
            <p:nvPr userDrawn="1"/>
          </p:nvSpPr>
          <p:spPr>
            <a:xfrm>
              <a:off x="6095999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9" name="Прямоугольник 38">
              <a:extLst>
                <a:ext uri="{FF2B5EF4-FFF2-40B4-BE49-F238E27FC236}">
                  <a16:creationId xmlns="" xmlns:a16="http://schemas.microsoft.com/office/drawing/2014/main" id="{3926591C-B1B3-AD42-68F7-7277238E8CE3}"/>
                </a:ext>
              </a:extLst>
            </p:cNvPr>
            <p:cNvSpPr/>
            <p:nvPr userDrawn="1"/>
          </p:nvSpPr>
          <p:spPr>
            <a:xfrm>
              <a:off x="7527129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Прямоугольник 39">
              <a:extLst>
                <a:ext uri="{FF2B5EF4-FFF2-40B4-BE49-F238E27FC236}">
                  <a16:creationId xmlns="" xmlns:a16="http://schemas.microsoft.com/office/drawing/2014/main" id="{D206590C-4368-7913-FE77-86BEC5207B55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pic>
        <p:nvPicPr>
          <p:cNvPr id="43" name="Рисунок 42">
            <a:extLst>
              <a:ext uri="{FF2B5EF4-FFF2-40B4-BE49-F238E27FC236}">
                <a16:creationId xmlns="" xmlns:a16="http://schemas.microsoft.com/office/drawing/2014/main" id="{4E017EDD-44EF-5F1A-A3C4-B1F957BA509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71475" y="685800"/>
            <a:ext cx="523875" cy="523875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="" xmlns:a16="http://schemas.microsoft.com/office/drawing/2014/main" id="{5FF432FE-7A92-995A-BBD6-A617211715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4114800"/>
            <a:ext cx="10477500" cy="1273536"/>
          </a:xfrm>
        </p:spPr>
        <p:txBody>
          <a:bodyPr anchor="b"/>
          <a:lstStyle>
            <a:lvl1pPr>
              <a:lnSpc>
                <a:spcPts val="4500"/>
              </a:lnSpc>
              <a:defRPr sz="45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ru-RU" dirty="0"/>
              <a:t>Слайд-разделитель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="" xmlns:a16="http://schemas.microsoft.com/office/drawing/2014/main" id="{9249AE30-3894-32A1-A3DA-52ABA244D5C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371475" y="5353200"/>
            <a:ext cx="10477500" cy="371287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Подзаголовок второго порядка</a:t>
            </a:r>
          </a:p>
        </p:txBody>
      </p:sp>
    </p:spTree>
    <p:extLst>
      <p:ext uri="{BB962C8B-B14F-4D97-AF65-F5344CB8AC3E}">
        <p14:creationId xmlns:p14="http://schemas.microsoft.com/office/powerpoint/2010/main" val="31154362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Слайд-разделитель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="" xmlns:a16="http://schemas.microsoft.com/office/drawing/2014/main" id="{D511EEC7-FC3E-D80B-8708-3BAC1BE2F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2206020"/>
            <a:ext cx="10477500" cy="1273536"/>
          </a:xfrm>
        </p:spPr>
        <p:txBody>
          <a:bodyPr anchor="b"/>
          <a:lstStyle>
            <a:lvl1pPr>
              <a:lnSpc>
                <a:spcPts val="4500"/>
              </a:lnSpc>
              <a:defRPr sz="45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ru-RU" dirty="0"/>
              <a:t>Слайд-разделитель</a:t>
            </a:r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="" xmlns:a16="http://schemas.microsoft.com/office/drawing/2014/main" id="{8A505FCE-CA29-8E49-4AC1-800570054A9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371475" y="3443956"/>
            <a:ext cx="10477500" cy="939201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Подзаголовок второго порядка</a:t>
            </a:r>
          </a:p>
        </p:txBody>
      </p:sp>
      <p:grpSp>
        <p:nvGrpSpPr>
          <p:cNvPr id="34" name="Группа 33">
            <a:extLst>
              <a:ext uri="{FF2B5EF4-FFF2-40B4-BE49-F238E27FC236}">
                <a16:creationId xmlns="" xmlns:a16="http://schemas.microsoft.com/office/drawing/2014/main" id="{3EC3F9AE-8D23-6FCA-72D5-1B441FFBD0B4}"/>
              </a:ext>
            </a:extLst>
          </p:cNvPr>
          <p:cNvGrpSpPr/>
          <p:nvPr userDrawn="1"/>
        </p:nvGrpSpPr>
        <p:grpSpPr>
          <a:xfrm>
            <a:off x="371475" y="368300"/>
            <a:ext cx="11449048" cy="72000"/>
            <a:chOff x="1802606" y="368300"/>
            <a:chExt cx="8586786" cy="92300"/>
          </a:xfrm>
        </p:grpSpPr>
        <p:sp>
          <p:nvSpPr>
            <p:cNvPr id="35" name="Прямоугольник 34">
              <a:extLst>
                <a:ext uri="{FF2B5EF4-FFF2-40B4-BE49-F238E27FC236}">
                  <a16:creationId xmlns="" xmlns:a16="http://schemas.microsoft.com/office/drawing/2014/main" id="{E563AF0F-5955-6170-29EE-2CEF391C7B33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6" name="Прямоугольник 35">
              <a:extLst>
                <a:ext uri="{FF2B5EF4-FFF2-40B4-BE49-F238E27FC236}">
                  <a16:creationId xmlns="" xmlns:a16="http://schemas.microsoft.com/office/drawing/2014/main" id="{3DFA4962-8A3A-FE64-7AB8-26FB403DD16E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7" name="Прямоугольник 36">
              <a:extLst>
                <a:ext uri="{FF2B5EF4-FFF2-40B4-BE49-F238E27FC236}">
                  <a16:creationId xmlns="" xmlns:a16="http://schemas.microsoft.com/office/drawing/2014/main" id="{655616F9-0BAC-F10B-65BB-355B8DC64F1B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8" name="Прямоугольник 37">
              <a:extLst>
                <a:ext uri="{FF2B5EF4-FFF2-40B4-BE49-F238E27FC236}">
                  <a16:creationId xmlns="" xmlns:a16="http://schemas.microsoft.com/office/drawing/2014/main" id="{A75E6AEB-D8CE-CBCA-C692-CA1F14F9F229}"/>
                </a:ext>
              </a:extLst>
            </p:cNvPr>
            <p:cNvSpPr/>
            <p:nvPr userDrawn="1"/>
          </p:nvSpPr>
          <p:spPr>
            <a:xfrm>
              <a:off x="6095999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9" name="Прямоугольник 38">
              <a:extLst>
                <a:ext uri="{FF2B5EF4-FFF2-40B4-BE49-F238E27FC236}">
                  <a16:creationId xmlns="" xmlns:a16="http://schemas.microsoft.com/office/drawing/2014/main" id="{3926591C-B1B3-AD42-68F7-7277238E8CE3}"/>
                </a:ext>
              </a:extLst>
            </p:cNvPr>
            <p:cNvSpPr/>
            <p:nvPr userDrawn="1"/>
          </p:nvSpPr>
          <p:spPr>
            <a:xfrm>
              <a:off x="7527129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Прямоугольник 39">
              <a:extLst>
                <a:ext uri="{FF2B5EF4-FFF2-40B4-BE49-F238E27FC236}">
                  <a16:creationId xmlns="" xmlns:a16="http://schemas.microsoft.com/office/drawing/2014/main" id="{D206590C-4368-7913-FE77-86BEC5207B55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pic>
        <p:nvPicPr>
          <p:cNvPr id="2" name="Рисунок 1">
            <a:extLst>
              <a:ext uri="{FF2B5EF4-FFF2-40B4-BE49-F238E27FC236}">
                <a16:creationId xmlns="" xmlns:a16="http://schemas.microsoft.com/office/drawing/2014/main" id="{27458E88-25AF-C3F5-687F-DEDEFEBE382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371475" y="685800"/>
            <a:ext cx="523875" cy="52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352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Слайд-разделитель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="" xmlns:a16="http://schemas.microsoft.com/office/drawing/2014/main" id="{D511EEC7-FC3E-D80B-8708-3BAC1BE2F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2206020"/>
            <a:ext cx="10477500" cy="1273536"/>
          </a:xfrm>
        </p:spPr>
        <p:txBody>
          <a:bodyPr anchor="b"/>
          <a:lstStyle>
            <a:lvl1pPr>
              <a:lnSpc>
                <a:spcPts val="4500"/>
              </a:lnSpc>
              <a:defRPr sz="45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ru-RU" dirty="0"/>
              <a:t>Слайд-разделитель</a:t>
            </a:r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="" xmlns:a16="http://schemas.microsoft.com/office/drawing/2014/main" id="{8A505FCE-CA29-8E49-4AC1-800570054A9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371475" y="3443956"/>
            <a:ext cx="10477500" cy="939201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Подзаголовок второго порядка</a:t>
            </a:r>
          </a:p>
        </p:txBody>
      </p:sp>
      <p:grpSp>
        <p:nvGrpSpPr>
          <p:cNvPr id="34" name="Группа 33">
            <a:extLst>
              <a:ext uri="{FF2B5EF4-FFF2-40B4-BE49-F238E27FC236}">
                <a16:creationId xmlns="" xmlns:a16="http://schemas.microsoft.com/office/drawing/2014/main" id="{3EC3F9AE-8D23-6FCA-72D5-1B441FFBD0B4}"/>
              </a:ext>
            </a:extLst>
          </p:cNvPr>
          <p:cNvGrpSpPr/>
          <p:nvPr userDrawn="1"/>
        </p:nvGrpSpPr>
        <p:grpSpPr>
          <a:xfrm>
            <a:off x="371475" y="368300"/>
            <a:ext cx="11449048" cy="72000"/>
            <a:chOff x="1802606" y="368300"/>
            <a:chExt cx="8586786" cy="92300"/>
          </a:xfrm>
        </p:grpSpPr>
        <p:sp>
          <p:nvSpPr>
            <p:cNvPr id="35" name="Прямоугольник 34">
              <a:extLst>
                <a:ext uri="{FF2B5EF4-FFF2-40B4-BE49-F238E27FC236}">
                  <a16:creationId xmlns="" xmlns:a16="http://schemas.microsoft.com/office/drawing/2014/main" id="{E563AF0F-5955-6170-29EE-2CEF391C7B33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6" name="Прямоугольник 35">
              <a:extLst>
                <a:ext uri="{FF2B5EF4-FFF2-40B4-BE49-F238E27FC236}">
                  <a16:creationId xmlns="" xmlns:a16="http://schemas.microsoft.com/office/drawing/2014/main" id="{3DFA4962-8A3A-FE64-7AB8-26FB403DD16E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7" name="Прямоугольник 36">
              <a:extLst>
                <a:ext uri="{FF2B5EF4-FFF2-40B4-BE49-F238E27FC236}">
                  <a16:creationId xmlns="" xmlns:a16="http://schemas.microsoft.com/office/drawing/2014/main" id="{655616F9-0BAC-F10B-65BB-355B8DC64F1B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8" name="Прямоугольник 37">
              <a:extLst>
                <a:ext uri="{FF2B5EF4-FFF2-40B4-BE49-F238E27FC236}">
                  <a16:creationId xmlns="" xmlns:a16="http://schemas.microsoft.com/office/drawing/2014/main" id="{A75E6AEB-D8CE-CBCA-C692-CA1F14F9F229}"/>
                </a:ext>
              </a:extLst>
            </p:cNvPr>
            <p:cNvSpPr/>
            <p:nvPr userDrawn="1"/>
          </p:nvSpPr>
          <p:spPr>
            <a:xfrm>
              <a:off x="6095999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9" name="Прямоугольник 38">
              <a:extLst>
                <a:ext uri="{FF2B5EF4-FFF2-40B4-BE49-F238E27FC236}">
                  <a16:creationId xmlns="" xmlns:a16="http://schemas.microsoft.com/office/drawing/2014/main" id="{3926591C-B1B3-AD42-68F7-7277238E8CE3}"/>
                </a:ext>
              </a:extLst>
            </p:cNvPr>
            <p:cNvSpPr/>
            <p:nvPr userDrawn="1"/>
          </p:nvSpPr>
          <p:spPr>
            <a:xfrm>
              <a:off x="7527129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Прямоугольник 39">
              <a:extLst>
                <a:ext uri="{FF2B5EF4-FFF2-40B4-BE49-F238E27FC236}">
                  <a16:creationId xmlns="" xmlns:a16="http://schemas.microsoft.com/office/drawing/2014/main" id="{D206590C-4368-7913-FE77-86BEC5207B55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pic>
        <p:nvPicPr>
          <p:cNvPr id="2" name="Рисунок 1">
            <a:extLst>
              <a:ext uri="{FF2B5EF4-FFF2-40B4-BE49-F238E27FC236}">
                <a16:creationId xmlns="" xmlns:a16="http://schemas.microsoft.com/office/drawing/2014/main" id="{676C78BA-F5AA-488E-F088-74C3FC9C366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371475" y="685800"/>
            <a:ext cx="523875" cy="52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000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Слайд-разделитель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="" xmlns:a16="http://schemas.microsoft.com/office/drawing/2014/main" id="{D511EEC7-FC3E-D80B-8708-3BAC1BE2F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2206020"/>
            <a:ext cx="10477500" cy="1273536"/>
          </a:xfrm>
        </p:spPr>
        <p:txBody>
          <a:bodyPr anchor="b"/>
          <a:lstStyle>
            <a:lvl1pPr>
              <a:lnSpc>
                <a:spcPts val="4500"/>
              </a:lnSpc>
              <a:defRPr sz="45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ru-RU" dirty="0"/>
              <a:t>Слайд-разделитель</a:t>
            </a:r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="" xmlns:a16="http://schemas.microsoft.com/office/drawing/2014/main" id="{8A505FCE-CA29-8E49-4AC1-800570054A9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371475" y="3443956"/>
            <a:ext cx="10477500" cy="939201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Подзаголовок второго порядка</a:t>
            </a:r>
          </a:p>
        </p:txBody>
      </p:sp>
      <p:grpSp>
        <p:nvGrpSpPr>
          <p:cNvPr id="34" name="Группа 33">
            <a:extLst>
              <a:ext uri="{FF2B5EF4-FFF2-40B4-BE49-F238E27FC236}">
                <a16:creationId xmlns="" xmlns:a16="http://schemas.microsoft.com/office/drawing/2014/main" id="{3EC3F9AE-8D23-6FCA-72D5-1B441FFBD0B4}"/>
              </a:ext>
            </a:extLst>
          </p:cNvPr>
          <p:cNvGrpSpPr/>
          <p:nvPr userDrawn="1"/>
        </p:nvGrpSpPr>
        <p:grpSpPr>
          <a:xfrm>
            <a:off x="371475" y="368300"/>
            <a:ext cx="11449048" cy="72000"/>
            <a:chOff x="1802606" y="368300"/>
            <a:chExt cx="8586786" cy="92300"/>
          </a:xfrm>
        </p:grpSpPr>
        <p:sp>
          <p:nvSpPr>
            <p:cNvPr id="35" name="Прямоугольник 34">
              <a:extLst>
                <a:ext uri="{FF2B5EF4-FFF2-40B4-BE49-F238E27FC236}">
                  <a16:creationId xmlns="" xmlns:a16="http://schemas.microsoft.com/office/drawing/2014/main" id="{E563AF0F-5955-6170-29EE-2CEF391C7B33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6" name="Прямоугольник 35">
              <a:extLst>
                <a:ext uri="{FF2B5EF4-FFF2-40B4-BE49-F238E27FC236}">
                  <a16:creationId xmlns="" xmlns:a16="http://schemas.microsoft.com/office/drawing/2014/main" id="{3DFA4962-8A3A-FE64-7AB8-26FB403DD16E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7" name="Прямоугольник 36">
              <a:extLst>
                <a:ext uri="{FF2B5EF4-FFF2-40B4-BE49-F238E27FC236}">
                  <a16:creationId xmlns="" xmlns:a16="http://schemas.microsoft.com/office/drawing/2014/main" id="{655616F9-0BAC-F10B-65BB-355B8DC64F1B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8" name="Прямоугольник 37">
              <a:extLst>
                <a:ext uri="{FF2B5EF4-FFF2-40B4-BE49-F238E27FC236}">
                  <a16:creationId xmlns="" xmlns:a16="http://schemas.microsoft.com/office/drawing/2014/main" id="{A75E6AEB-D8CE-CBCA-C692-CA1F14F9F229}"/>
                </a:ext>
              </a:extLst>
            </p:cNvPr>
            <p:cNvSpPr/>
            <p:nvPr userDrawn="1"/>
          </p:nvSpPr>
          <p:spPr>
            <a:xfrm>
              <a:off x="6095999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9" name="Прямоугольник 38">
              <a:extLst>
                <a:ext uri="{FF2B5EF4-FFF2-40B4-BE49-F238E27FC236}">
                  <a16:creationId xmlns="" xmlns:a16="http://schemas.microsoft.com/office/drawing/2014/main" id="{3926591C-B1B3-AD42-68F7-7277238E8CE3}"/>
                </a:ext>
              </a:extLst>
            </p:cNvPr>
            <p:cNvSpPr/>
            <p:nvPr userDrawn="1"/>
          </p:nvSpPr>
          <p:spPr>
            <a:xfrm>
              <a:off x="7527129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Прямоугольник 39">
              <a:extLst>
                <a:ext uri="{FF2B5EF4-FFF2-40B4-BE49-F238E27FC236}">
                  <a16:creationId xmlns="" xmlns:a16="http://schemas.microsoft.com/office/drawing/2014/main" id="{D206590C-4368-7913-FE77-86BEC5207B55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pic>
        <p:nvPicPr>
          <p:cNvPr id="2" name="Рисунок 1">
            <a:extLst>
              <a:ext uri="{FF2B5EF4-FFF2-40B4-BE49-F238E27FC236}">
                <a16:creationId xmlns="" xmlns:a16="http://schemas.microsoft.com/office/drawing/2014/main" id="{C55F09F5-D920-488E-C8A9-D56BCBA314E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371475" y="685800"/>
            <a:ext cx="523875" cy="52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5141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Заголовок и объект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="" xmlns:a16="http://schemas.microsoft.com/office/drawing/2014/main" id="{D511EEC7-FC3E-D80B-8708-3BAC1BE2F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368300"/>
            <a:ext cx="10477500" cy="591820"/>
          </a:xfrm>
        </p:spPr>
        <p:txBody>
          <a:bodyPr anchor="t"/>
          <a:lstStyle>
            <a:lvl1pPr>
              <a:lnSpc>
                <a:spcPts val="4500"/>
              </a:lnSpc>
              <a:defRPr sz="45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ru-RU" dirty="0"/>
              <a:t>Инфографика</a:t>
            </a:r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="" xmlns:a16="http://schemas.microsoft.com/office/drawing/2014/main" id="{8A505FCE-CA29-8E49-4AC1-800570054A9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371475" y="966156"/>
            <a:ext cx="10477500" cy="371287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3 сектора с текстовыми блоками</a:t>
            </a:r>
          </a:p>
        </p:txBody>
      </p:sp>
      <p:grpSp>
        <p:nvGrpSpPr>
          <p:cNvPr id="34" name="Группа 33">
            <a:extLst>
              <a:ext uri="{FF2B5EF4-FFF2-40B4-BE49-F238E27FC236}">
                <a16:creationId xmlns="" xmlns:a16="http://schemas.microsoft.com/office/drawing/2014/main" id="{3EC3F9AE-8D23-6FCA-72D5-1B441FFBD0B4}"/>
              </a:ext>
            </a:extLst>
          </p:cNvPr>
          <p:cNvGrpSpPr/>
          <p:nvPr userDrawn="1"/>
        </p:nvGrpSpPr>
        <p:grpSpPr>
          <a:xfrm>
            <a:off x="371475" y="6417700"/>
            <a:ext cx="11449048" cy="72000"/>
            <a:chOff x="1802606" y="368300"/>
            <a:chExt cx="8586786" cy="92300"/>
          </a:xfrm>
        </p:grpSpPr>
        <p:sp>
          <p:nvSpPr>
            <p:cNvPr id="35" name="Прямоугольник 34">
              <a:extLst>
                <a:ext uri="{FF2B5EF4-FFF2-40B4-BE49-F238E27FC236}">
                  <a16:creationId xmlns="" xmlns:a16="http://schemas.microsoft.com/office/drawing/2014/main" id="{E563AF0F-5955-6170-29EE-2CEF391C7B33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6" name="Прямоугольник 35">
              <a:extLst>
                <a:ext uri="{FF2B5EF4-FFF2-40B4-BE49-F238E27FC236}">
                  <a16:creationId xmlns="" xmlns:a16="http://schemas.microsoft.com/office/drawing/2014/main" id="{3DFA4962-8A3A-FE64-7AB8-26FB403DD16E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7" name="Прямоугольник 36">
              <a:extLst>
                <a:ext uri="{FF2B5EF4-FFF2-40B4-BE49-F238E27FC236}">
                  <a16:creationId xmlns="" xmlns:a16="http://schemas.microsoft.com/office/drawing/2014/main" id="{655616F9-0BAC-F10B-65BB-355B8DC64F1B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8" name="Прямоугольник 37">
              <a:extLst>
                <a:ext uri="{FF2B5EF4-FFF2-40B4-BE49-F238E27FC236}">
                  <a16:creationId xmlns="" xmlns:a16="http://schemas.microsoft.com/office/drawing/2014/main" id="{A75E6AEB-D8CE-CBCA-C692-CA1F14F9F229}"/>
                </a:ext>
              </a:extLst>
            </p:cNvPr>
            <p:cNvSpPr/>
            <p:nvPr userDrawn="1"/>
          </p:nvSpPr>
          <p:spPr>
            <a:xfrm>
              <a:off x="6095999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9" name="Прямоугольник 38">
              <a:extLst>
                <a:ext uri="{FF2B5EF4-FFF2-40B4-BE49-F238E27FC236}">
                  <a16:creationId xmlns="" xmlns:a16="http://schemas.microsoft.com/office/drawing/2014/main" id="{3926591C-B1B3-AD42-68F7-7277238E8CE3}"/>
                </a:ext>
              </a:extLst>
            </p:cNvPr>
            <p:cNvSpPr/>
            <p:nvPr userDrawn="1"/>
          </p:nvSpPr>
          <p:spPr>
            <a:xfrm>
              <a:off x="7527129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Прямоугольник 39">
              <a:extLst>
                <a:ext uri="{FF2B5EF4-FFF2-40B4-BE49-F238E27FC236}">
                  <a16:creationId xmlns="" xmlns:a16="http://schemas.microsoft.com/office/drawing/2014/main" id="{D206590C-4368-7913-FE77-86BEC5207B55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7" name="Text Placeholder 3">
            <a:extLst>
              <a:ext uri="{FF2B5EF4-FFF2-40B4-BE49-F238E27FC236}">
                <a16:creationId xmlns="" xmlns:a16="http://schemas.microsoft.com/office/drawing/2014/main" id="{BC28F292-393B-7086-806C-79575D774C87}"/>
              </a:ext>
            </a:extLst>
          </p:cNvPr>
          <p:cNvSpPr>
            <a:spLocks noGrp="1"/>
          </p:cNvSpPr>
          <p:nvPr>
            <p:ph type="body" sz="half" idx="10" hasCustomPrompt="1"/>
          </p:nvPr>
        </p:nvSpPr>
        <p:spPr>
          <a:xfrm>
            <a:off x="371475" y="6536001"/>
            <a:ext cx="7561263" cy="23055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 dirty="0"/>
              <a:t>Колонтитул с названием раздела или подраздела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="" xmlns:a16="http://schemas.microsoft.com/office/drawing/2014/main" id="{D53C2090-1B14-6CDE-B9DE-A131AAE45928}"/>
              </a:ext>
            </a:extLst>
          </p:cNvPr>
          <p:cNvSpPr txBox="1"/>
          <p:nvPr userDrawn="1"/>
        </p:nvSpPr>
        <p:spPr>
          <a:xfrm>
            <a:off x="11064875" y="6536001"/>
            <a:ext cx="755650" cy="1920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79B157-74E7-8F4D-A637-886561607B85}" type="slidenum">
              <a:rPr lang="ru-RU" sz="1200" smtClean="0">
                <a:latin typeface="+mj-lt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ru-RU" sz="12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9147487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Заголовок и объект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="" xmlns:a16="http://schemas.microsoft.com/office/drawing/2014/main" id="{D511EEC7-FC3E-D80B-8708-3BAC1BE2F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368300"/>
            <a:ext cx="10477500" cy="591820"/>
          </a:xfrm>
        </p:spPr>
        <p:txBody>
          <a:bodyPr anchor="t"/>
          <a:lstStyle>
            <a:lvl1pPr>
              <a:lnSpc>
                <a:spcPts val="4500"/>
              </a:lnSpc>
              <a:defRPr sz="45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ru-RU" dirty="0"/>
              <a:t>Инфографика</a:t>
            </a:r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="" xmlns:a16="http://schemas.microsoft.com/office/drawing/2014/main" id="{8A505FCE-CA29-8E49-4AC1-800570054A9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371475" y="966156"/>
            <a:ext cx="10477500" cy="371287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3 сектора с текстовыми блоками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="" xmlns:a16="http://schemas.microsoft.com/office/drawing/2014/main" id="{E563AF0F-5955-6170-29EE-2CEF391C7B33}"/>
              </a:ext>
            </a:extLst>
          </p:cNvPr>
          <p:cNvSpPr/>
          <p:nvPr userDrawn="1"/>
        </p:nvSpPr>
        <p:spPr>
          <a:xfrm>
            <a:off x="371475" y="6417332"/>
            <a:ext cx="11449050" cy="723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="" xmlns:a16="http://schemas.microsoft.com/office/drawing/2014/main" id="{BC28F292-393B-7086-806C-79575D774C87}"/>
              </a:ext>
            </a:extLst>
          </p:cNvPr>
          <p:cNvSpPr>
            <a:spLocks noGrp="1"/>
          </p:cNvSpPr>
          <p:nvPr userDrawn="1">
            <p:ph type="body" sz="half" idx="10" hasCustomPrompt="1"/>
          </p:nvPr>
        </p:nvSpPr>
        <p:spPr>
          <a:xfrm>
            <a:off x="371475" y="6536001"/>
            <a:ext cx="7561263" cy="23055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 dirty="0"/>
              <a:t>Колонтитул с названием раздела или подраздела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="" xmlns:a16="http://schemas.microsoft.com/office/drawing/2014/main" id="{D53C2090-1B14-6CDE-B9DE-A131AAE45928}"/>
              </a:ext>
            </a:extLst>
          </p:cNvPr>
          <p:cNvSpPr txBox="1"/>
          <p:nvPr userDrawn="1"/>
        </p:nvSpPr>
        <p:spPr>
          <a:xfrm>
            <a:off x="11064875" y="6536001"/>
            <a:ext cx="755650" cy="1920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79B157-74E7-8F4D-A637-886561607B85}" type="slidenum">
              <a:rPr lang="ru-RU" sz="1200" smtClean="0">
                <a:solidFill>
                  <a:schemeClr val="bg1"/>
                </a:solidFill>
                <a:latin typeface="+mj-lt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ru-RU" sz="1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8191405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Заголовок и объект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="" xmlns:a16="http://schemas.microsoft.com/office/drawing/2014/main" id="{D511EEC7-FC3E-D80B-8708-3BAC1BE2F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368300"/>
            <a:ext cx="10477500" cy="591820"/>
          </a:xfrm>
        </p:spPr>
        <p:txBody>
          <a:bodyPr anchor="t"/>
          <a:lstStyle>
            <a:lvl1pPr>
              <a:lnSpc>
                <a:spcPts val="4500"/>
              </a:lnSpc>
              <a:defRPr sz="45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ru-RU" dirty="0"/>
              <a:t>Инфографика</a:t>
            </a:r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="" xmlns:a16="http://schemas.microsoft.com/office/drawing/2014/main" id="{8A505FCE-CA29-8E49-4AC1-800570054A9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371475" y="966156"/>
            <a:ext cx="10477500" cy="371287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3 сектора с текстовыми блоками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="" xmlns:a16="http://schemas.microsoft.com/office/drawing/2014/main" id="{E563AF0F-5955-6170-29EE-2CEF391C7B33}"/>
              </a:ext>
            </a:extLst>
          </p:cNvPr>
          <p:cNvSpPr/>
          <p:nvPr userDrawn="1"/>
        </p:nvSpPr>
        <p:spPr>
          <a:xfrm>
            <a:off x="371475" y="6417332"/>
            <a:ext cx="11449050" cy="723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="" xmlns:a16="http://schemas.microsoft.com/office/drawing/2014/main" id="{BC28F292-393B-7086-806C-79575D774C87}"/>
              </a:ext>
            </a:extLst>
          </p:cNvPr>
          <p:cNvSpPr>
            <a:spLocks noGrp="1"/>
          </p:cNvSpPr>
          <p:nvPr userDrawn="1">
            <p:ph type="body" sz="half" idx="10" hasCustomPrompt="1"/>
          </p:nvPr>
        </p:nvSpPr>
        <p:spPr>
          <a:xfrm>
            <a:off x="371475" y="6536001"/>
            <a:ext cx="7561263" cy="23055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 dirty="0"/>
              <a:t>Колонтитул с названием раздела или подраздела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="" xmlns:a16="http://schemas.microsoft.com/office/drawing/2014/main" id="{D53C2090-1B14-6CDE-B9DE-A131AAE45928}"/>
              </a:ext>
            </a:extLst>
          </p:cNvPr>
          <p:cNvSpPr txBox="1"/>
          <p:nvPr userDrawn="1"/>
        </p:nvSpPr>
        <p:spPr>
          <a:xfrm>
            <a:off x="11064875" y="6536001"/>
            <a:ext cx="755650" cy="1920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79B157-74E7-8F4D-A637-886561607B85}" type="slidenum">
              <a:rPr lang="ru-RU" sz="1200" smtClean="0">
                <a:solidFill>
                  <a:schemeClr val="bg1"/>
                </a:solidFill>
                <a:latin typeface="+mj-lt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ru-RU" sz="1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8990855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Заголовок и объек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="" xmlns:a16="http://schemas.microsoft.com/office/drawing/2014/main" id="{D511EEC7-FC3E-D80B-8708-3BAC1BE2F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368300"/>
            <a:ext cx="6588125" cy="1332508"/>
          </a:xfrm>
        </p:spPr>
        <p:txBody>
          <a:bodyPr anchor="t"/>
          <a:lstStyle>
            <a:lvl1pPr>
              <a:lnSpc>
                <a:spcPts val="4500"/>
              </a:lnSpc>
              <a:defRPr sz="45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ru-RU" dirty="0"/>
              <a:t>Длинный заголовок слайда</a:t>
            </a:r>
            <a:r>
              <a:rPr lang="en-US" dirty="0"/>
              <a:t> </a:t>
            </a:r>
            <a:r>
              <a:rPr lang="ru-RU" dirty="0"/>
              <a:t>в две длинных строки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="" xmlns:a16="http://schemas.microsoft.com/office/drawing/2014/main" id="{BC28F292-393B-7086-806C-79575D774C87}"/>
              </a:ext>
            </a:extLst>
          </p:cNvPr>
          <p:cNvSpPr>
            <a:spLocks noGrp="1"/>
          </p:cNvSpPr>
          <p:nvPr userDrawn="1">
            <p:ph type="body" sz="half" idx="10" hasCustomPrompt="1"/>
          </p:nvPr>
        </p:nvSpPr>
        <p:spPr>
          <a:xfrm>
            <a:off x="371475" y="6536001"/>
            <a:ext cx="7561263" cy="23055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 dirty="0"/>
              <a:t>Колонтитул с названием раздела или подраздела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="" xmlns:a16="http://schemas.microsoft.com/office/drawing/2014/main" id="{D53C2090-1B14-6CDE-B9DE-A131AAE45928}"/>
              </a:ext>
            </a:extLst>
          </p:cNvPr>
          <p:cNvSpPr txBox="1"/>
          <p:nvPr userDrawn="1"/>
        </p:nvSpPr>
        <p:spPr>
          <a:xfrm>
            <a:off x="11064875" y="6536001"/>
            <a:ext cx="755650" cy="1920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79B157-74E7-8F4D-A637-886561607B85}" type="slidenum">
              <a:rPr lang="ru-RU" sz="1200" smtClean="0">
                <a:solidFill>
                  <a:schemeClr val="bg1"/>
                </a:solidFill>
                <a:latin typeface="+mj-lt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ru-RU" sz="1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3740196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Заголовок и объект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="" xmlns:a16="http://schemas.microsoft.com/office/drawing/2014/main" id="{D511EEC7-FC3E-D80B-8708-3BAC1BE2F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368300"/>
            <a:ext cx="4860925" cy="1332508"/>
          </a:xfrm>
        </p:spPr>
        <p:txBody>
          <a:bodyPr anchor="t"/>
          <a:lstStyle>
            <a:lvl1pPr>
              <a:lnSpc>
                <a:spcPts val="4500"/>
              </a:lnSpc>
              <a:defRPr sz="45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ru-RU" dirty="0"/>
              <a:t>Короткий заголовок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="" xmlns:a16="http://schemas.microsoft.com/office/drawing/2014/main" id="{D53C2090-1B14-6CDE-B9DE-A131AAE45928}"/>
              </a:ext>
            </a:extLst>
          </p:cNvPr>
          <p:cNvSpPr txBox="1"/>
          <p:nvPr userDrawn="1"/>
        </p:nvSpPr>
        <p:spPr>
          <a:xfrm>
            <a:off x="11064875" y="6536001"/>
            <a:ext cx="755650" cy="1920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79B157-74E7-8F4D-A637-886561607B85}" type="slidenum">
              <a:rPr lang="ru-RU" sz="1200" smtClean="0">
                <a:solidFill>
                  <a:schemeClr val="bg1"/>
                </a:solidFill>
                <a:latin typeface="+mj-lt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ru-RU" sz="12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Прямоугольник 1">
            <a:extLst>
              <a:ext uri="{FF2B5EF4-FFF2-40B4-BE49-F238E27FC236}">
                <a16:creationId xmlns="" xmlns:a16="http://schemas.microsoft.com/office/drawing/2014/main" id="{919C9223-AD8F-C722-AC45-C4D730B5F2A5}"/>
              </a:ext>
            </a:extLst>
          </p:cNvPr>
          <p:cNvSpPr/>
          <p:nvPr userDrawn="1"/>
        </p:nvSpPr>
        <p:spPr>
          <a:xfrm>
            <a:off x="371475" y="6417332"/>
            <a:ext cx="11449050" cy="723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25" name="Picture Placeholder 2">
            <a:extLst>
              <a:ext uri="{FF2B5EF4-FFF2-40B4-BE49-F238E27FC236}">
                <a16:creationId xmlns="" xmlns:a16="http://schemas.microsoft.com/office/drawing/2014/main" id="{9604EAFD-369B-F7DC-144D-DF81CF533AB3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371475" y="5007161"/>
            <a:ext cx="2700338" cy="793563"/>
          </a:xfr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2000" b="0" i="0">
                <a:solidFill>
                  <a:schemeClr val="tx1"/>
                </a:solidFill>
                <a:latin typeface="TT Bluescreens Pro Normal" panose="020B0006030000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dirty="0"/>
              <a:t>Вставка рисунка</a:t>
            </a:r>
            <a:endParaRPr lang="en-US" dirty="0"/>
          </a:p>
        </p:txBody>
      </p:sp>
      <p:sp>
        <p:nvSpPr>
          <p:cNvPr id="35" name="Picture Placeholder 2">
            <a:extLst>
              <a:ext uri="{FF2B5EF4-FFF2-40B4-BE49-F238E27FC236}">
                <a16:creationId xmlns="" xmlns:a16="http://schemas.microsoft.com/office/drawing/2014/main" id="{6EF8147F-EA02-EFC5-EBB5-50A83E9C8002}"/>
              </a:ext>
            </a:extLst>
          </p:cNvPr>
          <p:cNvSpPr>
            <a:spLocks noGrp="1" noChangeAspect="1"/>
          </p:cNvSpPr>
          <p:nvPr>
            <p:ph type="pic" idx="30"/>
          </p:nvPr>
        </p:nvSpPr>
        <p:spPr>
          <a:xfrm>
            <a:off x="3287688" y="5007161"/>
            <a:ext cx="2700338" cy="793563"/>
          </a:xfr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2000" b="0" i="0">
                <a:solidFill>
                  <a:schemeClr val="tx1"/>
                </a:solidFill>
                <a:latin typeface="TT Bluescreens Pro Normal" panose="020B0006030000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dirty="0"/>
              <a:t>Вставка рисунка</a:t>
            </a:r>
            <a:endParaRPr lang="en-US" dirty="0"/>
          </a:p>
        </p:txBody>
      </p:sp>
      <p:sp>
        <p:nvSpPr>
          <p:cNvPr id="45" name="Picture Placeholder 2">
            <a:extLst>
              <a:ext uri="{FF2B5EF4-FFF2-40B4-BE49-F238E27FC236}">
                <a16:creationId xmlns="" xmlns:a16="http://schemas.microsoft.com/office/drawing/2014/main" id="{8B16F172-0838-6C38-C517-E360216122FB}"/>
              </a:ext>
            </a:extLst>
          </p:cNvPr>
          <p:cNvSpPr>
            <a:spLocks noGrp="1" noChangeAspect="1"/>
          </p:cNvSpPr>
          <p:nvPr>
            <p:ph type="pic" idx="34"/>
          </p:nvPr>
        </p:nvSpPr>
        <p:spPr>
          <a:xfrm>
            <a:off x="6204012" y="5007161"/>
            <a:ext cx="2700338" cy="793563"/>
          </a:xfr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2000" b="0" i="0">
                <a:solidFill>
                  <a:schemeClr val="tx1"/>
                </a:solidFill>
                <a:latin typeface="TT Bluescreens Pro Normal" panose="020B0006030000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dirty="0"/>
              <a:t>Вставка рисунка</a:t>
            </a:r>
            <a:endParaRPr lang="en-US" dirty="0"/>
          </a:p>
        </p:txBody>
      </p:sp>
      <p:sp>
        <p:nvSpPr>
          <p:cNvPr id="51" name="Picture Placeholder 2">
            <a:extLst>
              <a:ext uri="{FF2B5EF4-FFF2-40B4-BE49-F238E27FC236}">
                <a16:creationId xmlns="" xmlns:a16="http://schemas.microsoft.com/office/drawing/2014/main" id="{31882DEF-C11F-62CA-9DDA-104CA2E8ED94}"/>
              </a:ext>
            </a:extLst>
          </p:cNvPr>
          <p:cNvSpPr>
            <a:spLocks noGrp="1" noChangeAspect="1"/>
          </p:cNvSpPr>
          <p:nvPr>
            <p:ph type="pic" idx="38"/>
          </p:nvPr>
        </p:nvSpPr>
        <p:spPr>
          <a:xfrm>
            <a:off x="9120336" y="5007161"/>
            <a:ext cx="2700338" cy="793563"/>
          </a:xfr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2000" b="0" i="0">
                <a:solidFill>
                  <a:schemeClr val="tx1"/>
                </a:solidFill>
                <a:latin typeface="TT Bluescreens Pro Normal" panose="020B0006030000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dirty="0"/>
              <a:t>Вставка рисунка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="" xmlns:a16="http://schemas.microsoft.com/office/drawing/2014/main" id="{92B14669-9221-B008-27E9-C35640D47590}"/>
              </a:ext>
            </a:extLst>
          </p:cNvPr>
          <p:cNvSpPr>
            <a:spLocks noGrp="1"/>
          </p:cNvSpPr>
          <p:nvPr>
            <p:ph type="body" sz="half" idx="10" hasCustomPrompt="1"/>
          </p:nvPr>
        </p:nvSpPr>
        <p:spPr>
          <a:xfrm>
            <a:off x="371475" y="6536001"/>
            <a:ext cx="7561263" cy="23055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 dirty="0"/>
              <a:t>Колонтитул с названием раздела или подраздела</a:t>
            </a:r>
          </a:p>
        </p:txBody>
      </p:sp>
    </p:spTree>
    <p:extLst>
      <p:ext uri="{BB962C8B-B14F-4D97-AF65-F5344CB8AC3E}">
        <p14:creationId xmlns:p14="http://schemas.microsoft.com/office/powerpoint/2010/main" val="33892160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инный заголовок в две длинных строки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="" xmlns:a16="http://schemas.microsoft.com/office/drawing/2014/main" id="{5A4F0FD5-C7B2-6959-38E8-E70DF7F438B7}"/>
              </a:ext>
            </a:extLst>
          </p:cNvPr>
          <p:cNvGrpSpPr/>
          <p:nvPr userDrawn="1"/>
        </p:nvGrpSpPr>
        <p:grpSpPr>
          <a:xfrm>
            <a:off x="371475" y="6417700"/>
            <a:ext cx="11449048" cy="72000"/>
            <a:chOff x="1802606" y="368300"/>
            <a:chExt cx="8586786" cy="92300"/>
          </a:xfrm>
        </p:grpSpPr>
        <p:sp>
          <p:nvSpPr>
            <p:cNvPr id="37" name="Прямоугольник 36">
              <a:extLst>
                <a:ext uri="{FF2B5EF4-FFF2-40B4-BE49-F238E27FC236}">
                  <a16:creationId xmlns="" xmlns:a16="http://schemas.microsoft.com/office/drawing/2014/main" id="{24270480-FDB6-999A-B209-D679E6C7588A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8" name="Прямоугольник 37">
              <a:extLst>
                <a:ext uri="{FF2B5EF4-FFF2-40B4-BE49-F238E27FC236}">
                  <a16:creationId xmlns="" xmlns:a16="http://schemas.microsoft.com/office/drawing/2014/main" id="{4B53EFB9-699D-B56A-A5CD-4BF78CA6DD18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9" name="Прямоугольник 38">
              <a:extLst>
                <a:ext uri="{FF2B5EF4-FFF2-40B4-BE49-F238E27FC236}">
                  <a16:creationId xmlns="" xmlns:a16="http://schemas.microsoft.com/office/drawing/2014/main" id="{F1533A7C-0F57-6C00-384A-1A1BCF7C7294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Прямоугольник 39">
              <a:extLst>
                <a:ext uri="{FF2B5EF4-FFF2-40B4-BE49-F238E27FC236}">
                  <a16:creationId xmlns="" xmlns:a16="http://schemas.microsoft.com/office/drawing/2014/main" id="{441332E4-89B9-C73A-A9E5-3CDCF672C7B5}"/>
                </a:ext>
              </a:extLst>
            </p:cNvPr>
            <p:cNvSpPr/>
            <p:nvPr userDrawn="1"/>
          </p:nvSpPr>
          <p:spPr>
            <a:xfrm>
              <a:off x="6095999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1" name="Прямоугольник 40">
              <a:extLst>
                <a:ext uri="{FF2B5EF4-FFF2-40B4-BE49-F238E27FC236}">
                  <a16:creationId xmlns="" xmlns:a16="http://schemas.microsoft.com/office/drawing/2014/main" id="{7AE9B841-3425-C437-EA36-58B6C0DF49D4}"/>
                </a:ext>
              </a:extLst>
            </p:cNvPr>
            <p:cNvSpPr/>
            <p:nvPr userDrawn="1"/>
          </p:nvSpPr>
          <p:spPr>
            <a:xfrm>
              <a:off x="7527129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="" xmlns:a16="http://schemas.microsoft.com/office/drawing/2014/main" id="{48535271-31C6-3040-90D5-AA206E37D053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43" name="Text Placeholder 3">
            <a:extLst>
              <a:ext uri="{FF2B5EF4-FFF2-40B4-BE49-F238E27FC236}">
                <a16:creationId xmlns="" xmlns:a16="http://schemas.microsoft.com/office/drawing/2014/main" id="{6695BBC4-60DF-CAD6-B7EB-40337F4F7E44}"/>
              </a:ext>
            </a:extLst>
          </p:cNvPr>
          <p:cNvSpPr>
            <a:spLocks noGrp="1"/>
          </p:cNvSpPr>
          <p:nvPr>
            <p:ph type="body" sz="half" idx="10" hasCustomPrompt="1"/>
          </p:nvPr>
        </p:nvSpPr>
        <p:spPr>
          <a:xfrm>
            <a:off x="371475" y="6536001"/>
            <a:ext cx="7561263" cy="23055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 dirty="0"/>
              <a:t>Колонтитул с названием раздела или подраздела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="" xmlns:a16="http://schemas.microsoft.com/office/drawing/2014/main" id="{B4BFF065-B45E-2C2E-4733-90FBAE3CC0B2}"/>
              </a:ext>
            </a:extLst>
          </p:cNvPr>
          <p:cNvSpPr txBox="1"/>
          <p:nvPr userDrawn="1"/>
        </p:nvSpPr>
        <p:spPr>
          <a:xfrm>
            <a:off x="11064875" y="6536001"/>
            <a:ext cx="755650" cy="1920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79B157-74E7-8F4D-A637-886561607B85}" type="slidenum">
              <a:rPr lang="ru-RU" sz="1200" smtClean="0">
                <a:latin typeface="+mj-lt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ru-RU" sz="1200" dirty="0">
              <a:latin typeface="+mj-lt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="" xmlns:a16="http://schemas.microsoft.com/office/drawing/2014/main" id="{624E203B-C938-053C-C15B-DAF6F20F5D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368300"/>
            <a:ext cx="6588125" cy="1332508"/>
          </a:xfrm>
        </p:spPr>
        <p:txBody>
          <a:bodyPr anchor="t"/>
          <a:lstStyle>
            <a:lvl1pPr>
              <a:defRPr sz="4500" b="0" i="0">
                <a:solidFill>
                  <a:schemeClr val="tx1"/>
                </a:solidFill>
                <a:latin typeface="+mj-lt"/>
              </a:defRPr>
            </a:lvl1pPr>
          </a:lstStyle>
          <a:p>
            <a:pPr>
              <a:lnSpc>
                <a:spcPts val="4500"/>
              </a:lnSpc>
            </a:pPr>
            <a:r>
              <a:rPr lang="ru-RU" dirty="0"/>
              <a:t>Длинный заголовок слайда</a:t>
            </a:r>
            <a:r>
              <a:rPr lang="en-US" dirty="0"/>
              <a:t> </a:t>
            </a:r>
            <a:r>
              <a:rPr lang="ru-RU" dirty="0"/>
              <a:t>в две длинных строки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40805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роткий заголовок в две строки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="" xmlns:a16="http://schemas.microsoft.com/office/drawing/2014/main" id="{D511EEC7-FC3E-D80B-8708-3BAC1BE2F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368300"/>
            <a:ext cx="4860925" cy="1332508"/>
          </a:xfrm>
        </p:spPr>
        <p:txBody>
          <a:bodyPr anchor="t"/>
          <a:lstStyle>
            <a:lvl1pPr>
              <a:lnSpc>
                <a:spcPts val="4500"/>
              </a:lnSpc>
              <a:defRPr sz="45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ru-RU" dirty="0"/>
              <a:t>Короткий заголовок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endParaRPr lang="en-US" dirty="0"/>
          </a:p>
        </p:txBody>
      </p:sp>
      <p:grpSp>
        <p:nvGrpSpPr>
          <p:cNvPr id="3" name="Группа 2">
            <a:extLst>
              <a:ext uri="{FF2B5EF4-FFF2-40B4-BE49-F238E27FC236}">
                <a16:creationId xmlns="" xmlns:a16="http://schemas.microsoft.com/office/drawing/2014/main" id="{B44C1137-1FFE-872E-30E6-04630F23C2A0}"/>
              </a:ext>
            </a:extLst>
          </p:cNvPr>
          <p:cNvGrpSpPr/>
          <p:nvPr userDrawn="1"/>
        </p:nvGrpSpPr>
        <p:grpSpPr>
          <a:xfrm>
            <a:off x="371475" y="6417700"/>
            <a:ext cx="11449048" cy="72000"/>
            <a:chOff x="1802606" y="368300"/>
            <a:chExt cx="8586786" cy="92300"/>
          </a:xfrm>
        </p:grpSpPr>
        <p:sp>
          <p:nvSpPr>
            <p:cNvPr id="8" name="Прямоугольник 7">
              <a:extLst>
                <a:ext uri="{FF2B5EF4-FFF2-40B4-BE49-F238E27FC236}">
                  <a16:creationId xmlns="" xmlns:a16="http://schemas.microsoft.com/office/drawing/2014/main" id="{E12294DD-95F4-0D4A-BA70-F1D0523B76CF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="" xmlns:a16="http://schemas.microsoft.com/office/drawing/2014/main" id="{CEE606BE-520D-01A1-5E7D-F592B2F27E9E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="" xmlns:a16="http://schemas.microsoft.com/office/drawing/2014/main" id="{EE6AAD59-6F39-977E-F2C0-1399569F854F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="" xmlns:a16="http://schemas.microsoft.com/office/drawing/2014/main" id="{8035B9B7-7018-4F0F-32DB-CCC25C5F0A0C}"/>
                </a:ext>
              </a:extLst>
            </p:cNvPr>
            <p:cNvSpPr/>
            <p:nvPr userDrawn="1"/>
          </p:nvSpPr>
          <p:spPr>
            <a:xfrm>
              <a:off x="6095999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>
              <a:extLst>
                <a:ext uri="{FF2B5EF4-FFF2-40B4-BE49-F238E27FC236}">
                  <a16:creationId xmlns="" xmlns:a16="http://schemas.microsoft.com/office/drawing/2014/main" id="{53E4C232-AABF-A5CA-FAEB-6C5332A2840F}"/>
                </a:ext>
              </a:extLst>
            </p:cNvPr>
            <p:cNvSpPr/>
            <p:nvPr userDrawn="1"/>
          </p:nvSpPr>
          <p:spPr>
            <a:xfrm>
              <a:off x="7527129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="" xmlns:a16="http://schemas.microsoft.com/office/drawing/2014/main" id="{46A3F353-D8D7-92BF-8E79-2046DE24B6D5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1" name="Text Placeholder 3">
            <a:extLst>
              <a:ext uri="{FF2B5EF4-FFF2-40B4-BE49-F238E27FC236}">
                <a16:creationId xmlns="" xmlns:a16="http://schemas.microsoft.com/office/drawing/2014/main" id="{738ECBB0-9878-6131-C71D-FBF9291A8E53}"/>
              </a:ext>
            </a:extLst>
          </p:cNvPr>
          <p:cNvSpPr>
            <a:spLocks noGrp="1"/>
          </p:cNvSpPr>
          <p:nvPr>
            <p:ph type="body" sz="half" idx="10" hasCustomPrompt="1"/>
          </p:nvPr>
        </p:nvSpPr>
        <p:spPr>
          <a:xfrm>
            <a:off x="371475" y="6536001"/>
            <a:ext cx="7561263" cy="23055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 dirty="0"/>
              <a:t>Колонтитул с названием раздела или подраздела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="" xmlns:a16="http://schemas.microsoft.com/office/drawing/2014/main" id="{AE0BF120-460A-B440-3B8A-36FEC4DC2F24}"/>
              </a:ext>
            </a:extLst>
          </p:cNvPr>
          <p:cNvSpPr txBox="1"/>
          <p:nvPr userDrawn="1"/>
        </p:nvSpPr>
        <p:spPr>
          <a:xfrm>
            <a:off x="11064875" y="6536001"/>
            <a:ext cx="755650" cy="1920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79B157-74E7-8F4D-A637-886561607B85}" type="slidenum">
              <a:rPr lang="ru-RU" sz="1200" smtClean="0">
                <a:latin typeface="+mj-lt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ru-RU" sz="12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005382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инный заголовок в одну строку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6" name="Группа 145">
            <a:extLst>
              <a:ext uri="{FF2B5EF4-FFF2-40B4-BE49-F238E27FC236}">
                <a16:creationId xmlns="" xmlns:a16="http://schemas.microsoft.com/office/drawing/2014/main" id="{9D225268-7B9D-4B2C-7C31-9465AB95BFFE}"/>
              </a:ext>
            </a:extLst>
          </p:cNvPr>
          <p:cNvGrpSpPr/>
          <p:nvPr userDrawn="1"/>
        </p:nvGrpSpPr>
        <p:grpSpPr>
          <a:xfrm>
            <a:off x="371475" y="6417700"/>
            <a:ext cx="11449048" cy="72000"/>
            <a:chOff x="1802606" y="368300"/>
            <a:chExt cx="8586786" cy="92300"/>
          </a:xfrm>
        </p:grpSpPr>
        <p:sp>
          <p:nvSpPr>
            <p:cNvPr id="147" name="Прямоугольник 146">
              <a:extLst>
                <a:ext uri="{FF2B5EF4-FFF2-40B4-BE49-F238E27FC236}">
                  <a16:creationId xmlns="" xmlns:a16="http://schemas.microsoft.com/office/drawing/2014/main" id="{10CB4CED-F8F6-0AD9-6E10-B4694C0A259C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8" name="Прямоугольник 147">
              <a:extLst>
                <a:ext uri="{FF2B5EF4-FFF2-40B4-BE49-F238E27FC236}">
                  <a16:creationId xmlns="" xmlns:a16="http://schemas.microsoft.com/office/drawing/2014/main" id="{9B65CEF7-A4DB-A02A-BE5C-18EFA6FF0E39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9" name="Прямоугольник 148">
              <a:extLst>
                <a:ext uri="{FF2B5EF4-FFF2-40B4-BE49-F238E27FC236}">
                  <a16:creationId xmlns="" xmlns:a16="http://schemas.microsoft.com/office/drawing/2014/main" id="{3B6E9741-9451-72D4-3A95-A876A70DB66D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0" name="Прямоугольник 149">
              <a:extLst>
                <a:ext uri="{FF2B5EF4-FFF2-40B4-BE49-F238E27FC236}">
                  <a16:creationId xmlns="" xmlns:a16="http://schemas.microsoft.com/office/drawing/2014/main" id="{53D9BA04-B5DC-A843-2B77-8F2C26B4EB70}"/>
                </a:ext>
              </a:extLst>
            </p:cNvPr>
            <p:cNvSpPr/>
            <p:nvPr userDrawn="1"/>
          </p:nvSpPr>
          <p:spPr>
            <a:xfrm>
              <a:off x="6095999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1" name="Прямоугольник 150">
              <a:extLst>
                <a:ext uri="{FF2B5EF4-FFF2-40B4-BE49-F238E27FC236}">
                  <a16:creationId xmlns="" xmlns:a16="http://schemas.microsoft.com/office/drawing/2014/main" id="{6D14EA2F-4CA7-C8C2-42B9-A8A9AF67C44F}"/>
                </a:ext>
              </a:extLst>
            </p:cNvPr>
            <p:cNvSpPr/>
            <p:nvPr userDrawn="1"/>
          </p:nvSpPr>
          <p:spPr>
            <a:xfrm>
              <a:off x="7527129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2" name="Прямоугольник 151">
              <a:extLst>
                <a:ext uri="{FF2B5EF4-FFF2-40B4-BE49-F238E27FC236}">
                  <a16:creationId xmlns="" xmlns:a16="http://schemas.microsoft.com/office/drawing/2014/main" id="{CED73EE1-7CB3-4A1F-2D93-69F1104FFF7C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3" name="Text Placeholder 3">
            <a:extLst>
              <a:ext uri="{FF2B5EF4-FFF2-40B4-BE49-F238E27FC236}">
                <a16:creationId xmlns="" xmlns:a16="http://schemas.microsoft.com/office/drawing/2014/main" id="{F611ECAA-BB89-CD58-D1D1-BDA5C3A83335}"/>
              </a:ext>
            </a:extLst>
          </p:cNvPr>
          <p:cNvSpPr>
            <a:spLocks noGrp="1"/>
          </p:cNvSpPr>
          <p:nvPr userDrawn="1">
            <p:ph type="body" sz="half" idx="10" hasCustomPrompt="1"/>
          </p:nvPr>
        </p:nvSpPr>
        <p:spPr>
          <a:xfrm>
            <a:off x="371475" y="6536001"/>
            <a:ext cx="7561263" cy="23055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 dirty="0"/>
              <a:t>Колонтитул с названием раздела или подраздела</a:t>
            </a:r>
          </a:p>
        </p:txBody>
      </p:sp>
      <p:sp>
        <p:nvSpPr>
          <p:cNvPr id="233" name="TextBox 232">
            <a:extLst>
              <a:ext uri="{FF2B5EF4-FFF2-40B4-BE49-F238E27FC236}">
                <a16:creationId xmlns="" xmlns:a16="http://schemas.microsoft.com/office/drawing/2014/main" id="{4B08B4DB-47B6-C49D-D36E-DA034F8D0A5F}"/>
              </a:ext>
            </a:extLst>
          </p:cNvPr>
          <p:cNvSpPr txBox="1"/>
          <p:nvPr userDrawn="1"/>
        </p:nvSpPr>
        <p:spPr>
          <a:xfrm>
            <a:off x="11064875" y="6536001"/>
            <a:ext cx="755650" cy="1920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79B157-74E7-8F4D-A637-886561607B85}" type="slidenum">
              <a:rPr lang="ru-RU" sz="1200" smtClean="0">
                <a:latin typeface="+mj-lt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ru-RU" sz="1200" dirty="0">
              <a:latin typeface="+mj-lt"/>
            </a:endParaRPr>
          </a:p>
        </p:txBody>
      </p:sp>
      <p:sp>
        <p:nvSpPr>
          <p:cNvPr id="234" name="Title 1">
            <a:extLst>
              <a:ext uri="{FF2B5EF4-FFF2-40B4-BE49-F238E27FC236}">
                <a16:creationId xmlns="" xmlns:a16="http://schemas.microsoft.com/office/drawing/2014/main" id="{8BB06054-541E-1D8E-E696-DFEB3B5F2774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371475" y="368300"/>
            <a:ext cx="9435640" cy="700640"/>
          </a:xfrm>
        </p:spPr>
        <p:txBody>
          <a:bodyPr anchor="t"/>
          <a:lstStyle>
            <a:lvl1pPr>
              <a:defRPr sz="4500" b="0" i="0">
                <a:solidFill>
                  <a:schemeClr val="tx1"/>
                </a:solidFill>
                <a:latin typeface="+mj-lt"/>
              </a:defRPr>
            </a:lvl1pPr>
          </a:lstStyle>
          <a:p>
            <a:pPr>
              <a:lnSpc>
                <a:spcPts val="4500"/>
              </a:lnSpc>
            </a:pPr>
            <a:r>
              <a:rPr lang="ru-RU" dirty="0"/>
              <a:t>Длинный заголовок в одну строку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033692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Инфографик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>
            <a:extLst>
              <a:ext uri="{FF2B5EF4-FFF2-40B4-BE49-F238E27FC236}">
                <a16:creationId xmlns="" xmlns:a16="http://schemas.microsoft.com/office/drawing/2014/main" id="{AF885766-BF47-336C-EABF-D266E26BC931}"/>
              </a:ext>
            </a:extLst>
          </p:cNvPr>
          <p:cNvGrpSpPr/>
          <p:nvPr userDrawn="1"/>
        </p:nvGrpSpPr>
        <p:grpSpPr>
          <a:xfrm>
            <a:off x="371475" y="6417700"/>
            <a:ext cx="11449048" cy="72000"/>
            <a:chOff x="1802606" y="368300"/>
            <a:chExt cx="8586786" cy="92300"/>
          </a:xfrm>
        </p:grpSpPr>
        <p:sp>
          <p:nvSpPr>
            <p:cNvPr id="8" name="Прямоугольник 7">
              <a:extLst>
                <a:ext uri="{FF2B5EF4-FFF2-40B4-BE49-F238E27FC236}">
                  <a16:creationId xmlns="" xmlns:a16="http://schemas.microsoft.com/office/drawing/2014/main" id="{63399F84-600A-9C8F-915F-229C40DE74D2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="" xmlns:a16="http://schemas.microsoft.com/office/drawing/2014/main" id="{4406B1A3-B943-DF52-E5D0-0CFB737B4C6A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="" xmlns:a16="http://schemas.microsoft.com/office/drawing/2014/main" id="{A7EE2127-F487-6271-667E-188083A4ED12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="" xmlns:a16="http://schemas.microsoft.com/office/drawing/2014/main" id="{6F645955-ED6F-CD93-6E14-F85C82FD26B4}"/>
                </a:ext>
              </a:extLst>
            </p:cNvPr>
            <p:cNvSpPr/>
            <p:nvPr userDrawn="1"/>
          </p:nvSpPr>
          <p:spPr>
            <a:xfrm>
              <a:off x="6095999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>
              <a:extLst>
                <a:ext uri="{FF2B5EF4-FFF2-40B4-BE49-F238E27FC236}">
                  <a16:creationId xmlns="" xmlns:a16="http://schemas.microsoft.com/office/drawing/2014/main" id="{657E0A00-847F-016B-BF17-E6A4B45D797A}"/>
                </a:ext>
              </a:extLst>
            </p:cNvPr>
            <p:cNvSpPr/>
            <p:nvPr userDrawn="1"/>
          </p:nvSpPr>
          <p:spPr>
            <a:xfrm>
              <a:off x="7527129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="" xmlns:a16="http://schemas.microsoft.com/office/drawing/2014/main" id="{D874B758-EA50-A3D1-75D1-B772F4D601B3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1" name="Text Placeholder 3">
            <a:extLst>
              <a:ext uri="{FF2B5EF4-FFF2-40B4-BE49-F238E27FC236}">
                <a16:creationId xmlns="" xmlns:a16="http://schemas.microsoft.com/office/drawing/2014/main" id="{0909F1F8-5B0C-775F-5293-AF25912964EB}"/>
              </a:ext>
            </a:extLst>
          </p:cNvPr>
          <p:cNvSpPr>
            <a:spLocks noGrp="1"/>
          </p:cNvSpPr>
          <p:nvPr>
            <p:ph type="body" sz="half" idx="10" hasCustomPrompt="1"/>
          </p:nvPr>
        </p:nvSpPr>
        <p:spPr>
          <a:xfrm>
            <a:off x="371475" y="6536001"/>
            <a:ext cx="7561263" cy="23055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 dirty="0"/>
              <a:t>Колонтитул с названием раздела или подраздела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="" xmlns:a16="http://schemas.microsoft.com/office/drawing/2014/main" id="{E30FCDEB-2C79-AE7E-F5C2-5943573F2410}"/>
              </a:ext>
            </a:extLst>
          </p:cNvPr>
          <p:cNvSpPr txBox="1"/>
          <p:nvPr userDrawn="1"/>
        </p:nvSpPr>
        <p:spPr>
          <a:xfrm>
            <a:off x="11064875" y="6536001"/>
            <a:ext cx="755650" cy="1920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79B157-74E7-8F4D-A637-886561607B85}" type="slidenum">
              <a:rPr lang="ru-RU" sz="1200" smtClean="0">
                <a:latin typeface="+mj-lt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ru-RU" sz="1200" dirty="0">
              <a:latin typeface="+mj-lt"/>
            </a:endParaRPr>
          </a:p>
        </p:txBody>
      </p:sp>
      <p:sp>
        <p:nvSpPr>
          <p:cNvPr id="50" name="Title 1">
            <a:extLst>
              <a:ext uri="{FF2B5EF4-FFF2-40B4-BE49-F238E27FC236}">
                <a16:creationId xmlns="" xmlns:a16="http://schemas.microsoft.com/office/drawing/2014/main" id="{05243177-1D49-D31E-C274-33C887625C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368300"/>
            <a:ext cx="10477500" cy="591820"/>
          </a:xfrm>
        </p:spPr>
        <p:txBody>
          <a:bodyPr anchor="t"/>
          <a:lstStyle>
            <a:lvl1pPr>
              <a:lnSpc>
                <a:spcPts val="4500"/>
              </a:lnSpc>
              <a:defRPr sz="45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ru-RU" dirty="0"/>
              <a:t>Инфографика</a:t>
            </a:r>
            <a:endParaRPr lang="en-US" dirty="0"/>
          </a:p>
        </p:txBody>
      </p:sp>
      <p:sp>
        <p:nvSpPr>
          <p:cNvPr id="55" name="Text Placeholder 3">
            <a:extLst>
              <a:ext uri="{FF2B5EF4-FFF2-40B4-BE49-F238E27FC236}">
                <a16:creationId xmlns="" xmlns:a16="http://schemas.microsoft.com/office/drawing/2014/main" id="{E8124872-56A3-3F49-C0BE-00008A927A8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371475" y="966156"/>
            <a:ext cx="10477500" cy="371287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40299314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без заголовк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" name="Группа 189">
            <a:extLst>
              <a:ext uri="{FF2B5EF4-FFF2-40B4-BE49-F238E27FC236}">
                <a16:creationId xmlns="" xmlns:a16="http://schemas.microsoft.com/office/drawing/2014/main" id="{9E32313D-CB43-1FE0-705C-107BF71D584F}"/>
              </a:ext>
            </a:extLst>
          </p:cNvPr>
          <p:cNvGrpSpPr/>
          <p:nvPr userDrawn="1"/>
        </p:nvGrpSpPr>
        <p:grpSpPr>
          <a:xfrm>
            <a:off x="371475" y="6417700"/>
            <a:ext cx="11449048" cy="72000"/>
            <a:chOff x="1802606" y="368300"/>
            <a:chExt cx="8586786" cy="92300"/>
          </a:xfrm>
        </p:grpSpPr>
        <p:sp>
          <p:nvSpPr>
            <p:cNvPr id="191" name="Прямоугольник 190">
              <a:extLst>
                <a:ext uri="{FF2B5EF4-FFF2-40B4-BE49-F238E27FC236}">
                  <a16:creationId xmlns="" xmlns:a16="http://schemas.microsoft.com/office/drawing/2014/main" id="{CDC9E3DE-4C1D-B2DF-766A-A5AC7843E6A6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2" name="Прямоугольник 191">
              <a:extLst>
                <a:ext uri="{FF2B5EF4-FFF2-40B4-BE49-F238E27FC236}">
                  <a16:creationId xmlns="" xmlns:a16="http://schemas.microsoft.com/office/drawing/2014/main" id="{40803405-0C0F-83EA-C49D-60E284B09B53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3" name="Прямоугольник 192">
              <a:extLst>
                <a:ext uri="{FF2B5EF4-FFF2-40B4-BE49-F238E27FC236}">
                  <a16:creationId xmlns="" xmlns:a16="http://schemas.microsoft.com/office/drawing/2014/main" id="{B41298A7-C3ED-7D4F-246A-BE09DC45B8CD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4" name="Прямоугольник 193">
              <a:extLst>
                <a:ext uri="{FF2B5EF4-FFF2-40B4-BE49-F238E27FC236}">
                  <a16:creationId xmlns="" xmlns:a16="http://schemas.microsoft.com/office/drawing/2014/main" id="{13B1E073-D172-2964-2BE0-EE16FAE38226}"/>
                </a:ext>
              </a:extLst>
            </p:cNvPr>
            <p:cNvSpPr/>
            <p:nvPr userDrawn="1"/>
          </p:nvSpPr>
          <p:spPr>
            <a:xfrm>
              <a:off x="6095999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5" name="Прямоугольник 194">
              <a:extLst>
                <a:ext uri="{FF2B5EF4-FFF2-40B4-BE49-F238E27FC236}">
                  <a16:creationId xmlns="" xmlns:a16="http://schemas.microsoft.com/office/drawing/2014/main" id="{2A1FB926-1FE2-9AB1-4FEA-62A4FBD2F4F1}"/>
                </a:ext>
              </a:extLst>
            </p:cNvPr>
            <p:cNvSpPr/>
            <p:nvPr userDrawn="1"/>
          </p:nvSpPr>
          <p:spPr>
            <a:xfrm>
              <a:off x="7527129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Прямоугольник 195">
              <a:extLst>
                <a:ext uri="{FF2B5EF4-FFF2-40B4-BE49-F238E27FC236}">
                  <a16:creationId xmlns="" xmlns:a16="http://schemas.microsoft.com/office/drawing/2014/main" id="{F81E9289-27AE-6D8D-2275-0E3CDC58C12E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97" name="Text Placeholder 3">
            <a:extLst>
              <a:ext uri="{FF2B5EF4-FFF2-40B4-BE49-F238E27FC236}">
                <a16:creationId xmlns="" xmlns:a16="http://schemas.microsoft.com/office/drawing/2014/main" id="{6D7F6178-F322-8160-B867-FD1DCAC3AC15}"/>
              </a:ext>
            </a:extLst>
          </p:cNvPr>
          <p:cNvSpPr>
            <a:spLocks noGrp="1"/>
          </p:cNvSpPr>
          <p:nvPr userDrawn="1">
            <p:ph type="body" sz="half" idx="10" hasCustomPrompt="1"/>
          </p:nvPr>
        </p:nvSpPr>
        <p:spPr>
          <a:xfrm>
            <a:off x="371475" y="6536001"/>
            <a:ext cx="7561263" cy="23055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 dirty="0"/>
              <a:t>Колонтитул с названием раздела или подраздела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="" xmlns:a16="http://schemas.microsoft.com/office/drawing/2014/main" id="{4D69CF8D-D494-80C5-4BEB-246B433BCCD4}"/>
              </a:ext>
            </a:extLst>
          </p:cNvPr>
          <p:cNvSpPr txBox="1"/>
          <p:nvPr userDrawn="1"/>
        </p:nvSpPr>
        <p:spPr>
          <a:xfrm>
            <a:off x="11064875" y="6536001"/>
            <a:ext cx="755650" cy="1920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79B157-74E7-8F4D-A637-886561607B85}" type="slidenum">
              <a:rPr lang="ru-RU" sz="1200" smtClean="0">
                <a:latin typeface="+mj-lt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ru-RU" sz="12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69217609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Заголовок и объект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="" xmlns:a16="http://schemas.microsoft.com/office/drawing/2014/main" id="{5A4F0FD5-C7B2-6959-38E8-E70DF7F438B7}"/>
              </a:ext>
            </a:extLst>
          </p:cNvPr>
          <p:cNvGrpSpPr/>
          <p:nvPr userDrawn="1"/>
        </p:nvGrpSpPr>
        <p:grpSpPr>
          <a:xfrm>
            <a:off x="371475" y="6417700"/>
            <a:ext cx="11449048" cy="72000"/>
            <a:chOff x="1802606" y="368300"/>
            <a:chExt cx="8586786" cy="92300"/>
          </a:xfrm>
        </p:grpSpPr>
        <p:sp>
          <p:nvSpPr>
            <p:cNvPr id="37" name="Прямоугольник 36">
              <a:extLst>
                <a:ext uri="{FF2B5EF4-FFF2-40B4-BE49-F238E27FC236}">
                  <a16:creationId xmlns="" xmlns:a16="http://schemas.microsoft.com/office/drawing/2014/main" id="{24270480-FDB6-999A-B209-D679E6C7588A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8" name="Прямоугольник 37">
              <a:extLst>
                <a:ext uri="{FF2B5EF4-FFF2-40B4-BE49-F238E27FC236}">
                  <a16:creationId xmlns="" xmlns:a16="http://schemas.microsoft.com/office/drawing/2014/main" id="{4B53EFB9-699D-B56A-A5CD-4BF78CA6DD18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9" name="Прямоугольник 38">
              <a:extLst>
                <a:ext uri="{FF2B5EF4-FFF2-40B4-BE49-F238E27FC236}">
                  <a16:creationId xmlns="" xmlns:a16="http://schemas.microsoft.com/office/drawing/2014/main" id="{F1533A7C-0F57-6C00-384A-1A1BCF7C7294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Прямоугольник 39">
              <a:extLst>
                <a:ext uri="{FF2B5EF4-FFF2-40B4-BE49-F238E27FC236}">
                  <a16:creationId xmlns="" xmlns:a16="http://schemas.microsoft.com/office/drawing/2014/main" id="{441332E4-89B9-C73A-A9E5-3CDCF672C7B5}"/>
                </a:ext>
              </a:extLst>
            </p:cNvPr>
            <p:cNvSpPr/>
            <p:nvPr userDrawn="1"/>
          </p:nvSpPr>
          <p:spPr>
            <a:xfrm>
              <a:off x="6095999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1" name="Прямоугольник 40">
              <a:extLst>
                <a:ext uri="{FF2B5EF4-FFF2-40B4-BE49-F238E27FC236}">
                  <a16:creationId xmlns="" xmlns:a16="http://schemas.microsoft.com/office/drawing/2014/main" id="{7AE9B841-3425-C437-EA36-58B6C0DF49D4}"/>
                </a:ext>
              </a:extLst>
            </p:cNvPr>
            <p:cNvSpPr/>
            <p:nvPr userDrawn="1"/>
          </p:nvSpPr>
          <p:spPr>
            <a:xfrm>
              <a:off x="7527129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="" xmlns:a16="http://schemas.microsoft.com/office/drawing/2014/main" id="{48535271-31C6-3040-90D5-AA206E37D053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43" name="Text Placeholder 3">
            <a:extLst>
              <a:ext uri="{FF2B5EF4-FFF2-40B4-BE49-F238E27FC236}">
                <a16:creationId xmlns="" xmlns:a16="http://schemas.microsoft.com/office/drawing/2014/main" id="{6695BBC4-60DF-CAD6-B7EB-40337F4F7E44}"/>
              </a:ext>
            </a:extLst>
          </p:cNvPr>
          <p:cNvSpPr>
            <a:spLocks noGrp="1"/>
          </p:cNvSpPr>
          <p:nvPr>
            <p:ph type="body" sz="half" idx="10" hasCustomPrompt="1"/>
          </p:nvPr>
        </p:nvSpPr>
        <p:spPr>
          <a:xfrm>
            <a:off x="371475" y="6536001"/>
            <a:ext cx="7561263" cy="23055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 dirty="0"/>
              <a:t>Колонтитул с названием раздела или подраздела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="" xmlns:a16="http://schemas.microsoft.com/office/drawing/2014/main" id="{B4BFF065-B45E-2C2E-4733-90FBAE3CC0B2}"/>
              </a:ext>
            </a:extLst>
          </p:cNvPr>
          <p:cNvSpPr txBox="1"/>
          <p:nvPr userDrawn="1"/>
        </p:nvSpPr>
        <p:spPr>
          <a:xfrm>
            <a:off x="11064875" y="6536001"/>
            <a:ext cx="755650" cy="1920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79B157-74E7-8F4D-A637-886561607B85}" type="slidenum">
              <a:rPr lang="ru-RU" sz="1200" smtClean="0">
                <a:latin typeface="+mj-lt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ru-RU" sz="1200" dirty="0">
              <a:latin typeface="+mj-lt"/>
            </a:endParaRPr>
          </a:p>
        </p:txBody>
      </p:sp>
      <p:sp>
        <p:nvSpPr>
          <p:cNvPr id="31" name="Picture Placeholder 2">
            <a:extLst>
              <a:ext uri="{FF2B5EF4-FFF2-40B4-BE49-F238E27FC236}">
                <a16:creationId xmlns="" xmlns:a16="http://schemas.microsoft.com/office/drawing/2014/main" id="{1CE73F14-F169-CF86-E3C6-A8AD857EC32F}"/>
              </a:ext>
            </a:extLst>
          </p:cNvPr>
          <p:cNvSpPr>
            <a:spLocks noGrp="1" noChangeAspect="1"/>
          </p:cNvSpPr>
          <p:nvPr>
            <p:ph type="pic" idx="1" hasCustomPrompt="1"/>
          </p:nvPr>
        </p:nvSpPr>
        <p:spPr>
          <a:xfrm>
            <a:off x="7175500" y="832482"/>
            <a:ext cx="4645024" cy="5381611"/>
          </a:xfrm>
        </p:spPr>
        <p:txBody>
          <a:bodyPr anchor="ctr"/>
          <a:lstStyle>
            <a:lvl1pPr marL="0" indent="0" algn="ctr">
              <a:buNone/>
              <a:defRPr sz="3200" b="0" i="0">
                <a:latin typeface="TT Bluescreens Pro Normal" panose="020B0006030000020204" pitchFamily="34" charset="0"/>
              </a:defRPr>
            </a:lvl1pPr>
            <a:lvl2pPr marL="0" indent="0" algn="ctr">
              <a:spcBef>
                <a:spcPts val="0"/>
              </a:spcBef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1"/>
            <a:r>
              <a:rPr lang="ru-RU" dirty="0"/>
              <a:t>Вставка </a:t>
            </a:r>
            <a:br>
              <a:rPr lang="ru-RU" dirty="0"/>
            </a:br>
            <a:r>
              <a:rPr lang="ru-RU" dirty="0"/>
              <a:t>рисунка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820141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Заголовок и объект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="" xmlns:a16="http://schemas.microsoft.com/office/drawing/2014/main" id="{5A4F0FD5-C7B2-6959-38E8-E70DF7F438B7}"/>
              </a:ext>
            </a:extLst>
          </p:cNvPr>
          <p:cNvGrpSpPr/>
          <p:nvPr userDrawn="1"/>
        </p:nvGrpSpPr>
        <p:grpSpPr>
          <a:xfrm>
            <a:off x="371475" y="6417700"/>
            <a:ext cx="11449048" cy="72000"/>
            <a:chOff x="1802606" y="368300"/>
            <a:chExt cx="8586786" cy="92300"/>
          </a:xfrm>
        </p:grpSpPr>
        <p:sp>
          <p:nvSpPr>
            <p:cNvPr id="37" name="Прямоугольник 36">
              <a:extLst>
                <a:ext uri="{FF2B5EF4-FFF2-40B4-BE49-F238E27FC236}">
                  <a16:creationId xmlns="" xmlns:a16="http://schemas.microsoft.com/office/drawing/2014/main" id="{24270480-FDB6-999A-B209-D679E6C7588A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8" name="Прямоугольник 37">
              <a:extLst>
                <a:ext uri="{FF2B5EF4-FFF2-40B4-BE49-F238E27FC236}">
                  <a16:creationId xmlns="" xmlns:a16="http://schemas.microsoft.com/office/drawing/2014/main" id="{4B53EFB9-699D-B56A-A5CD-4BF78CA6DD18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9" name="Прямоугольник 38">
              <a:extLst>
                <a:ext uri="{FF2B5EF4-FFF2-40B4-BE49-F238E27FC236}">
                  <a16:creationId xmlns="" xmlns:a16="http://schemas.microsoft.com/office/drawing/2014/main" id="{F1533A7C-0F57-6C00-384A-1A1BCF7C7294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Прямоугольник 39">
              <a:extLst>
                <a:ext uri="{FF2B5EF4-FFF2-40B4-BE49-F238E27FC236}">
                  <a16:creationId xmlns="" xmlns:a16="http://schemas.microsoft.com/office/drawing/2014/main" id="{441332E4-89B9-C73A-A9E5-3CDCF672C7B5}"/>
                </a:ext>
              </a:extLst>
            </p:cNvPr>
            <p:cNvSpPr/>
            <p:nvPr userDrawn="1"/>
          </p:nvSpPr>
          <p:spPr>
            <a:xfrm>
              <a:off x="6095999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1" name="Прямоугольник 40">
              <a:extLst>
                <a:ext uri="{FF2B5EF4-FFF2-40B4-BE49-F238E27FC236}">
                  <a16:creationId xmlns="" xmlns:a16="http://schemas.microsoft.com/office/drawing/2014/main" id="{7AE9B841-3425-C437-EA36-58B6C0DF49D4}"/>
                </a:ext>
              </a:extLst>
            </p:cNvPr>
            <p:cNvSpPr/>
            <p:nvPr userDrawn="1"/>
          </p:nvSpPr>
          <p:spPr>
            <a:xfrm>
              <a:off x="7527129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="" xmlns:a16="http://schemas.microsoft.com/office/drawing/2014/main" id="{48535271-31C6-3040-90D5-AA206E37D053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43" name="Text Placeholder 3">
            <a:extLst>
              <a:ext uri="{FF2B5EF4-FFF2-40B4-BE49-F238E27FC236}">
                <a16:creationId xmlns="" xmlns:a16="http://schemas.microsoft.com/office/drawing/2014/main" id="{6695BBC4-60DF-CAD6-B7EB-40337F4F7E44}"/>
              </a:ext>
            </a:extLst>
          </p:cNvPr>
          <p:cNvSpPr>
            <a:spLocks noGrp="1"/>
          </p:cNvSpPr>
          <p:nvPr>
            <p:ph type="body" sz="half" idx="10" hasCustomPrompt="1"/>
          </p:nvPr>
        </p:nvSpPr>
        <p:spPr>
          <a:xfrm>
            <a:off x="371475" y="6536001"/>
            <a:ext cx="7561263" cy="23055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 dirty="0"/>
              <a:t>Колонтитул с названием раздела или подраздела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="" xmlns:a16="http://schemas.microsoft.com/office/drawing/2014/main" id="{B4BFF065-B45E-2C2E-4733-90FBAE3CC0B2}"/>
              </a:ext>
            </a:extLst>
          </p:cNvPr>
          <p:cNvSpPr txBox="1"/>
          <p:nvPr userDrawn="1"/>
        </p:nvSpPr>
        <p:spPr>
          <a:xfrm>
            <a:off x="11064875" y="6536001"/>
            <a:ext cx="755650" cy="1920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79B157-74E7-8F4D-A637-886561607B85}" type="slidenum">
              <a:rPr lang="ru-RU" sz="1200" smtClean="0">
                <a:latin typeface="+mj-lt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ru-RU" sz="1200" dirty="0">
              <a:latin typeface="+mj-lt"/>
            </a:endParaRPr>
          </a:p>
        </p:txBody>
      </p:sp>
      <p:sp>
        <p:nvSpPr>
          <p:cNvPr id="31" name="Picture Placeholder 2">
            <a:extLst>
              <a:ext uri="{FF2B5EF4-FFF2-40B4-BE49-F238E27FC236}">
                <a16:creationId xmlns="" xmlns:a16="http://schemas.microsoft.com/office/drawing/2014/main" id="{1CE73F14-F169-CF86-E3C6-A8AD857EC32F}"/>
              </a:ext>
            </a:extLst>
          </p:cNvPr>
          <p:cNvSpPr>
            <a:spLocks noGrp="1" noChangeAspect="1"/>
          </p:cNvSpPr>
          <p:nvPr>
            <p:ph type="pic" idx="1" hasCustomPrompt="1"/>
          </p:nvPr>
        </p:nvSpPr>
        <p:spPr>
          <a:xfrm>
            <a:off x="7932738" y="832483"/>
            <a:ext cx="3887786" cy="5376406"/>
          </a:xfrm>
        </p:spPr>
        <p:txBody>
          <a:bodyPr anchor="ctr"/>
          <a:lstStyle>
            <a:lvl1pPr marL="0" indent="0" algn="ctr">
              <a:buNone/>
              <a:defRPr sz="3200" b="0" i="0">
                <a:latin typeface="TT Bluescreens Pro Normal" panose="020B0006030000020204" pitchFamily="34" charset="0"/>
              </a:defRPr>
            </a:lvl1pPr>
            <a:lvl2pPr marL="0" indent="0" algn="ctr">
              <a:spcBef>
                <a:spcPts val="0"/>
              </a:spcBef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1"/>
            <a:r>
              <a:rPr lang="ru-RU" dirty="0"/>
              <a:t>Вставка </a:t>
            </a:r>
            <a:br>
              <a:rPr lang="ru-RU" dirty="0"/>
            </a:br>
            <a:r>
              <a:rPr lang="ru-RU" dirty="0"/>
              <a:t>рисунка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439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0_Заголовок и объект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="" xmlns:a16="http://schemas.microsoft.com/office/drawing/2014/main" id="{5A4F0FD5-C7B2-6959-38E8-E70DF7F438B7}"/>
              </a:ext>
            </a:extLst>
          </p:cNvPr>
          <p:cNvGrpSpPr/>
          <p:nvPr userDrawn="1"/>
        </p:nvGrpSpPr>
        <p:grpSpPr>
          <a:xfrm>
            <a:off x="371475" y="6417700"/>
            <a:ext cx="11449048" cy="72000"/>
            <a:chOff x="1802606" y="368300"/>
            <a:chExt cx="8586786" cy="92300"/>
          </a:xfrm>
        </p:grpSpPr>
        <p:sp>
          <p:nvSpPr>
            <p:cNvPr id="37" name="Прямоугольник 36">
              <a:extLst>
                <a:ext uri="{FF2B5EF4-FFF2-40B4-BE49-F238E27FC236}">
                  <a16:creationId xmlns="" xmlns:a16="http://schemas.microsoft.com/office/drawing/2014/main" id="{24270480-FDB6-999A-B209-D679E6C7588A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8" name="Прямоугольник 37">
              <a:extLst>
                <a:ext uri="{FF2B5EF4-FFF2-40B4-BE49-F238E27FC236}">
                  <a16:creationId xmlns="" xmlns:a16="http://schemas.microsoft.com/office/drawing/2014/main" id="{4B53EFB9-699D-B56A-A5CD-4BF78CA6DD18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9" name="Прямоугольник 38">
              <a:extLst>
                <a:ext uri="{FF2B5EF4-FFF2-40B4-BE49-F238E27FC236}">
                  <a16:creationId xmlns="" xmlns:a16="http://schemas.microsoft.com/office/drawing/2014/main" id="{F1533A7C-0F57-6C00-384A-1A1BCF7C7294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Прямоугольник 39">
              <a:extLst>
                <a:ext uri="{FF2B5EF4-FFF2-40B4-BE49-F238E27FC236}">
                  <a16:creationId xmlns="" xmlns:a16="http://schemas.microsoft.com/office/drawing/2014/main" id="{441332E4-89B9-C73A-A9E5-3CDCF672C7B5}"/>
                </a:ext>
              </a:extLst>
            </p:cNvPr>
            <p:cNvSpPr/>
            <p:nvPr userDrawn="1"/>
          </p:nvSpPr>
          <p:spPr>
            <a:xfrm>
              <a:off x="6095999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1" name="Прямоугольник 40">
              <a:extLst>
                <a:ext uri="{FF2B5EF4-FFF2-40B4-BE49-F238E27FC236}">
                  <a16:creationId xmlns="" xmlns:a16="http://schemas.microsoft.com/office/drawing/2014/main" id="{7AE9B841-3425-C437-EA36-58B6C0DF49D4}"/>
                </a:ext>
              </a:extLst>
            </p:cNvPr>
            <p:cNvSpPr/>
            <p:nvPr userDrawn="1"/>
          </p:nvSpPr>
          <p:spPr>
            <a:xfrm>
              <a:off x="7527129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="" xmlns:a16="http://schemas.microsoft.com/office/drawing/2014/main" id="{48535271-31C6-3040-90D5-AA206E37D053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43" name="Text Placeholder 3">
            <a:extLst>
              <a:ext uri="{FF2B5EF4-FFF2-40B4-BE49-F238E27FC236}">
                <a16:creationId xmlns="" xmlns:a16="http://schemas.microsoft.com/office/drawing/2014/main" id="{6695BBC4-60DF-CAD6-B7EB-40337F4F7E44}"/>
              </a:ext>
            </a:extLst>
          </p:cNvPr>
          <p:cNvSpPr>
            <a:spLocks noGrp="1"/>
          </p:cNvSpPr>
          <p:nvPr>
            <p:ph type="body" sz="half" idx="10" hasCustomPrompt="1"/>
          </p:nvPr>
        </p:nvSpPr>
        <p:spPr>
          <a:xfrm>
            <a:off x="371475" y="6536001"/>
            <a:ext cx="7561263" cy="23055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 dirty="0"/>
              <a:t>Колонтитул с названием раздела или подраздела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="" xmlns:a16="http://schemas.microsoft.com/office/drawing/2014/main" id="{B4BFF065-B45E-2C2E-4733-90FBAE3CC0B2}"/>
              </a:ext>
            </a:extLst>
          </p:cNvPr>
          <p:cNvSpPr txBox="1"/>
          <p:nvPr userDrawn="1"/>
        </p:nvSpPr>
        <p:spPr>
          <a:xfrm>
            <a:off x="11064875" y="6536001"/>
            <a:ext cx="755650" cy="1920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79B157-74E7-8F4D-A637-886561607B85}" type="slidenum">
              <a:rPr lang="ru-RU" sz="1200" smtClean="0">
                <a:latin typeface="+mj-lt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ru-RU" sz="1200" dirty="0">
              <a:latin typeface="+mj-lt"/>
            </a:endParaRPr>
          </a:p>
        </p:txBody>
      </p:sp>
      <p:sp>
        <p:nvSpPr>
          <p:cNvPr id="31" name="Picture Placeholder 2">
            <a:extLst>
              <a:ext uri="{FF2B5EF4-FFF2-40B4-BE49-F238E27FC236}">
                <a16:creationId xmlns="" xmlns:a16="http://schemas.microsoft.com/office/drawing/2014/main" id="{1CE73F14-F169-CF86-E3C6-A8AD857EC32F}"/>
              </a:ext>
            </a:extLst>
          </p:cNvPr>
          <p:cNvSpPr>
            <a:spLocks noGrp="1" noChangeAspect="1"/>
          </p:cNvSpPr>
          <p:nvPr>
            <p:ph type="pic" idx="1" hasCustomPrompt="1"/>
          </p:nvPr>
        </p:nvSpPr>
        <p:spPr>
          <a:xfrm>
            <a:off x="7175500" y="832483"/>
            <a:ext cx="4645024" cy="5376406"/>
          </a:xfrm>
        </p:spPr>
        <p:txBody>
          <a:bodyPr anchor="ctr"/>
          <a:lstStyle>
            <a:lvl1pPr marL="0" indent="0" algn="ctr">
              <a:buNone/>
              <a:defRPr sz="3200" b="0" i="0">
                <a:latin typeface="TT Bluescreens Pro Normal" panose="020B0006030000020204" pitchFamily="34" charset="0"/>
              </a:defRPr>
            </a:lvl1pPr>
            <a:lvl2pPr marL="0" indent="0" algn="ctr">
              <a:spcBef>
                <a:spcPts val="0"/>
              </a:spcBef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1"/>
            <a:r>
              <a:rPr lang="ru-RU" dirty="0"/>
              <a:t>Вставка </a:t>
            </a:r>
            <a:br>
              <a:rPr lang="ru-RU" dirty="0"/>
            </a:br>
            <a:r>
              <a:rPr lang="ru-RU" dirty="0"/>
              <a:t>рисунка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042464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1_Заголовок и объект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icture Placeholder 2">
            <a:extLst>
              <a:ext uri="{FF2B5EF4-FFF2-40B4-BE49-F238E27FC236}">
                <a16:creationId xmlns="" xmlns:a16="http://schemas.microsoft.com/office/drawing/2014/main" id="{D97FEC2A-285C-0CAD-1B21-40F83338C414}"/>
              </a:ext>
            </a:extLst>
          </p:cNvPr>
          <p:cNvSpPr>
            <a:spLocks noGrp="1" noChangeAspect="1"/>
          </p:cNvSpPr>
          <p:nvPr>
            <p:ph type="pic" idx="1" hasCustomPrompt="1"/>
          </p:nvPr>
        </p:nvSpPr>
        <p:spPr>
          <a:xfrm>
            <a:off x="7175502" y="2140091"/>
            <a:ext cx="4645022" cy="963430"/>
          </a:xfrm>
        </p:spPr>
        <p:txBody>
          <a:bodyPr anchor="ctr"/>
          <a:lstStyle>
            <a:lvl1pPr marL="0" indent="0" algn="ctr">
              <a:buNone/>
              <a:defRPr sz="3200" b="0" i="0">
                <a:latin typeface="TT Bluescreens Pro Normal" panose="020B0006030000020204" pitchFamily="34" charset="0"/>
              </a:defRPr>
            </a:lvl1pPr>
            <a:lvl2pPr marL="0" indent="0" algn="ctr">
              <a:spcBef>
                <a:spcPts val="0"/>
              </a:spcBef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1"/>
            <a:r>
              <a:rPr lang="ru-RU" dirty="0"/>
              <a:t>Вставка </a:t>
            </a:r>
            <a:br>
              <a:rPr lang="ru-RU" dirty="0"/>
            </a:br>
            <a:r>
              <a:rPr lang="ru-RU" dirty="0"/>
              <a:t>рисунка</a:t>
            </a:r>
            <a:endParaRPr lang="en-US" dirty="0"/>
          </a:p>
        </p:txBody>
      </p:sp>
      <p:grpSp>
        <p:nvGrpSpPr>
          <p:cNvPr id="146" name="Группа 145">
            <a:extLst>
              <a:ext uri="{FF2B5EF4-FFF2-40B4-BE49-F238E27FC236}">
                <a16:creationId xmlns="" xmlns:a16="http://schemas.microsoft.com/office/drawing/2014/main" id="{9D225268-7B9D-4B2C-7C31-9465AB95BFFE}"/>
              </a:ext>
            </a:extLst>
          </p:cNvPr>
          <p:cNvGrpSpPr/>
          <p:nvPr userDrawn="1"/>
        </p:nvGrpSpPr>
        <p:grpSpPr>
          <a:xfrm>
            <a:off x="371475" y="6417700"/>
            <a:ext cx="11449048" cy="72000"/>
            <a:chOff x="1802606" y="368300"/>
            <a:chExt cx="8586786" cy="92300"/>
          </a:xfrm>
        </p:grpSpPr>
        <p:sp>
          <p:nvSpPr>
            <p:cNvPr id="147" name="Прямоугольник 146">
              <a:extLst>
                <a:ext uri="{FF2B5EF4-FFF2-40B4-BE49-F238E27FC236}">
                  <a16:creationId xmlns="" xmlns:a16="http://schemas.microsoft.com/office/drawing/2014/main" id="{10CB4CED-F8F6-0AD9-6E10-B4694C0A259C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8" name="Прямоугольник 147">
              <a:extLst>
                <a:ext uri="{FF2B5EF4-FFF2-40B4-BE49-F238E27FC236}">
                  <a16:creationId xmlns="" xmlns:a16="http://schemas.microsoft.com/office/drawing/2014/main" id="{9B65CEF7-A4DB-A02A-BE5C-18EFA6FF0E39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9" name="Прямоугольник 148">
              <a:extLst>
                <a:ext uri="{FF2B5EF4-FFF2-40B4-BE49-F238E27FC236}">
                  <a16:creationId xmlns="" xmlns:a16="http://schemas.microsoft.com/office/drawing/2014/main" id="{3B6E9741-9451-72D4-3A95-A876A70DB66D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0" name="Прямоугольник 149">
              <a:extLst>
                <a:ext uri="{FF2B5EF4-FFF2-40B4-BE49-F238E27FC236}">
                  <a16:creationId xmlns="" xmlns:a16="http://schemas.microsoft.com/office/drawing/2014/main" id="{53D9BA04-B5DC-A843-2B77-8F2C26B4EB70}"/>
                </a:ext>
              </a:extLst>
            </p:cNvPr>
            <p:cNvSpPr/>
            <p:nvPr userDrawn="1"/>
          </p:nvSpPr>
          <p:spPr>
            <a:xfrm>
              <a:off x="6095999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1" name="Прямоугольник 150">
              <a:extLst>
                <a:ext uri="{FF2B5EF4-FFF2-40B4-BE49-F238E27FC236}">
                  <a16:creationId xmlns="" xmlns:a16="http://schemas.microsoft.com/office/drawing/2014/main" id="{6D14EA2F-4CA7-C8C2-42B9-A8A9AF67C44F}"/>
                </a:ext>
              </a:extLst>
            </p:cNvPr>
            <p:cNvSpPr/>
            <p:nvPr userDrawn="1"/>
          </p:nvSpPr>
          <p:spPr>
            <a:xfrm>
              <a:off x="7527129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2" name="Прямоугольник 151">
              <a:extLst>
                <a:ext uri="{FF2B5EF4-FFF2-40B4-BE49-F238E27FC236}">
                  <a16:creationId xmlns="" xmlns:a16="http://schemas.microsoft.com/office/drawing/2014/main" id="{CED73EE1-7CB3-4A1F-2D93-69F1104FFF7C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3" name="Text Placeholder 3">
            <a:extLst>
              <a:ext uri="{FF2B5EF4-FFF2-40B4-BE49-F238E27FC236}">
                <a16:creationId xmlns="" xmlns:a16="http://schemas.microsoft.com/office/drawing/2014/main" id="{F611ECAA-BB89-CD58-D1D1-BDA5C3A83335}"/>
              </a:ext>
            </a:extLst>
          </p:cNvPr>
          <p:cNvSpPr>
            <a:spLocks noGrp="1"/>
          </p:cNvSpPr>
          <p:nvPr>
            <p:ph type="body" sz="half" idx="10" hasCustomPrompt="1"/>
          </p:nvPr>
        </p:nvSpPr>
        <p:spPr>
          <a:xfrm>
            <a:off x="371475" y="6536001"/>
            <a:ext cx="7561263" cy="23055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 dirty="0"/>
              <a:t>Колонтитул с названием раздела или подраздела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="" xmlns:a16="http://schemas.microsoft.com/office/drawing/2014/main" id="{2E55CC11-4E35-E326-55BA-D9DEF04D3096}"/>
              </a:ext>
            </a:extLst>
          </p:cNvPr>
          <p:cNvSpPr txBox="1"/>
          <p:nvPr userDrawn="1"/>
        </p:nvSpPr>
        <p:spPr>
          <a:xfrm>
            <a:off x="11064875" y="6536001"/>
            <a:ext cx="755650" cy="1920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79B157-74E7-8F4D-A637-886561607B85}" type="slidenum">
              <a:rPr lang="ru-RU" sz="1200" smtClean="0">
                <a:latin typeface="+mj-lt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ru-RU" sz="12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8586768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инный заголовок в одну строку+рисунок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6" name="Группа 145">
            <a:extLst>
              <a:ext uri="{FF2B5EF4-FFF2-40B4-BE49-F238E27FC236}">
                <a16:creationId xmlns="" xmlns:a16="http://schemas.microsoft.com/office/drawing/2014/main" id="{9D225268-7B9D-4B2C-7C31-9465AB95BFFE}"/>
              </a:ext>
            </a:extLst>
          </p:cNvPr>
          <p:cNvGrpSpPr/>
          <p:nvPr userDrawn="1"/>
        </p:nvGrpSpPr>
        <p:grpSpPr>
          <a:xfrm>
            <a:off x="371475" y="6417700"/>
            <a:ext cx="11449048" cy="72000"/>
            <a:chOff x="1802606" y="368300"/>
            <a:chExt cx="8586786" cy="92300"/>
          </a:xfrm>
        </p:grpSpPr>
        <p:sp>
          <p:nvSpPr>
            <p:cNvPr id="147" name="Прямоугольник 146">
              <a:extLst>
                <a:ext uri="{FF2B5EF4-FFF2-40B4-BE49-F238E27FC236}">
                  <a16:creationId xmlns="" xmlns:a16="http://schemas.microsoft.com/office/drawing/2014/main" id="{10CB4CED-F8F6-0AD9-6E10-B4694C0A259C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8" name="Прямоугольник 147">
              <a:extLst>
                <a:ext uri="{FF2B5EF4-FFF2-40B4-BE49-F238E27FC236}">
                  <a16:creationId xmlns="" xmlns:a16="http://schemas.microsoft.com/office/drawing/2014/main" id="{9B65CEF7-A4DB-A02A-BE5C-18EFA6FF0E39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9" name="Прямоугольник 148">
              <a:extLst>
                <a:ext uri="{FF2B5EF4-FFF2-40B4-BE49-F238E27FC236}">
                  <a16:creationId xmlns="" xmlns:a16="http://schemas.microsoft.com/office/drawing/2014/main" id="{3B6E9741-9451-72D4-3A95-A876A70DB66D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0" name="Прямоугольник 149">
              <a:extLst>
                <a:ext uri="{FF2B5EF4-FFF2-40B4-BE49-F238E27FC236}">
                  <a16:creationId xmlns="" xmlns:a16="http://schemas.microsoft.com/office/drawing/2014/main" id="{53D9BA04-B5DC-A843-2B77-8F2C26B4EB70}"/>
                </a:ext>
              </a:extLst>
            </p:cNvPr>
            <p:cNvSpPr/>
            <p:nvPr userDrawn="1"/>
          </p:nvSpPr>
          <p:spPr>
            <a:xfrm>
              <a:off x="6095999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1" name="Прямоугольник 150">
              <a:extLst>
                <a:ext uri="{FF2B5EF4-FFF2-40B4-BE49-F238E27FC236}">
                  <a16:creationId xmlns="" xmlns:a16="http://schemas.microsoft.com/office/drawing/2014/main" id="{6D14EA2F-4CA7-C8C2-42B9-A8A9AF67C44F}"/>
                </a:ext>
              </a:extLst>
            </p:cNvPr>
            <p:cNvSpPr/>
            <p:nvPr userDrawn="1"/>
          </p:nvSpPr>
          <p:spPr>
            <a:xfrm>
              <a:off x="7527129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2" name="Прямоугольник 151">
              <a:extLst>
                <a:ext uri="{FF2B5EF4-FFF2-40B4-BE49-F238E27FC236}">
                  <a16:creationId xmlns="" xmlns:a16="http://schemas.microsoft.com/office/drawing/2014/main" id="{CED73EE1-7CB3-4A1F-2D93-69F1104FFF7C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3" name="Text Placeholder 3">
            <a:extLst>
              <a:ext uri="{FF2B5EF4-FFF2-40B4-BE49-F238E27FC236}">
                <a16:creationId xmlns="" xmlns:a16="http://schemas.microsoft.com/office/drawing/2014/main" id="{F611ECAA-BB89-CD58-D1D1-BDA5C3A83335}"/>
              </a:ext>
            </a:extLst>
          </p:cNvPr>
          <p:cNvSpPr>
            <a:spLocks noGrp="1"/>
          </p:cNvSpPr>
          <p:nvPr userDrawn="1">
            <p:ph type="body" sz="half" idx="10" hasCustomPrompt="1"/>
          </p:nvPr>
        </p:nvSpPr>
        <p:spPr>
          <a:xfrm>
            <a:off x="371475" y="6536001"/>
            <a:ext cx="7561263" cy="23055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 dirty="0"/>
              <a:t>Колонтитул с названием раздела или подраздела</a:t>
            </a:r>
          </a:p>
        </p:txBody>
      </p:sp>
      <p:sp>
        <p:nvSpPr>
          <p:cNvPr id="233" name="TextBox 232">
            <a:extLst>
              <a:ext uri="{FF2B5EF4-FFF2-40B4-BE49-F238E27FC236}">
                <a16:creationId xmlns="" xmlns:a16="http://schemas.microsoft.com/office/drawing/2014/main" id="{4B08B4DB-47B6-C49D-D36E-DA034F8D0A5F}"/>
              </a:ext>
            </a:extLst>
          </p:cNvPr>
          <p:cNvSpPr txBox="1"/>
          <p:nvPr userDrawn="1"/>
        </p:nvSpPr>
        <p:spPr>
          <a:xfrm>
            <a:off x="11064875" y="6536001"/>
            <a:ext cx="755650" cy="1920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79B157-74E7-8F4D-A637-886561607B85}" type="slidenum">
              <a:rPr lang="ru-RU" sz="1200" smtClean="0">
                <a:latin typeface="+mj-lt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ru-RU" sz="1200" dirty="0">
              <a:latin typeface="+mj-lt"/>
            </a:endParaRPr>
          </a:p>
        </p:txBody>
      </p:sp>
      <p:sp>
        <p:nvSpPr>
          <p:cNvPr id="234" name="Title 1">
            <a:extLst>
              <a:ext uri="{FF2B5EF4-FFF2-40B4-BE49-F238E27FC236}">
                <a16:creationId xmlns="" xmlns:a16="http://schemas.microsoft.com/office/drawing/2014/main" id="{8BB06054-541E-1D8E-E696-DFEB3B5F2774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371475" y="368300"/>
            <a:ext cx="9435640" cy="700640"/>
          </a:xfrm>
        </p:spPr>
        <p:txBody>
          <a:bodyPr anchor="t"/>
          <a:lstStyle>
            <a:lvl1pPr>
              <a:defRPr sz="4500" b="0" i="0">
                <a:solidFill>
                  <a:schemeClr val="tx1"/>
                </a:solidFill>
                <a:latin typeface="+mj-lt"/>
              </a:defRPr>
            </a:lvl1pPr>
          </a:lstStyle>
          <a:p>
            <a:pPr>
              <a:lnSpc>
                <a:spcPts val="4500"/>
              </a:lnSpc>
            </a:pPr>
            <a:r>
              <a:rPr lang="ru-RU" dirty="0"/>
              <a:t>Длинный заголовок в одну строку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="" xmlns:a16="http://schemas.microsoft.com/office/drawing/2014/main" id="{D7F2D7E8-AD32-FC80-EFB3-F0F8AB3070DB}"/>
              </a:ext>
            </a:extLst>
          </p:cNvPr>
          <p:cNvSpPr>
            <a:spLocks noGrp="1" noChangeAspect="1"/>
          </p:cNvSpPr>
          <p:nvPr>
            <p:ph type="pic" idx="1" hasCustomPrompt="1"/>
          </p:nvPr>
        </p:nvSpPr>
        <p:spPr>
          <a:xfrm>
            <a:off x="8146494" y="1497458"/>
            <a:ext cx="3674030" cy="4714878"/>
          </a:xfrm>
        </p:spPr>
        <p:txBody>
          <a:bodyPr anchor="ctr"/>
          <a:lstStyle>
            <a:lvl1pPr marL="0" indent="0" algn="ctr">
              <a:buNone/>
              <a:defRPr sz="3200" b="0" i="0">
                <a:latin typeface="TT Bluescreens Pro Normal" panose="020B0006030000020204" pitchFamily="34" charset="0"/>
              </a:defRPr>
            </a:lvl1pPr>
            <a:lvl2pPr marL="0" indent="0" algn="ctr">
              <a:spcBef>
                <a:spcPts val="0"/>
              </a:spcBef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1"/>
            <a:r>
              <a:rPr lang="ru-RU" dirty="0"/>
              <a:t>Вставка </a:t>
            </a:r>
            <a:br>
              <a:rPr lang="ru-RU" dirty="0"/>
            </a:br>
            <a:r>
              <a:rPr lang="ru-RU" dirty="0"/>
              <a:t>рисунка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41950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1_Заголовок и объект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6" name="Группа 145">
            <a:extLst>
              <a:ext uri="{FF2B5EF4-FFF2-40B4-BE49-F238E27FC236}">
                <a16:creationId xmlns="" xmlns:a16="http://schemas.microsoft.com/office/drawing/2014/main" id="{9D225268-7B9D-4B2C-7C31-9465AB95BFFE}"/>
              </a:ext>
            </a:extLst>
          </p:cNvPr>
          <p:cNvGrpSpPr/>
          <p:nvPr userDrawn="1"/>
        </p:nvGrpSpPr>
        <p:grpSpPr>
          <a:xfrm>
            <a:off x="371475" y="6417700"/>
            <a:ext cx="11449048" cy="72000"/>
            <a:chOff x="1802606" y="368300"/>
            <a:chExt cx="8586786" cy="92300"/>
          </a:xfrm>
        </p:grpSpPr>
        <p:sp>
          <p:nvSpPr>
            <p:cNvPr id="147" name="Прямоугольник 146">
              <a:extLst>
                <a:ext uri="{FF2B5EF4-FFF2-40B4-BE49-F238E27FC236}">
                  <a16:creationId xmlns="" xmlns:a16="http://schemas.microsoft.com/office/drawing/2014/main" id="{10CB4CED-F8F6-0AD9-6E10-B4694C0A259C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8" name="Прямоугольник 147">
              <a:extLst>
                <a:ext uri="{FF2B5EF4-FFF2-40B4-BE49-F238E27FC236}">
                  <a16:creationId xmlns="" xmlns:a16="http://schemas.microsoft.com/office/drawing/2014/main" id="{9B65CEF7-A4DB-A02A-BE5C-18EFA6FF0E39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9" name="Прямоугольник 148">
              <a:extLst>
                <a:ext uri="{FF2B5EF4-FFF2-40B4-BE49-F238E27FC236}">
                  <a16:creationId xmlns="" xmlns:a16="http://schemas.microsoft.com/office/drawing/2014/main" id="{3B6E9741-9451-72D4-3A95-A876A70DB66D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0" name="Прямоугольник 149">
              <a:extLst>
                <a:ext uri="{FF2B5EF4-FFF2-40B4-BE49-F238E27FC236}">
                  <a16:creationId xmlns="" xmlns:a16="http://schemas.microsoft.com/office/drawing/2014/main" id="{53D9BA04-B5DC-A843-2B77-8F2C26B4EB70}"/>
                </a:ext>
              </a:extLst>
            </p:cNvPr>
            <p:cNvSpPr/>
            <p:nvPr userDrawn="1"/>
          </p:nvSpPr>
          <p:spPr>
            <a:xfrm>
              <a:off x="6095999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1" name="Прямоугольник 150">
              <a:extLst>
                <a:ext uri="{FF2B5EF4-FFF2-40B4-BE49-F238E27FC236}">
                  <a16:creationId xmlns="" xmlns:a16="http://schemas.microsoft.com/office/drawing/2014/main" id="{6D14EA2F-4CA7-C8C2-42B9-A8A9AF67C44F}"/>
                </a:ext>
              </a:extLst>
            </p:cNvPr>
            <p:cNvSpPr/>
            <p:nvPr userDrawn="1"/>
          </p:nvSpPr>
          <p:spPr>
            <a:xfrm>
              <a:off x="7527129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2" name="Прямоугольник 151">
              <a:extLst>
                <a:ext uri="{FF2B5EF4-FFF2-40B4-BE49-F238E27FC236}">
                  <a16:creationId xmlns="" xmlns:a16="http://schemas.microsoft.com/office/drawing/2014/main" id="{CED73EE1-7CB3-4A1F-2D93-69F1104FFF7C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3" name="Text Placeholder 3">
            <a:extLst>
              <a:ext uri="{FF2B5EF4-FFF2-40B4-BE49-F238E27FC236}">
                <a16:creationId xmlns="" xmlns:a16="http://schemas.microsoft.com/office/drawing/2014/main" id="{F611ECAA-BB89-CD58-D1D1-BDA5C3A83335}"/>
              </a:ext>
            </a:extLst>
          </p:cNvPr>
          <p:cNvSpPr>
            <a:spLocks noGrp="1"/>
          </p:cNvSpPr>
          <p:nvPr userDrawn="1">
            <p:ph type="body" sz="half" idx="10" hasCustomPrompt="1"/>
          </p:nvPr>
        </p:nvSpPr>
        <p:spPr>
          <a:xfrm>
            <a:off x="371475" y="6536001"/>
            <a:ext cx="7561263" cy="23055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 dirty="0"/>
              <a:t>Колонтитул с названием раздела или подраздела</a:t>
            </a:r>
          </a:p>
        </p:txBody>
      </p:sp>
      <p:sp>
        <p:nvSpPr>
          <p:cNvPr id="233" name="TextBox 232">
            <a:extLst>
              <a:ext uri="{FF2B5EF4-FFF2-40B4-BE49-F238E27FC236}">
                <a16:creationId xmlns="" xmlns:a16="http://schemas.microsoft.com/office/drawing/2014/main" id="{4B08B4DB-47B6-C49D-D36E-DA034F8D0A5F}"/>
              </a:ext>
            </a:extLst>
          </p:cNvPr>
          <p:cNvSpPr txBox="1"/>
          <p:nvPr userDrawn="1"/>
        </p:nvSpPr>
        <p:spPr>
          <a:xfrm>
            <a:off x="11064875" y="6536001"/>
            <a:ext cx="755650" cy="1920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79B157-74E7-8F4D-A637-886561607B85}" type="slidenum">
              <a:rPr lang="ru-RU" sz="1200" smtClean="0">
                <a:latin typeface="+mj-lt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ru-RU" sz="1200" dirty="0">
              <a:latin typeface="+mj-lt"/>
            </a:endParaRPr>
          </a:p>
        </p:txBody>
      </p:sp>
      <p:sp>
        <p:nvSpPr>
          <p:cNvPr id="234" name="Title 1">
            <a:extLst>
              <a:ext uri="{FF2B5EF4-FFF2-40B4-BE49-F238E27FC236}">
                <a16:creationId xmlns="" xmlns:a16="http://schemas.microsoft.com/office/drawing/2014/main" id="{8BB06054-541E-1D8E-E696-DFEB3B5F2774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371475" y="368300"/>
            <a:ext cx="5616575" cy="700640"/>
          </a:xfrm>
        </p:spPr>
        <p:txBody>
          <a:bodyPr anchor="t"/>
          <a:lstStyle>
            <a:lvl1pPr>
              <a:defRPr sz="4500" b="0" i="0">
                <a:solidFill>
                  <a:schemeClr val="tx1"/>
                </a:solidFill>
                <a:latin typeface="+mj-lt"/>
              </a:defRPr>
            </a:lvl1pPr>
          </a:lstStyle>
          <a:p>
            <a:pPr>
              <a:lnSpc>
                <a:spcPts val="4500"/>
              </a:lnSpc>
            </a:pPr>
            <a:r>
              <a:rPr lang="ru-RU" dirty="0"/>
              <a:t>Текстовый слайд</a:t>
            </a:r>
            <a:endParaRPr lang="en-US" dirty="0"/>
          </a:p>
        </p:txBody>
      </p:sp>
      <p:sp>
        <p:nvSpPr>
          <p:cNvPr id="17" name="Picture Placeholder 2">
            <a:extLst>
              <a:ext uri="{FF2B5EF4-FFF2-40B4-BE49-F238E27FC236}">
                <a16:creationId xmlns="" xmlns:a16="http://schemas.microsoft.com/office/drawing/2014/main" id="{428A841E-64CC-D3AE-6CFA-D9219605DEDD}"/>
              </a:ext>
            </a:extLst>
          </p:cNvPr>
          <p:cNvSpPr>
            <a:spLocks noGrp="1" noChangeAspect="1"/>
          </p:cNvSpPr>
          <p:nvPr>
            <p:ph type="pic" idx="1" hasCustomPrompt="1"/>
          </p:nvPr>
        </p:nvSpPr>
        <p:spPr>
          <a:xfrm>
            <a:off x="6203949" y="438151"/>
            <a:ext cx="5616575" cy="5774186"/>
          </a:xfrm>
        </p:spPr>
        <p:txBody>
          <a:bodyPr anchor="ctr"/>
          <a:lstStyle>
            <a:lvl1pPr marL="0" indent="0" algn="ctr">
              <a:buNone/>
              <a:defRPr sz="3200" b="0" i="0">
                <a:latin typeface="TT Bluescreens Pro Normal" panose="020B0006030000020204" pitchFamily="34" charset="0"/>
              </a:defRPr>
            </a:lvl1pPr>
            <a:lvl2pPr marL="0" indent="0" algn="ctr">
              <a:spcBef>
                <a:spcPts val="0"/>
              </a:spcBef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1"/>
            <a:r>
              <a:rPr lang="ru-RU" dirty="0"/>
              <a:t>Вставка </a:t>
            </a:r>
            <a:br>
              <a:rPr lang="ru-RU" dirty="0"/>
            </a:br>
            <a:r>
              <a:rPr lang="ru-RU" dirty="0"/>
              <a:t>рисунка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738967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2_Заголовок и объек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3">
            <a:extLst>
              <a:ext uri="{FF2B5EF4-FFF2-40B4-BE49-F238E27FC236}">
                <a16:creationId xmlns="" xmlns:a16="http://schemas.microsoft.com/office/drawing/2014/main" id="{39DA052C-5539-CC71-490B-A974DAD95350}"/>
              </a:ext>
            </a:extLst>
          </p:cNvPr>
          <p:cNvSpPr>
            <a:spLocks noGrp="1"/>
          </p:cNvSpPr>
          <p:nvPr>
            <p:ph type="body" sz="half" idx="39" hasCustomPrompt="1"/>
          </p:nvPr>
        </p:nvSpPr>
        <p:spPr>
          <a:xfrm>
            <a:off x="617597" y="5853042"/>
            <a:ext cx="1628716" cy="687458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0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+7 495 748 20 55</a:t>
            </a:r>
          </a:p>
          <a:p>
            <a:pPr lvl="0"/>
            <a:r>
              <a:rPr lang="en-US" dirty="0" err="1"/>
              <a:t>nestro@nestro.ru</a:t>
            </a:r>
            <a:endParaRPr lang="en-US" dirty="0"/>
          </a:p>
          <a:p>
            <a:pPr lvl="0"/>
            <a:r>
              <a:rPr lang="en-US" dirty="0" err="1"/>
              <a:t>zarubezhneft.ru</a:t>
            </a:r>
            <a:endParaRPr lang="ru-RU" dirty="0"/>
          </a:p>
        </p:txBody>
      </p:sp>
      <p:sp>
        <p:nvSpPr>
          <p:cNvPr id="40" name="Text Placeholder 3">
            <a:extLst>
              <a:ext uri="{FF2B5EF4-FFF2-40B4-BE49-F238E27FC236}">
                <a16:creationId xmlns="" xmlns:a16="http://schemas.microsoft.com/office/drawing/2014/main" id="{7BE50F2E-D757-AE0E-7AC4-4F2B5D64D7D1}"/>
              </a:ext>
            </a:extLst>
          </p:cNvPr>
          <p:cNvSpPr>
            <a:spLocks noGrp="1"/>
          </p:cNvSpPr>
          <p:nvPr>
            <p:ph type="body" sz="half" idx="40" hasCustomPrompt="1"/>
          </p:nvPr>
        </p:nvSpPr>
        <p:spPr>
          <a:xfrm>
            <a:off x="2690872" y="5853042"/>
            <a:ext cx="2576452" cy="687458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0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Армянский пер., д. 9/1/1, стр. 1,</a:t>
            </a:r>
          </a:p>
          <a:p>
            <a:pPr lvl="0"/>
            <a:r>
              <a:rPr lang="ru-RU" dirty="0"/>
              <a:t>Москва, РФ, 101990</a:t>
            </a:r>
          </a:p>
        </p:txBody>
      </p:sp>
      <p:grpSp>
        <p:nvGrpSpPr>
          <p:cNvPr id="43" name="Рисунок 41">
            <a:extLst>
              <a:ext uri="{FF2B5EF4-FFF2-40B4-BE49-F238E27FC236}">
                <a16:creationId xmlns="" xmlns:a16="http://schemas.microsoft.com/office/drawing/2014/main" id="{61C85554-9ED6-C013-0997-4D2FAA593833}"/>
              </a:ext>
            </a:extLst>
          </p:cNvPr>
          <p:cNvGrpSpPr/>
          <p:nvPr/>
        </p:nvGrpSpPr>
        <p:grpSpPr>
          <a:xfrm>
            <a:off x="371475" y="368300"/>
            <a:ext cx="3357028" cy="519621"/>
            <a:chOff x="2376026" y="1816656"/>
            <a:chExt cx="2955030" cy="457397"/>
          </a:xfrm>
          <a:solidFill>
            <a:srgbClr val="FFFFFF"/>
          </a:solidFill>
        </p:grpSpPr>
        <p:sp>
          <p:nvSpPr>
            <p:cNvPr id="44" name="Полилиния 43">
              <a:extLst>
                <a:ext uri="{FF2B5EF4-FFF2-40B4-BE49-F238E27FC236}">
                  <a16:creationId xmlns="" xmlns:a16="http://schemas.microsoft.com/office/drawing/2014/main" id="{BE307E3B-D676-3223-CA5F-6BD024103CF6}"/>
                </a:ext>
              </a:extLst>
            </p:cNvPr>
            <p:cNvSpPr/>
            <p:nvPr/>
          </p:nvSpPr>
          <p:spPr>
            <a:xfrm>
              <a:off x="2968530" y="1878896"/>
              <a:ext cx="2362526" cy="379916"/>
            </a:xfrm>
            <a:custGeom>
              <a:avLst/>
              <a:gdLst>
                <a:gd name="connsiteX0" fmla="*/ 141887 w 2362526"/>
                <a:gd name="connsiteY0" fmla="*/ 153748 h 379916"/>
                <a:gd name="connsiteX1" fmla="*/ 180425 w 2362526"/>
                <a:gd name="connsiteY1" fmla="*/ 85132 h 379916"/>
                <a:gd name="connsiteX2" fmla="*/ 180425 w 2362526"/>
                <a:gd name="connsiteY2" fmla="*/ 76226 h 379916"/>
                <a:gd name="connsiteX3" fmla="*/ 92742 w 2362526"/>
                <a:gd name="connsiteY3" fmla="*/ 850 h 379916"/>
                <a:gd name="connsiteX4" fmla="*/ 2105 w 2362526"/>
                <a:gd name="connsiteY4" fmla="*/ 78372 h 379916"/>
                <a:gd name="connsiteX5" fmla="*/ 2105 w 2362526"/>
                <a:gd name="connsiteY5" fmla="*/ 94888 h 379916"/>
                <a:gd name="connsiteX6" fmla="*/ 40238 w 2362526"/>
                <a:gd name="connsiteY6" fmla="*/ 94888 h 379916"/>
                <a:gd name="connsiteX7" fmla="*/ 40238 w 2362526"/>
                <a:gd name="connsiteY7" fmla="*/ 76267 h 379916"/>
                <a:gd name="connsiteX8" fmla="*/ 92742 w 2362526"/>
                <a:gd name="connsiteY8" fmla="*/ 33073 h 379916"/>
                <a:gd name="connsiteX9" fmla="*/ 142292 w 2362526"/>
                <a:gd name="connsiteY9" fmla="*/ 77562 h 379916"/>
                <a:gd name="connsiteX10" fmla="*/ 142292 w 2362526"/>
                <a:gd name="connsiteY10" fmla="*/ 87318 h 379916"/>
                <a:gd name="connsiteX11" fmla="*/ 92742 w 2362526"/>
                <a:gd name="connsiteY11" fmla="*/ 138162 h 379916"/>
                <a:gd name="connsiteX12" fmla="*/ 46999 w 2362526"/>
                <a:gd name="connsiteY12" fmla="*/ 138162 h 379916"/>
                <a:gd name="connsiteX13" fmla="*/ 46999 w 2362526"/>
                <a:gd name="connsiteY13" fmla="*/ 170345 h 379916"/>
                <a:gd name="connsiteX14" fmla="*/ 95698 w 2362526"/>
                <a:gd name="connsiteY14" fmla="*/ 170345 h 379916"/>
                <a:gd name="connsiteX15" fmla="*/ 145692 w 2362526"/>
                <a:gd name="connsiteY15" fmla="*/ 221190 h 379916"/>
                <a:gd name="connsiteX16" fmla="*/ 145692 w 2362526"/>
                <a:gd name="connsiteY16" fmla="*/ 230945 h 379916"/>
                <a:gd name="connsiteX17" fmla="*/ 94038 w 2362526"/>
                <a:gd name="connsiteY17" fmla="*/ 277944 h 379916"/>
                <a:gd name="connsiteX18" fmla="*/ 38133 w 2362526"/>
                <a:gd name="connsiteY18" fmla="*/ 228800 h 379916"/>
                <a:gd name="connsiteX19" fmla="*/ 38133 w 2362526"/>
                <a:gd name="connsiteY19" fmla="*/ 210179 h 379916"/>
                <a:gd name="connsiteX20" fmla="*/ 0 w 2362526"/>
                <a:gd name="connsiteY20" fmla="*/ 210179 h 379916"/>
                <a:gd name="connsiteX21" fmla="*/ 0 w 2362526"/>
                <a:gd name="connsiteY21" fmla="*/ 226695 h 379916"/>
                <a:gd name="connsiteX22" fmla="*/ 93593 w 2362526"/>
                <a:gd name="connsiteY22" fmla="*/ 310127 h 379916"/>
                <a:gd name="connsiteX23" fmla="*/ 183825 w 2362526"/>
                <a:gd name="connsiteY23" fmla="*/ 232200 h 379916"/>
                <a:gd name="connsiteX24" fmla="*/ 183825 w 2362526"/>
                <a:gd name="connsiteY24" fmla="*/ 223294 h 379916"/>
                <a:gd name="connsiteX25" fmla="*/ 141887 w 2362526"/>
                <a:gd name="connsiteY25" fmla="*/ 153829 h 379916"/>
                <a:gd name="connsiteX26" fmla="*/ 338464 w 2362526"/>
                <a:gd name="connsiteY26" fmla="*/ 100798 h 379916"/>
                <a:gd name="connsiteX27" fmla="*/ 278309 w 2362526"/>
                <a:gd name="connsiteY27" fmla="*/ 68616 h 379916"/>
                <a:gd name="connsiteX28" fmla="*/ 206293 w 2362526"/>
                <a:gd name="connsiteY28" fmla="*/ 154193 h 379916"/>
                <a:gd name="connsiteX29" fmla="*/ 206293 w 2362526"/>
                <a:gd name="connsiteY29" fmla="*/ 224509 h 379916"/>
                <a:gd name="connsiteX30" fmla="*/ 278309 w 2362526"/>
                <a:gd name="connsiteY30" fmla="*/ 310086 h 379916"/>
                <a:gd name="connsiteX31" fmla="*/ 338464 w 2362526"/>
                <a:gd name="connsiteY31" fmla="*/ 277904 h 379916"/>
                <a:gd name="connsiteX32" fmla="*/ 345669 w 2362526"/>
                <a:gd name="connsiteY32" fmla="*/ 303731 h 379916"/>
                <a:gd name="connsiteX33" fmla="*/ 369391 w 2362526"/>
                <a:gd name="connsiteY33" fmla="*/ 303731 h 379916"/>
                <a:gd name="connsiteX34" fmla="*/ 369391 w 2362526"/>
                <a:gd name="connsiteY34" fmla="*/ 75012 h 379916"/>
                <a:gd name="connsiteX35" fmla="*/ 345669 w 2362526"/>
                <a:gd name="connsiteY35" fmla="*/ 75012 h 379916"/>
                <a:gd name="connsiteX36" fmla="*/ 338464 w 2362526"/>
                <a:gd name="connsiteY36" fmla="*/ 100839 h 379916"/>
                <a:gd name="connsiteX37" fmla="*/ 334213 w 2362526"/>
                <a:gd name="connsiteY37" fmla="*/ 242685 h 379916"/>
                <a:gd name="connsiteX38" fmla="*/ 286769 w 2362526"/>
                <a:gd name="connsiteY38" fmla="*/ 278268 h 379916"/>
                <a:gd name="connsiteX39" fmla="*/ 241430 w 2362526"/>
                <a:gd name="connsiteY39" fmla="*/ 224469 h 379916"/>
                <a:gd name="connsiteX40" fmla="*/ 241430 w 2362526"/>
                <a:gd name="connsiteY40" fmla="*/ 154153 h 379916"/>
                <a:gd name="connsiteX41" fmla="*/ 286769 w 2362526"/>
                <a:gd name="connsiteY41" fmla="*/ 100353 h 379916"/>
                <a:gd name="connsiteX42" fmla="*/ 334213 w 2362526"/>
                <a:gd name="connsiteY42" fmla="*/ 135936 h 379916"/>
                <a:gd name="connsiteX43" fmla="*/ 334213 w 2362526"/>
                <a:gd name="connsiteY43" fmla="*/ 242685 h 379916"/>
                <a:gd name="connsiteX44" fmla="*/ 494155 w 2362526"/>
                <a:gd name="connsiteY44" fmla="*/ 68616 h 379916"/>
                <a:gd name="connsiteX45" fmla="*/ 434000 w 2362526"/>
                <a:gd name="connsiteY45" fmla="*/ 100798 h 379916"/>
                <a:gd name="connsiteX46" fmla="*/ 426794 w 2362526"/>
                <a:gd name="connsiteY46" fmla="*/ 74971 h 379916"/>
                <a:gd name="connsiteX47" fmla="*/ 403072 w 2362526"/>
                <a:gd name="connsiteY47" fmla="*/ 74971 h 379916"/>
                <a:gd name="connsiteX48" fmla="*/ 403072 w 2362526"/>
                <a:gd name="connsiteY48" fmla="*/ 375706 h 379916"/>
                <a:gd name="connsiteX49" fmla="*/ 438210 w 2362526"/>
                <a:gd name="connsiteY49" fmla="*/ 375706 h 379916"/>
                <a:gd name="connsiteX50" fmla="*/ 438210 w 2362526"/>
                <a:gd name="connsiteY50" fmla="*/ 280413 h 379916"/>
                <a:gd name="connsiteX51" fmla="*/ 494114 w 2362526"/>
                <a:gd name="connsiteY51" fmla="*/ 310046 h 379916"/>
                <a:gd name="connsiteX52" fmla="*/ 566130 w 2362526"/>
                <a:gd name="connsiteY52" fmla="*/ 224469 h 379916"/>
                <a:gd name="connsiteX53" fmla="*/ 566130 w 2362526"/>
                <a:gd name="connsiteY53" fmla="*/ 154153 h 379916"/>
                <a:gd name="connsiteX54" fmla="*/ 494114 w 2362526"/>
                <a:gd name="connsiteY54" fmla="*/ 68575 h 379916"/>
                <a:gd name="connsiteX55" fmla="*/ 530993 w 2362526"/>
                <a:gd name="connsiteY55" fmla="*/ 224469 h 379916"/>
                <a:gd name="connsiteX56" fmla="*/ 485654 w 2362526"/>
                <a:gd name="connsiteY56" fmla="*/ 278268 h 379916"/>
                <a:gd name="connsiteX57" fmla="*/ 438210 w 2362526"/>
                <a:gd name="connsiteY57" fmla="*/ 242685 h 379916"/>
                <a:gd name="connsiteX58" fmla="*/ 438210 w 2362526"/>
                <a:gd name="connsiteY58" fmla="*/ 135936 h 379916"/>
                <a:gd name="connsiteX59" fmla="*/ 485654 w 2362526"/>
                <a:gd name="connsiteY59" fmla="*/ 100353 h 379916"/>
                <a:gd name="connsiteX60" fmla="*/ 530993 w 2362526"/>
                <a:gd name="connsiteY60" fmla="*/ 154153 h 379916"/>
                <a:gd name="connsiteX61" fmla="*/ 530993 w 2362526"/>
                <a:gd name="connsiteY61" fmla="*/ 224469 h 379916"/>
                <a:gd name="connsiteX62" fmla="*/ 716113 w 2362526"/>
                <a:gd name="connsiteY62" fmla="*/ 223618 h 379916"/>
                <a:gd name="connsiteX63" fmla="*/ 666969 w 2362526"/>
                <a:gd name="connsiteY63" fmla="*/ 259201 h 379916"/>
                <a:gd name="connsiteX64" fmla="*/ 627581 w 2362526"/>
                <a:gd name="connsiteY64" fmla="*/ 209652 h 379916"/>
                <a:gd name="connsiteX65" fmla="*/ 627581 w 2362526"/>
                <a:gd name="connsiteY65" fmla="*/ 74971 h 379916"/>
                <a:gd name="connsiteX66" fmla="*/ 592443 w 2362526"/>
                <a:gd name="connsiteY66" fmla="*/ 74971 h 379916"/>
                <a:gd name="connsiteX67" fmla="*/ 592443 w 2362526"/>
                <a:gd name="connsiteY67" fmla="*/ 212648 h 379916"/>
                <a:gd name="connsiteX68" fmla="*/ 656808 w 2362526"/>
                <a:gd name="connsiteY68" fmla="*/ 289724 h 379916"/>
                <a:gd name="connsiteX69" fmla="*/ 716113 w 2362526"/>
                <a:gd name="connsiteY69" fmla="*/ 260497 h 379916"/>
                <a:gd name="connsiteX70" fmla="*/ 716113 w 2362526"/>
                <a:gd name="connsiteY70" fmla="*/ 307091 h 379916"/>
                <a:gd name="connsiteX71" fmla="*/ 671624 w 2362526"/>
                <a:gd name="connsiteY71" fmla="*/ 349434 h 379916"/>
                <a:gd name="connsiteX72" fmla="*/ 631386 w 2362526"/>
                <a:gd name="connsiteY72" fmla="*/ 314701 h 379916"/>
                <a:gd name="connsiteX73" fmla="*/ 631386 w 2362526"/>
                <a:gd name="connsiteY73" fmla="*/ 304540 h 379916"/>
                <a:gd name="connsiteX74" fmla="*/ 596248 w 2362526"/>
                <a:gd name="connsiteY74" fmla="*/ 304540 h 379916"/>
                <a:gd name="connsiteX75" fmla="*/ 596248 w 2362526"/>
                <a:gd name="connsiteY75" fmla="*/ 315551 h 379916"/>
                <a:gd name="connsiteX76" fmla="*/ 671624 w 2362526"/>
                <a:gd name="connsiteY76" fmla="*/ 379916 h 379916"/>
                <a:gd name="connsiteX77" fmla="*/ 751251 w 2362526"/>
                <a:gd name="connsiteY77" fmla="*/ 301545 h 379916"/>
                <a:gd name="connsiteX78" fmla="*/ 751251 w 2362526"/>
                <a:gd name="connsiteY78" fmla="*/ 74931 h 379916"/>
                <a:gd name="connsiteX79" fmla="*/ 716113 w 2362526"/>
                <a:gd name="connsiteY79" fmla="*/ 74931 h 379916"/>
                <a:gd name="connsiteX80" fmla="*/ 716113 w 2362526"/>
                <a:gd name="connsiteY80" fmla="*/ 223618 h 379916"/>
                <a:gd name="connsiteX81" fmla="*/ 877269 w 2362526"/>
                <a:gd name="connsiteY81" fmla="*/ 76226 h 379916"/>
                <a:gd name="connsiteX82" fmla="*/ 813309 w 2362526"/>
                <a:gd name="connsiteY82" fmla="*/ 108004 h 379916"/>
                <a:gd name="connsiteX83" fmla="*/ 884475 w 2362526"/>
                <a:gd name="connsiteY83" fmla="*/ 37688 h 379916"/>
                <a:gd name="connsiteX84" fmla="*/ 939529 w 2362526"/>
                <a:gd name="connsiteY84" fmla="*/ 31778 h 379916"/>
                <a:gd name="connsiteX85" fmla="*/ 939529 w 2362526"/>
                <a:gd name="connsiteY85" fmla="*/ 0 h 379916"/>
                <a:gd name="connsiteX86" fmla="*/ 881924 w 2362526"/>
                <a:gd name="connsiteY86" fmla="*/ 5910 h 379916"/>
                <a:gd name="connsiteX87" fmla="*/ 779831 w 2362526"/>
                <a:gd name="connsiteY87" fmla="*/ 122375 h 379916"/>
                <a:gd name="connsiteX88" fmla="*/ 779831 w 2362526"/>
                <a:gd name="connsiteY88" fmla="*/ 219813 h 379916"/>
                <a:gd name="connsiteX89" fmla="*/ 865813 w 2362526"/>
                <a:gd name="connsiteY89" fmla="*/ 310046 h 379916"/>
                <a:gd name="connsiteX90" fmla="*/ 951390 w 2362526"/>
                <a:gd name="connsiteY90" fmla="*/ 219813 h 379916"/>
                <a:gd name="connsiteX91" fmla="*/ 951390 w 2362526"/>
                <a:gd name="connsiteY91" fmla="*/ 166459 h 379916"/>
                <a:gd name="connsiteX92" fmla="*/ 877269 w 2362526"/>
                <a:gd name="connsiteY92" fmla="*/ 76226 h 379916"/>
                <a:gd name="connsiteX93" fmla="*/ 916253 w 2362526"/>
                <a:gd name="connsiteY93" fmla="*/ 221068 h 379916"/>
                <a:gd name="connsiteX94" fmla="*/ 865854 w 2362526"/>
                <a:gd name="connsiteY94" fmla="*/ 278228 h 379916"/>
                <a:gd name="connsiteX95" fmla="*/ 815009 w 2362526"/>
                <a:gd name="connsiteY95" fmla="*/ 221068 h 379916"/>
                <a:gd name="connsiteX96" fmla="*/ 815009 w 2362526"/>
                <a:gd name="connsiteY96" fmla="*/ 156258 h 379916"/>
                <a:gd name="connsiteX97" fmla="*/ 866703 w 2362526"/>
                <a:gd name="connsiteY97" fmla="*/ 106709 h 379916"/>
                <a:gd name="connsiteX98" fmla="*/ 916253 w 2362526"/>
                <a:gd name="connsiteY98" fmla="*/ 165163 h 379916"/>
                <a:gd name="connsiteX99" fmla="*/ 916253 w 2362526"/>
                <a:gd name="connsiteY99" fmla="*/ 221068 h 379916"/>
                <a:gd name="connsiteX100" fmla="*/ 1057330 w 2362526"/>
                <a:gd name="connsiteY100" fmla="*/ 68616 h 379916"/>
                <a:gd name="connsiteX101" fmla="*/ 973453 w 2362526"/>
                <a:gd name="connsiteY101" fmla="*/ 158848 h 379916"/>
                <a:gd name="connsiteX102" fmla="*/ 973453 w 2362526"/>
                <a:gd name="connsiteY102" fmla="*/ 219854 h 379916"/>
                <a:gd name="connsiteX103" fmla="*/ 1059030 w 2362526"/>
                <a:gd name="connsiteY103" fmla="*/ 310086 h 379916"/>
                <a:gd name="connsiteX104" fmla="*/ 1139507 w 2362526"/>
                <a:gd name="connsiteY104" fmla="*/ 236370 h 379916"/>
                <a:gd name="connsiteX105" fmla="*/ 1139507 w 2362526"/>
                <a:gd name="connsiteY105" fmla="*/ 229164 h 379916"/>
                <a:gd name="connsiteX106" fmla="*/ 1104369 w 2362526"/>
                <a:gd name="connsiteY106" fmla="*/ 229164 h 379916"/>
                <a:gd name="connsiteX107" fmla="*/ 1104369 w 2362526"/>
                <a:gd name="connsiteY107" fmla="*/ 237625 h 379916"/>
                <a:gd name="connsiteX108" fmla="*/ 1059071 w 2362526"/>
                <a:gd name="connsiteY108" fmla="*/ 279564 h 379916"/>
                <a:gd name="connsiteX109" fmla="*/ 1008671 w 2362526"/>
                <a:gd name="connsiteY109" fmla="*/ 221109 h 379916"/>
                <a:gd name="connsiteX110" fmla="*/ 1008671 w 2362526"/>
                <a:gd name="connsiteY110" fmla="*/ 201192 h 379916"/>
                <a:gd name="connsiteX111" fmla="*/ 1140802 w 2362526"/>
                <a:gd name="connsiteY111" fmla="*/ 201192 h 379916"/>
                <a:gd name="connsiteX112" fmla="*/ 1140802 w 2362526"/>
                <a:gd name="connsiteY112" fmla="*/ 158848 h 379916"/>
                <a:gd name="connsiteX113" fmla="*/ 1057370 w 2362526"/>
                <a:gd name="connsiteY113" fmla="*/ 68616 h 379916"/>
                <a:gd name="connsiteX114" fmla="*/ 1105624 w 2362526"/>
                <a:gd name="connsiteY114" fmla="*/ 170669 h 379916"/>
                <a:gd name="connsiteX115" fmla="*/ 1008631 w 2362526"/>
                <a:gd name="connsiteY115" fmla="*/ 170669 h 379916"/>
                <a:gd name="connsiteX116" fmla="*/ 1008631 w 2362526"/>
                <a:gd name="connsiteY116" fmla="*/ 157553 h 379916"/>
                <a:gd name="connsiteX117" fmla="*/ 1058180 w 2362526"/>
                <a:gd name="connsiteY117" fmla="*/ 99098 h 379916"/>
                <a:gd name="connsiteX118" fmla="*/ 1105624 w 2362526"/>
                <a:gd name="connsiteY118" fmla="*/ 157553 h 379916"/>
                <a:gd name="connsiteX119" fmla="*/ 1105624 w 2362526"/>
                <a:gd name="connsiteY119" fmla="*/ 170669 h 379916"/>
                <a:gd name="connsiteX120" fmla="*/ 1410084 w 2362526"/>
                <a:gd name="connsiteY120" fmla="*/ 74971 h 379916"/>
                <a:gd name="connsiteX121" fmla="*/ 1371950 w 2362526"/>
                <a:gd name="connsiteY121" fmla="*/ 74971 h 379916"/>
                <a:gd name="connsiteX122" fmla="*/ 1325801 w 2362526"/>
                <a:gd name="connsiteY122" fmla="*/ 172814 h 379916"/>
                <a:gd name="connsiteX123" fmla="*/ 1295319 w 2362526"/>
                <a:gd name="connsiteY123" fmla="*/ 172814 h 379916"/>
                <a:gd name="connsiteX124" fmla="*/ 1295319 w 2362526"/>
                <a:gd name="connsiteY124" fmla="*/ 74971 h 379916"/>
                <a:gd name="connsiteX125" fmla="*/ 1260181 w 2362526"/>
                <a:gd name="connsiteY125" fmla="*/ 74971 h 379916"/>
                <a:gd name="connsiteX126" fmla="*/ 1260181 w 2362526"/>
                <a:gd name="connsiteY126" fmla="*/ 172814 h 379916"/>
                <a:gd name="connsiteX127" fmla="*/ 1229699 w 2362526"/>
                <a:gd name="connsiteY127" fmla="*/ 172814 h 379916"/>
                <a:gd name="connsiteX128" fmla="*/ 1183551 w 2362526"/>
                <a:gd name="connsiteY128" fmla="*/ 74971 h 379916"/>
                <a:gd name="connsiteX129" fmla="*/ 1145417 w 2362526"/>
                <a:gd name="connsiteY129" fmla="*/ 74971 h 379916"/>
                <a:gd name="connsiteX130" fmla="*/ 1202172 w 2362526"/>
                <a:gd name="connsiteY130" fmla="*/ 185930 h 379916"/>
                <a:gd name="connsiteX131" fmla="*/ 1142867 w 2362526"/>
                <a:gd name="connsiteY131" fmla="*/ 303690 h 379916"/>
                <a:gd name="connsiteX132" fmla="*/ 1181405 w 2362526"/>
                <a:gd name="connsiteY132" fmla="*/ 303690 h 379916"/>
                <a:gd name="connsiteX133" fmla="*/ 1230104 w 2362526"/>
                <a:gd name="connsiteY133" fmla="*/ 203297 h 379916"/>
                <a:gd name="connsiteX134" fmla="*/ 1260181 w 2362526"/>
                <a:gd name="connsiteY134" fmla="*/ 203297 h 379916"/>
                <a:gd name="connsiteX135" fmla="*/ 1260181 w 2362526"/>
                <a:gd name="connsiteY135" fmla="*/ 303690 h 379916"/>
                <a:gd name="connsiteX136" fmla="*/ 1295319 w 2362526"/>
                <a:gd name="connsiteY136" fmla="*/ 303690 h 379916"/>
                <a:gd name="connsiteX137" fmla="*/ 1295319 w 2362526"/>
                <a:gd name="connsiteY137" fmla="*/ 203297 h 379916"/>
                <a:gd name="connsiteX138" fmla="*/ 1325397 w 2362526"/>
                <a:gd name="connsiteY138" fmla="*/ 203297 h 379916"/>
                <a:gd name="connsiteX139" fmla="*/ 1374096 w 2362526"/>
                <a:gd name="connsiteY139" fmla="*/ 303690 h 379916"/>
                <a:gd name="connsiteX140" fmla="*/ 1412634 w 2362526"/>
                <a:gd name="connsiteY140" fmla="*/ 303690 h 379916"/>
                <a:gd name="connsiteX141" fmla="*/ 1353329 w 2362526"/>
                <a:gd name="connsiteY141" fmla="*/ 185930 h 379916"/>
                <a:gd name="connsiteX142" fmla="*/ 1410084 w 2362526"/>
                <a:gd name="connsiteY142" fmla="*/ 74971 h 379916"/>
                <a:gd name="connsiteX143" fmla="*/ 1555168 w 2362526"/>
                <a:gd name="connsiteY143" fmla="*/ 172369 h 379916"/>
                <a:gd name="connsiteX144" fmla="*/ 1466636 w 2362526"/>
                <a:gd name="connsiteY144" fmla="*/ 172369 h 379916"/>
                <a:gd name="connsiteX145" fmla="*/ 1466636 w 2362526"/>
                <a:gd name="connsiteY145" fmla="*/ 74931 h 379916"/>
                <a:gd name="connsiteX146" fmla="*/ 1431498 w 2362526"/>
                <a:gd name="connsiteY146" fmla="*/ 74931 h 379916"/>
                <a:gd name="connsiteX147" fmla="*/ 1431498 w 2362526"/>
                <a:gd name="connsiteY147" fmla="*/ 303650 h 379916"/>
                <a:gd name="connsiteX148" fmla="*/ 1466636 w 2362526"/>
                <a:gd name="connsiteY148" fmla="*/ 303650 h 379916"/>
                <a:gd name="connsiteX149" fmla="*/ 1466636 w 2362526"/>
                <a:gd name="connsiteY149" fmla="*/ 204106 h 379916"/>
                <a:gd name="connsiteX150" fmla="*/ 1555168 w 2362526"/>
                <a:gd name="connsiteY150" fmla="*/ 204106 h 379916"/>
                <a:gd name="connsiteX151" fmla="*/ 1555168 w 2362526"/>
                <a:gd name="connsiteY151" fmla="*/ 303650 h 379916"/>
                <a:gd name="connsiteX152" fmla="*/ 1590306 w 2362526"/>
                <a:gd name="connsiteY152" fmla="*/ 303650 h 379916"/>
                <a:gd name="connsiteX153" fmla="*/ 1590306 w 2362526"/>
                <a:gd name="connsiteY153" fmla="*/ 74931 h 379916"/>
                <a:gd name="connsiteX154" fmla="*/ 1555168 w 2362526"/>
                <a:gd name="connsiteY154" fmla="*/ 74931 h 379916"/>
                <a:gd name="connsiteX155" fmla="*/ 1555168 w 2362526"/>
                <a:gd name="connsiteY155" fmla="*/ 172369 h 379916"/>
                <a:gd name="connsiteX156" fmla="*/ 1701751 w 2362526"/>
                <a:gd name="connsiteY156" fmla="*/ 68616 h 379916"/>
                <a:gd name="connsiteX157" fmla="*/ 1617874 w 2362526"/>
                <a:gd name="connsiteY157" fmla="*/ 158848 h 379916"/>
                <a:gd name="connsiteX158" fmla="*/ 1617874 w 2362526"/>
                <a:gd name="connsiteY158" fmla="*/ 219854 h 379916"/>
                <a:gd name="connsiteX159" fmla="*/ 1703451 w 2362526"/>
                <a:gd name="connsiteY159" fmla="*/ 310086 h 379916"/>
                <a:gd name="connsiteX160" fmla="*/ 1783928 w 2362526"/>
                <a:gd name="connsiteY160" fmla="*/ 236370 h 379916"/>
                <a:gd name="connsiteX161" fmla="*/ 1783928 w 2362526"/>
                <a:gd name="connsiteY161" fmla="*/ 229164 h 379916"/>
                <a:gd name="connsiteX162" fmla="*/ 1748750 w 2362526"/>
                <a:gd name="connsiteY162" fmla="*/ 229164 h 379916"/>
                <a:gd name="connsiteX163" fmla="*/ 1748750 w 2362526"/>
                <a:gd name="connsiteY163" fmla="*/ 237625 h 379916"/>
                <a:gd name="connsiteX164" fmla="*/ 1703451 w 2362526"/>
                <a:gd name="connsiteY164" fmla="*/ 279564 h 379916"/>
                <a:gd name="connsiteX165" fmla="*/ 1653052 w 2362526"/>
                <a:gd name="connsiteY165" fmla="*/ 221109 h 379916"/>
                <a:gd name="connsiteX166" fmla="*/ 1653052 w 2362526"/>
                <a:gd name="connsiteY166" fmla="*/ 201192 h 379916"/>
                <a:gd name="connsiteX167" fmla="*/ 1785183 w 2362526"/>
                <a:gd name="connsiteY167" fmla="*/ 201192 h 379916"/>
                <a:gd name="connsiteX168" fmla="*/ 1785183 w 2362526"/>
                <a:gd name="connsiteY168" fmla="*/ 158848 h 379916"/>
                <a:gd name="connsiteX169" fmla="*/ 1701751 w 2362526"/>
                <a:gd name="connsiteY169" fmla="*/ 68616 h 379916"/>
                <a:gd name="connsiteX170" fmla="*/ 1750004 w 2362526"/>
                <a:gd name="connsiteY170" fmla="*/ 170669 h 379916"/>
                <a:gd name="connsiteX171" fmla="*/ 1653012 w 2362526"/>
                <a:gd name="connsiteY171" fmla="*/ 170669 h 379916"/>
                <a:gd name="connsiteX172" fmla="*/ 1653012 w 2362526"/>
                <a:gd name="connsiteY172" fmla="*/ 157553 h 379916"/>
                <a:gd name="connsiteX173" fmla="*/ 1702561 w 2362526"/>
                <a:gd name="connsiteY173" fmla="*/ 99098 h 379916"/>
                <a:gd name="connsiteX174" fmla="*/ 1750004 w 2362526"/>
                <a:gd name="connsiteY174" fmla="*/ 157553 h 379916"/>
                <a:gd name="connsiteX175" fmla="*/ 1750004 w 2362526"/>
                <a:gd name="connsiteY175" fmla="*/ 170669 h 379916"/>
                <a:gd name="connsiteX176" fmla="*/ 1945812 w 2362526"/>
                <a:gd name="connsiteY176" fmla="*/ 69871 h 379916"/>
                <a:gd name="connsiteX177" fmla="*/ 1939457 w 2362526"/>
                <a:gd name="connsiteY177" fmla="*/ 69871 h 379916"/>
                <a:gd name="connsiteX178" fmla="*/ 1939457 w 2362526"/>
                <a:gd name="connsiteY178" fmla="*/ 7165 h 379916"/>
                <a:gd name="connsiteX179" fmla="*/ 1904319 w 2362526"/>
                <a:gd name="connsiteY179" fmla="*/ 7165 h 379916"/>
                <a:gd name="connsiteX180" fmla="*/ 1904319 w 2362526"/>
                <a:gd name="connsiteY180" fmla="*/ 69871 h 379916"/>
                <a:gd name="connsiteX181" fmla="*/ 1897964 w 2362526"/>
                <a:gd name="connsiteY181" fmla="*/ 69871 h 379916"/>
                <a:gd name="connsiteX182" fmla="*/ 1806881 w 2362526"/>
                <a:gd name="connsiteY182" fmla="*/ 161763 h 379916"/>
                <a:gd name="connsiteX183" fmla="*/ 1806881 w 2362526"/>
                <a:gd name="connsiteY183" fmla="*/ 216818 h 379916"/>
                <a:gd name="connsiteX184" fmla="*/ 1897964 w 2362526"/>
                <a:gd name="connsiteY184" fmla="*/ 308710 h 379916"/>
                <a:gd name="connsiteX185" fmla="*/ 1904319 w 2362526"/>
                <a:gd name="connsiteY185" fmla="*/ 308710 h 379916"/>
                <a:gd name="connsiteX186" fmla="*/ 1904319 w 2362526"/>
                <a:gd name="connsiteY186" fmla="*/ 375625 h 379916"/>
                <a:gd name="connsiteX187" fmla="*/ 1939457 w 2362526"/>
                <a:gd name="connsiteY187" fmla="*/ 375625 h 379916"/>
                <a:gd name="connsiteX188" fmla="*/ 1939457 w 2362526"/>
                <a:gd name="connsiteY188" fmla="*/ 308710 h 379916"/>
                <a:gd name="connsiteX189" fmla="*/ 1945812 w 2362526"/>
                <a:gd name="connsiteY189" fmla="*/ 308710 h 379916"/>
                <a:gd name="connsiteX190" fmla="*/ 2036895 w 2362526"/>
                <a:gd name="connsiteY190" fmla="*/ 216818 h 379916"/>
                <a:gd name="connsiteX191" fmla="*/ 2036895 w 2362526"/>
                <a:gd name="connsiteY191" fmla="*/ 161763 h 379916"/>
                <a:gd name="connsiteX192" fmla="*/ 1945812 w 2362526"/>
                <a:gd name="connsiteY192" fmla="*/ 69871 h 379916"/>
                <a:gd name="connsiteX193" fmla="*/ 1904319 w 2362526"/>
                <a:gd name="connsiteY193" fmla="*/ 279118 h 379916"/>
                <a:gd name="connsiteX194" fmla="*/ 1897964 w 2362526"/>
                <a:gd name="connsiteY194" fmla="*/ 279118 h 379916"/>
                <a:gd name="connsiteX195" fmla="*/ 1842059 w 2362526"/>
                <a:gd name="connsiteY195" fmla="*/ 218113 h 379916"/>
                <a:gd name="connsiteX196" fmla="*/ 1842059 w 2362526"/>
                <a:gd name="connsiteY196" fmla="*/ 160508 h 379916"/>
                <a:gd name="connsiteX197" fmla="*/ 1897964 w 2362526"/>
                <a:gd name="connsiteY197" fmla="*/ 99503 h 379916"/>
                <a:gd name="connsiteX198" fmla="*/ 1904319 w 2362526"/>
                <a:gd name="connsiteY198" fmla="*/ 99503 h 379916"/>
                <a:gd name="connsiteX199" fmla="*/ 1904319 w 2362526"/>
                <a:gd name="connsiteY199" fmla="*/ 279078 h 379916"/>
                <a:gd name="connsiteX200" fmla="*/ 2001717 w 2362526"/>
                <a:gd name="connsiteY200" fmla="*/ 218113 h 379916"/>
                <a:gd name="connsiteX201" fmla="*/ 1945812 w 2362526"/>
                <a:gd name="connsiteY201" fmla="*/ 279118 h 379916"/>
                <a:gd name="connsiteX202" fmla="*/ 1939457 w 2362526"/>
                <a:gd name="connsiteY202" fmla="*/ 279118 h 379916"/>
                <a:gd name="connsiteX203" fmla="*/ 1939457 w 2362526"/>
                <a:gd name="connsiteY203" fmla="*/ 99543 h 379916"/>
                <a:gd name="connsiteX204" fmla="*/ 1945812 w 2362526"/>
                <a:gd name="connsiteY204" fmla="*/ 99543 h 379916"/>
                <a:gd name="connsiteX205" fmla="*/ 2001717 w 2362526"/>
                <a:gd name="connsiteY205" fmla="*/ 160549 h 379916"/>
                <a:gd name="connsiteX206" fmla="*/ 2001717 w 2362526"/>
                <a:gd name="connsiteY206" fmla="*/ 218154 h 379916"/>
                <a:gd name="connsiteX207" fmla="*/ 2042725 w 2362526"/>
                <a:gd name="connsiteY207" fmla="*/ 106709 h 379916"/>
                <a:gd name="connsiteX208" fmla="*/ 2100329 w 2362526"/>
                <a:gd name="connsiteY208" fmla="*/ 106709 h 379916"/>
                <a:gd name="connsiteX209" fmla="*/ 2100329 w 2362526"/>
                <a:gd name="connsiteY209" fmla="*/ 303650 h 379916"/>
                <a:gd name="connsiteX210" fmla="*/ 2135467 w 2362526"/>
                <a:gd name="connsiteY210" fmla="*/ 303650 h 379916"/>
                <a:gd name="connsiteX211" fmla="*/ 2135467 w 2362526"/>
                <a:gd name="connsiteY211" fmla="*/ 106709 h 379916"/>
                <a:gd name="connsiteX212" fmla="*/ 2193072 w 2362526"/>
                <a:gd name="connsiteY212" fmla="*/ 106709 h 379916"/>
                <a:gd name="connsiteX213" fmla="*/ 2193072 w 2362526"/>
                <a:gd name="connsiteY213" fmla="*/ 74931 h 379916"/>
                <a:gd name="connsiteX214" fmla="*/ 2042725 w 2362526"/>
                <a:gd name="connsiteY214" fmla="*/ 74931 h 379916"/>
                <a:gd name="connsiteX215" fmla="*/ 2042725 w 2362526"/>
                <a:gd name="connsiteY215" fmla="*/ 106709 h 379916"/>
                <a:gd name="connsiteX216" fmla="*/ 2284114 w 2362526"/>
                <a:gd name="connsiteY216" fmla="*/ 149942 h 379916"/>
                <a:gd name="connsiteX217" fmla="*/ 2247276 w 2362526"/>
                <a:gd name="connsiteY217" fmla="*/ 149942 h 379916"/>
                <a:gd name="connsiteX218" fmla="*/ 2247276 w 2362526"/>
                <a:gd name="connsiteY218" fmla="*/ 74971 h 379916"/>
                <a:gd name="connsiteX219" fmla="*/ 2212139 w 2362526"/>
                <a:gd name="connsiteY219" fmla="*/ 74971 h 379916"/>
                <a:gd name="connsiteX220" fmla="*/ 2212139 w 2362526"/>
                <a:gd name="connsiteY220" fmla="*/ 303690 h 379916"/>
                <a:gd name="connsiteX221" fmla="*/ 2284155 w 2362526"/>
                <a:gd name="connsiteY221" fmla="*/ 303690 h 379916"/>
                <a:gd name="connsiteX222" fmla="*/ 2362527 w 2362526"/>
                <a:gd name="connsiteY222" fmla="*/ 229569 h 379916"/>
                <a:gd name="connsiteX223" fmla="*/ 2362527 w 2362526"/>
                <a:gd name="connsiteY223" fmla="*/ 224064 h 379916"/>
                <a:gd name="connsiteX224" fmla="*/ 2284155 w 2362526"/>
                <a:gd name="connsiteY224" fmla="*/ 149942 h 379916"/>
                <a:gd name="connsiteX225" fmla="*/ 2327308 w 2362526"/>
                <a:gd name="connsiteY225" fmla="*/ 229569 h 379916"/>
                <a:gd name="connsiteX226" fmla="*/ 2282414 w 2362526"/>
                <a:gd name="connsiteY226" fmla="*/ 274058 h 379916"/>
                <a:gd name="connsiteX227" fmla="*/ 2247276 w 2362526"/>
                <a:gd name="connsiteY227" fmla="*/ 274058 h 379916"/>
                <a:gd name="connsiteX228" fmla="*/ 2247276 w 2362526"/>
                <a:gd name="connsiteY228" fmla="*/ 179615 h 379916"/>
                <a:gd name="connsiteX229" fmla="*/ 2282414 w 2362526"/>
                <a:gd name="connsiteY229" fmla="*/ 179615 h 379916"/>
                <a:gd name="connsiteX230" fmla="*/ 2327308 w 2362526"/>
                <a:gd name="connsiteY230" fmla="*/ 224104 h 379916"/>
                <a:gd name="connsiteX231" fmla="*/ 2327308 w 2362526"/>
                <a:gd name="connsiteY231" fmla="*/ 229610 h 379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</a:cxnLst>
              <a:rect l="l" t="t" r="r" b="b"/>
              <a:pathLst>
                <a:path w="2362526" h="379916">
                  <a:moveTo>
                    <a:pt x="141887" y="153748"/>
                  </a:moveTo>
                  <a:cubicBezTo>
                    <a:pt x="166864" y="141482"/>
                    <a:pt x="180425" y="117760"/>
                    <a:pt x="180425" y="85132"/>
                  </a:cubicBezTo>
                  <a:lnTo>
                    <a:pt x="180425" y="76226"/>
                  </a:lnTo>
                  <a:cubicBezTo>
                    <a:pt x="180425" y="34733"/>
                    <a:pt x="147392" y="850"/>
                    <a:pt x="92742" y="850"/>
                  </a:cubicBezTo>
                  <a:cubicBezTo>
                    <a:pt x="33033" y="850"/>
                    <a:pt x="2105" y="34733"/>
                    <a:pt x="2105" y="78372"/>
                  </a:cubicBezTo>
                  <a:lnTo>
                    <a:pt x="2105" y="94888"/>
                  </a:lnTo>
                  <a:lnTo>
                    <a:pt x="40238" y="94888"/>
                  </a:lnTo>
                  <a:lnTo>
                    <a:pt x="40238" y="76267"/>
                  </a:lnTo>
                  <a:cubicBezTo>
                    <a:pt x="40238" y="52545"/>
                    <a:pt x="53354" y="33073"/>
                    <a:pt x="92742" y="33073"/>
                  </a:cubicBezTo>
                  <a:cubicBezTo>
                    <a:pt x="127071" y="33073"/>
                    <a:pt x="142292" y="52545"/>
                    <a:pt x="142292" y="77562"/>
                  </a:cubicBezTo>
                  <a:lnTo>
                    <a:pt x="142292" y="87318"/>
                  </a:lnTo>
                  <a:cubicBezTo>
                    <a:pt x="142292" y="119946"/>
                    <a:pt x="127030" y="138162"/>
                    <a:pt x="92742" y="138162"/>
                  </a:cubicBezTo>
                  <a:lnTo>
                    <a:pt x="46999" y="138162"/>
                  </a:lnTo>
                  <a:lnTo>
                    <a:pt x="46999" y="170345"/>
                  </a:lnTo>
                  <a:lnTo>
                    <a:pt x="95698" y="170345"/>
                  </a:lnTo>
                  <a:cubicBezTo>
                    <a:pt x="131281" y="170345"/>
                    <a:pt x="145692" y="190262"/>
                    <a:pt x="145692" y="221190"/>
                  </a:cubicBezTo>
                  <a:lnTo>
                    <a:pt x="145692" y="230945"/>
                  </a:lnTo>
                  <a:cubicBezTo>
                    <a:pt x="145692" y="261873"/>
                    <a:pt x="131281" y="277944"/>
                    <a:pt x="94038" y="277944"/>
                  </a:cubicBezTo>
                  <a:cubicBezTo>
                    <a:pt x="56795" y="277944"/>
                    <a:pt x="38133" y="261833"/>
                    <a:pt x="38133" y="228800"/>
                  </a:cubicBezTo>
                  <a:lnTo>
                    <a:pt x="38133" y="210179"/>
                  </a:lnTo>
                  <a:lnTo>
                    <a:pt x="0" y="210179"/>
                  </a:lnTo>
                  <a:lnTo>
                    <a:pt x="0" y="226695"/>
                  </a:lnTo>
                  <a:cubicBezTo>
                    <a:pt x="0" y="279644"/>
                    <a:pt x="35583" y="310127"/>
                    <a:pt x="93593" y="310127"/>
                  </a:cubicBezTo>
                  <a:cubicBezTo>
                    <a:pt x="151602" y="310127"/>
                    <a:pt x="183825" y="279644"/>
                    <a:pt x="183825" y="232200"/>
                  </a:cubicBezTo>
                  <a:lnTo>
                    <a:pt x="183825" y="223294"/>
                  </a:lnTo>
                  <a:cubicBezTo>
                    <a:pt x="183825" y="189817"/>
                    <a:pt x="170709" y="165690"/>
                    <a:pt x="141887" y="153829"/>
                  </a:cubicBezTo>
                  <a:close/>
                  <a:moveTo>
                    <a:pt x="338464" y="100798"/>
                  </a:moveTo>
                  <a:cubicBezTo>
                    <a:pt x="324052" y="80881"/>
                    <a:pt x="306281" y="68616"/>
                    <a:pt x="278309" y="68616"/>
                  </a:cubicBezTo>
                  <a:cubicBezTo>
                    <a:pt x="235965" y="68616"/>
                    <a:pt x="206293" y="101648"/>
                    <a:pt x="206293" y="154193"/>
                  </a:cubicBezTo>
                  <a:lnTo>
                    <a:pt x="206293" y="224509"/>
                  </a:lnTo>
                  <a:cubicBezTo>
                    <a:pt x="206293" y="277013"/>
                    <a:pt x="235925" y="310086"/>
                    <a:pt x="278309" y="310086"/>
                  </a:cubicBezTo>
                  <a:cubicBezTo>
                    <a:pt x="306281" y="310086"/>
                    <a:pt x="324052" y="297821"/>
                    <a:pt x="338464" y="277904"/>
                  </a:cubicBezTo>
                  <a:lnTo>
                    <a:pt x="345669" y="303731"/>
                  </a:lnTo>
                  <a:lnTo>
                    <a:pt x="369391" y="303731"/>
                  </a:lnTo>
                  <a:lnTo>
                    <a:pt x="369391" y="75012"/>
                  </a:lnTo>
                  <a:lnTo>
                    <a:pt x="345669" y="75012"/>
                  </a:lnTo>
                  <a:lnTo>
                    <a:pt x="338464" y="100839"/>
                  </a:lnTo>
                  <a:close/>
                  <a:moveTo>
                    <a:pt x="334213" y="242685"/>
                  </a:moveTo>
                  <a:cubicBezTo>
                    <a:pt x="326157" y="263452"/>
                    <a:pt x="309236" y="278268"/>
                    <a:pt x="286769" y="278268"/>
                  </a:cubicBezTo>
                  <a:cubicBezTo>
                    <a:pt x="262642" y="278268"/>
                    <a:pt x="241430" y="264302"/>
                    <a:pt x="241430" y="224469"/>
                  </a:cubicBezTo>
                  <a:lnTo>
                    <a:pt x="241430" y="154153"/>
                  </a:lnTo>
                  <a:cubicBezTo>
                    <a:pt x="241430" y="114319"/>
                    <a:pt x="262602" y="100353"/>
                    <a:pt x="286769" y="100353"/>
                  </a:cubicBezTo>
                  <a:cubicBezTo>
                    <a:pt x="309236" y="100353"/>
                    <a:pt x="326157" y="115169"/>
                    <a:pt x="334213" y="135936"/>
                  </a:cubicBezTo>
                  <a:lnTo>
                    <a:pt x="334213" y="242685"/>
                  </a:lnTo>
                  <a:close/>
                  <a:moveTo>
                    <a:pt x="494155" y="68616"/>
                  </a:moveTo>
                  <a:cubicBezTo>
                    <a:pt x="466182" y="68616"/>
                    <a:pt x="448411" y="80881"/>
                    <a:pt x="434000" y="100798"/>
                  </a:cubicBezTo>
                  <a:lnTo>
                    <a:pt x="426794" y="74971"/>
                  </a:lnTo>
                  <a:lnTo>
                    <a:pt x="403072" y="74971"/>
                  </a:lnTo>
                  <a:lnTo>
                    <a:pt x="403072" y="375706"/>
                  </a:lnTo>
                  <a:lnTo>
                    <a:pt x="438210" y="375706"/>
                  </a:lnTo>
                  <a:lnTo>
                    <a:pt x="438210" y="280413"/>
                  </a:lnTo>
                  <a:cubicBezTo>
                    <a:pt x="450071" y="298185"/>
                    <a:pt x="466182" y="310046"/>
                    <a:pt x="494114" y="310046"/>
                  </a:cubicBezTo>
                  <a:cubicBezTo>
                    <a:pt x="536458" y="310046"/>
                    <a:pt x="566130" y="277013"/>
                    <a:pt x="566130" y="224469"/>
                  </a:cubicBezTo>
                  <a:lnTo>
                    <a:pt x="566130" y="154153"/>
                  </a:lnTo>
                  <a:cubicBezTo>
                    <a:pt x="566130" y="101648"/>
                    <a:pt x="536498" y="68575"/>
                    <a:pt x="494114" y="68575"/>
                  </a:cubicBezTo>
                  <a:close/>
                  <a:moveTo>
                    <a:pt x="530993" y="224469"/>
                  </a:moveTo>
                  <a:cubicBezTo>
                    <a:pt x="530993" y="264302"/>
                    <a:pt x="509821" y="278268"/>
                    <a:pt x="485654" y="278268"/>
                  </a:cubicBezTo>
                  <a:cubicBezTo>
                    <a:pt x="463186" y="278268"/>
                    <a:pt x="446265" y="263452"/>
                    <a:pt x="438210" y="242685"/>
                  </a:cubicBezTo>
                  <a:lnTo>
                    <a:pt x="438210" y="135936"/>
                  </a:lnTo>
                  <a:cubicBezTo>
                    <a:pt x="446265" y="115169"/>
                    <a:pt x="463186" y="100353"/>
                    <a:pt x="485654" y="100353"/>
                  </a:cubicBezTo>
                  <a:cubicBezTo>
                    <a:pt x="509780" y="100353"/>
                    <a:pt x="530993" y="114319"/>
                    <a:pt x="530993" y="154153"/>
                  </a:cubicBezTo>
                  <a:lnTo>
                    <a:pt x="530993" y="224469"/>
                  </a:lnTo>
                  <a:close/>
                  <a:moveTo>
                    <a:pt x="716113" y="223618"/>
                  </a:moveTo>
                  <a:cubicBezTo>
                    <a:pt x="706357" y="244790"/>
                    <a:pt x="688586" y="259201"/>
                    <a:pt x="666969" y="259201"/>
                  </a:cubicBezTo>
                  <a:cubicBezTo>
                    <a:pt x="641992" y="259201"/>
                    <a:pt x="627581" y="244790"/>
                    <a:pt x="627581" y="209652"/>
                  </a:cubicBezTo>
                  <a:lnTo>
                    <a:pt x="627581" y="74971"/>
                  </a:lnTo>
                  <a:lnTo>
                    <a:pt x="592443" y="74971"/>
                  </a:lnTo>
                  <a:lnTo>
                    <a:pt x="592443" y="212648"/>
                  </a:lnTo>
                  <a:cubicBezTo>
                    <a:pt x="592443" y="265597"/>
                    <a:pt x="619120" y="289724"/>
                    <a:pt x="656808" y="289724"/>
                  </a:cubicBezTo>
                  <a:cubicBezTo>
                    <a:pt x="683081" y="289724"/>
                    <a:pt x="702957" y="277863"/>
                    <a:pt x="716113" y="260497"/>
                  </a:cubicBezTo>
                  <a:lnTo>
                    <a:pt x="716113" y="307091"/>
                  </a:lnTo>
                  <a:cubicBezTo>
                    <a:pt x="716113" y="332513"/>
                    <a:pt x="702552" y="349434"/>
                    <a:pt x="671624" y="349434"/>
                  </a:cubicBezTo>
                  <a:cubicBezTo>
                    <a:pt x="644947" y="349434"/>
                    <a:pt x="631386" y="335468"/>
                    <a:pt x="631386" y="314701"/>
                  </a:cubicBezTo>
                  <a:lnTo>
                    <a:pt x="631386" y="304540"/>
                  </a:lnTo>
                  <a:lnTo>
                    <a:pt x="596248" y="304540"/>
                  </a:lnTo>
                  <a:lnTo>
                    <a:pt x="596248" y="315551"/>
                  </a:lnTo>
                  <a:cubicBezTo>
                    <a:pt x="596248" y="355790"/>
                    <a:pt x="624221" y="379916"/>
                    <a:pt x="671624" y="379916"/>
                  </a:cubicBezTo>
                  <a:cubicBezTo>
                    <a:pt x="723319" y="379916"/>
                    <a:pt x="751251" y="351539"/>
                    <a:pt x="751251" y="301545"/>
                  </a:cubicBezTo>
                  <a:lnTo>
                    <a:pt x="751251" y="74931"/>
                  </a:lnTo>
                  <a:lnTo>
                    <a:pt x="716113" y="74931"/>
                  </a:lnTo>
                  <a:lnTo>
                    <a:pt x="716113" y="223618"/>
                  </a:lnTo>
                  <a:close/>
                  <a:moveTo>
                    <a:pt x="877269" y="76226"/>
                  </a:moveTo>
                  <a:cubicBezTo>
                    <a:pt x="848487" y="76226"/>
                    <a:pt x="826020" y="88937"/>
                    <a:pt x="813309" y="108004"/>
                  </a:cubicBezTo>
                  <a:cubicBezTo>
                    <a:pt x="813714" y="63960"/>
                    <a:pt x="831525" y="41088"/>
                    <a:pt x="884475" y="37688"/>
                  </a:cubicBezTo>
                  <a:cubicBezTo>
                    <a:pt x="912448" y="35988"/>
                    <a:pt x="930624" y="34288"/>
                    <a:pt x="939529" y="31778"/>
                  </a:cubicBezTo>
                  <a:lnTo>
                    <a:pt x="939529" y="0"/>
                  </a:lnTo>
                  <a:cubicBezTo>
                    <a:pt x="928114" y="2550"/>
                    <a:pt x="911152" y="3805"/>
                    <a:pt x="881924" y="5910"/>
                  </a:cubicBezTo>
                  <a:cubicBezTo>
                    <a:pt x="812904" y="11011"/>
                    <a:pt x="779831" y="41898"/>
                    <a:pt x="779831" y="122375"/>
                  </a:cubicBezTo>
                  <a:lnTo>
                    <a:pt x="779831" y="219813"/>
                  </a:lnTo>
                  <a:cubicBezTo>
                    <a:pt x="779831" y="279118"/>
                    <a:pt x="815414" y="310046"/>
                    <a:pt x="865813" y="310046"/>
                  </a:cubicBezTo>
                  <a:cubicBezTo>
                    <a:pt x="916212" y="310046"/>
                    <a:pt x="951390" y="278713"/>
                    <a:pt x="951390" y="219813"/>
                  </a:cubicBezTo>
                  <a:lnTo>
                    <a:pt x="951390" y="166459"/>
                  </a:lnTo>
                  <a:cubicBezTo>
                    <a:pt x="951390" y="105049"/>
                    <a:pt x="918358" y="76226"/>
                    <a:pt x="877269" y="76226"/>
                  </a:cubicBezTo>
                  <a:close/>
                  <a:moveTo>
                    <a:pt x="916253" y="221068"/>
                  </a:moveTo>
                  <a:cubicBezTo>
                    <a:pt x="916253" y="259606"/>
                    <a:pt x="895486" y="278228"/>
                    <a:pt x="865854" y="278228"/>
                  </a:cubicBezTo>
                  <a:cubicBezTo>
                    <a:pt x="836221" y="278228"/>
                    <a:pt x="815009" y="259606"/>
                    <a:pt x="815009" y="221068"/>
                  </a:cubicBezTo>
                  <a:lnTo>
                    <a:pt x="815009" y="156258"/>
                  </a:lnTo>
                  <a:cubicBezTo>
                    <a:pt x="816264" y="126180"/>
                    <a:pt x="838286" y="106709"/>
                    <a:pt x="866703" y="106709"/>
                  </a:cubicBezTo>
                  <a:cubicBezTo>
                    <a:pt x="895121" y="106709"/>
                    <a:pt x="916253" y="124075"/>
                    <a:pt x="916253" y="165163"/>
                  </a:cubicBezTo>
                  <a:lnTo>
                    <a:pt x="916253" y="221068"/>
                  </a:lnTo>
                  <a:close/>
                  <a:moveTo>
                    <a:pt x="1057330" y="68616"/>
                  </a:moveTo>
                  <a:cubicBezTo>
                    <a:pt x="1008631" y="68616"/>
                    <a:pt x="973453" y="99948"/>
                    <a:pt x="973453" y="158848"/>
                  </a:cubicBezTo>
                  <a:lnTo>
                    <a:pt x="973453" y="219854"/>
                  </a:lnTo>
                  <a:cubicBezTo>
                    <a:pt x="973453" y="278713"/>
                    <a:pt x="1008590" y="310086"/>
                    <a:pt x="1059030" y="310086"/>
                  </a:cubicBezTo>
                  <a:cubicBezTo>
                    <a:pt x="1109470" y="310086"/>
                    <a:pt x="1139507" y="280859"/>
                    <a:pt x="1139507" y="236370"/>
                  </a:cubicBezTo>
                  <a:lnTo>
                    <a:pt x="1139507" y="229164"/>
                  </a:lnTo>
                  <a:lnTo>
                    <a:pt x="1104369" y="229164"/>
                  </a:lnTo>
                  <a:lnTo>
                    <a:pt x="1104369" y="237625"/>
                  </a:lnTo>
                  <a:cubicBezTo>
                    <a:pt x="1104369" y="263047"/>
                    <a:pt x="1085748" y="279564"/>
                    <a:pt x="1059071" y="279564"/>
                  </a:cubicBezTo>
                  <a:cubicBezTo>
                    <a:pt x="1029438" y="279564"/>
                    <a:pt x="1008671" y="260942"/>
                    <a:pt x="1008671" y="221109"/>
                  </a:cubicBezTo>
                  <a:lnTo>
                    <a:pt x="1008671" y="201192"/>
                  </a:lnTo>
                  <a:lnTo>
                    <a:pt x="1140802" y="201192"/>
                  </a:lnTo>
                  <a:lnTo>
                    <a:pt x="1140802" y="158848"/>
                  </a:lnTo>
                  <a:cubicBezTo>
                    <a:pt x="1140802" y="99989"/>
                    <a:pt x="1107324" y="68616"/>
                    <a:pt x="1057370" y="68616"/>
                  </a:cubicBezTo>
                  <a:close/>
                  <a:moveTo>
                    <a:pt x="1105624" y="170669"/>
                  </a:moveTo>
                  <a:lnTo>
                    <a:pt x="1008631" y="170669"/>
                  </a:lnTo>
                  <a:lnTo>
                    <a:pt x="1008631" y="157553"/>
                  </a:lnTo>
                  <a:cubicBezTo>
                    <a:pt x="1008631" y="117719"/>
                    <a:pt x="1029398" y="99098"/>
                    <a:pt x="1058180" y="99098"/>
                  </a:cubicBezTo>
                  <a:cubicBezTo>
                    <a:pt x="1086962" y="99098"/>
                    <a:pt x="1105624" y="117719"/>
                    <a:pt x="1105624" y="157553"/>
                  </a:cubicBezTo>
                  <a:lnTo>
                    <a:pt x="1105624" y="170669"/>
                  </a:lnTo>
                  <a:close/>
                  <a:moveTo>
                    <a:pt x="1410084" y="74971"/>
                  </a:moveTo>
                  <a:lnTo>
                    <a:pt x="1371950" y="74971"/>
                  </a:lnTo>
                  <a:lnTo>
                    <a:pt x="1325801" y="172814"/>
                  </a:lnTo>
                  <a:lnTo>
                    <a:pt x="1295319" y="172814"/>
                  </a:lnTo>
                  <a:lnTo>
                    <a:pt x="1295319" y="74971"/>
                  </a:lnTo>
                  <a:lnTo>
                    <a:pt x="1260181" y="74971"/>
                  </a:lnTo>
                  <a:lnTo>
                    <a:pt x="1260181" y="172814"/>
                  </a:lnTo>
                  <a:lnTo>
                    <a:pt x="1229699" y="172814"/>
                  </a:lnTo>
                  <a:lnTo>
                    <a:pt x="1183551" y="74971"/>
                  </a:lnTo>
                  <a:lnTo>
                    <a:pt x="1145417" y="74971"/>
                  </a:lnTo>
                  <a:lnTo>
                    <a:pt x="1202172" y="185930"/>
                  </a:lnTo>
                  <a:lnTo>
                    <a:pt x="1142867" y="303690"/>
                  </a:lnTo>
                  <a:lnTo>
                    <a:pt x="1181405" y="303690"/>
                  </a:lnTo>
                  <a:lnTo>
                    <a:pt x="1230104" y="203297"/>
                  </a:lnTo>
                  <a:lnTo>
                    <a:pt x="1260181" y="203297"/>
                  </a:lnTo>
                  <a:lnTo>
                    <a:pt x="1260181" y="303690"/>
                  </a:lnTo>
                  <a:lnTo>
                    <a:pt x="1295319" y="303690"/>
                  </a:lnTo>
                  <a:lnTo>
                    <a:pt x="1295319" y="203297"/>
                  </a:lnTo>
                  <a:lnTo>
                    <a:pt x="1325397" y="203297"/>
                  </a:lnTo>
                  <a:lnTo>
                    <a:pt x="1374096" y="303690"/>
                  </a:lnTo>
                  <a:lnTo>
                    <a:pt x="1412634" y="303690"/>
                  </a:lnTo>
                  <a:lnTo>
                    <a:pt x="1353329" y="185930"/>
                  </a:lnTo>
                  <a:lnTo>
                    <a:pt x="1410084" y="74971"/>
                  </a:lnTo>
                  <a:close/>
                  <a:moveTo>
                    <a:pt x="1555168" y="172369"/>
                  </a:moveTo>
                  <a:lnTo>
                    <a:pt x="1466636" y="172369"/>
                  </a:lnTo>
                  <a:lnTo>
                    <a:pt x="1466636" y="74931"/>
                  </a:lnTo>
                  <a:lnTo>
                    <a:pt x="1431498" y="74931"/>
                  </a:lnTo>
                  <a:lnTo>
                    <a:pt x="1431498" y="303650"/>
                  </a:lnTo>
                  <a:lnTo>
                    <a:pt x="1466636" y="303650"/>
                  </a:lnTo>
                  <a:lnTo>
                    <a:pt x="1466636" y="204106"/>
                  </a:lnTo>
                  <a:lnTo>
                    <a:pt x="1555168" y="204106"/>
                  </a:lnTo>
                  <a:lnTo>
                    <a:pt x="1555168" y="303650"/>
                  </a:lnTo>
                  <a:lnTo>
                    <a:pt x="1590306" y="303650"/>
                  </a:lnTo>
                  <a:lnTo>
                    <a:pt x="1590306" y="74931"/>
                  </a:lnTo>
                  <a:lnTo>
                    <a:pt x="1555168" y="74931"/>
                  </a:lnTo>
                  <a:lnTo>
                    <a:pt x="1555168" y="172369"/>
                  </a:lnTo>
                  <a:close/>
                  <a:moveTo>
                    <a:pt x="1701751" y="68616"/>
                  </a:moveTo>
                  <a:cubicBezTo>
                    <a:pt x="1653052" y="68616"/>
                    <a:pt x="1617874" y="99948"/>
                    <a:pt x="1617874" y="158848"/>
                  </a:cubicBezTo>
                  <a:lnTo>
                    <a:pt x="1617874" y="219854"/>
                  </a:lnTo>
                  <a:cubicBezTo>
                    <a:pt x="1617874" y="278713"/>
                    <a:pt x="1653012" y="310086"/>
                    <a:pt x="1703451" y="310086"/>
                  </a:cubicBezTo>
                  <a:cubicBezTo>
                    <a:pt x="1753890" y="310086"/>
                    <a:pt x="1783928" y="280859"/>
                    <a:pt x="1783928" y="236370"/>
                  </a:cubicBezTo>
                  <a:lnTo>
                    <a:pt x="1783928" y="229164"/>
                  </a:lnTo>
                  <a:lnTo>
                    <a:pt x="1748750" y="229164"/>
                  </a:lnTo>
                  <a:lnTo>
                    <a:pt x="1748750" y="237625"/>
                  </a:lnTo>
                  <a:cubicBezTo>
                    <a:pt x="1748750" y="263047"/>
                    <a:pt x="1730128" y="279564"/>
                    <a:pt x="1703451" y="279564"/>
                  </a:cubicBezTo>
                  <a:cubicBezTo>
                    <a:pt x="1673819" y="279564"/>
                    <a:pt x="1653052" y="260942"/>
                    <a:pt x="1653052" y="221109"/>
                  </a:cubicBezTo>
                  <a:lnTo>
                    <a:pt x="1653052" y="201192"/>
                  </a:lnTo>
                  <a:lnTo>
                    <a:pt x="1785183" y="201192"/>
                  </a:lnTo>
                  <a:lnTo>
                    <a:pt x="1785183" y="158848"/>
                  </a:lnTo>
                  <a:cubicBezTo>
                    <a:pt x="1785183" y="99989"/>
                    <a:pt x="1751705" y="68616"/>
                    <a:pt x="1701751" y="68616"/>
                  </a:cubicBezTo>
                  <a:close/>
                  <a:moveTo>
                    <a:pt x="1750004" y="170669"/>
                  </a:moveTo>
                  <a:lnTo>
                    <a:pt x="1653012" y="170669"/>
                  </a:lnTo>
                  <a:lnTo>
                    <a:pt x="1653012" y="157553"/>
                  </a:lnTo>
                  <a:cubicBezTo>
                    <a:pt x="1653012" y="117719"/>
                    <a:pt x="1673778" y="99098"/>
                    <a:pt x="1702561" y="99098"/>
                  </a:cubicBezTo>
                  <a:cubicBezTo>
                    <a:pt x="1731343" y="99098"/>
                    <a:pt x="1750004" y="117719"/>
                    <a:pt x="1750004" y="157553"/>
                  </a:cubicBezTo>
                  <a:lnTo>
                    <a:pt x="1750004" y="170669"/>
                  </a:lnTo>
                  <a:close/>
                  <a:moveTo>
                    <a:pt x="1945812" y="69871"/>
                  </a:moveTo>
                  <a:lnTo>
                    <a:pt x="1939457" y="69871"/>
                  </a:lnTo>
                  <a:lnTo>
                    <a:pt x="1939457" y="7165"/>
                  </a:lnTo>
                  <a:lnTo>
                    <a:pt x="1904319" y="7165"/>
                  </a:lnTo>
                  <a:lnTo>
                    <a:pt x="1904319" y="69871"/>
                  </a:lnTo>
                  <a:lnTo>
                    <a:pt x="1897964" y="69871"/>
                  </a:lnTo>
                  <a:cubicBezTo>
                    <a:pt x="1844164" y="69871"/>
                    <a:pt x="1806881" y="103349"/>
                    <a:pt x="1806881" y="161763"/>
                  </a:cubicBezTo>
                  <a:lnTo>
                    <a:pt x="1806881" y="216818"/>
                  </a:lnTo>
                  <a:cubicBezTo>
                    <a:pt x="1806881" y="275273"/>
                    <a:pt x="1844164" y="308710"/>
                    <a:pt x="1897964" y="308710"/>
                  </a:cubicBezTo>
                  <a:lnTo>
                    <a:pt x="1904319" y="308710"/>
                  </a:lnTo>
                  <a:lnTo>
                    <a:pt x="1904319" y="375625"/>
                  </a:lnTo>
                  <a:lnTo>
                    <a:pt x="1939457" y="375625"/>
                  </a:lnTo>
                  <a:lnTo>
                    <a:pt x="1939457" y="308710"/>
                  </a:lnTo>
                  <a:lnTo>
                    <a:pt x="1945812" y="308710"/>
                  </a:lnTo>
                  <a:cubicBezTo>
                    <a:pt x="1999612" y="308710"/>
                    <a:pt x="2036895" y="275232"/>
                    <a:pt x="2036895" y="216818"/>
                  </a:cubicBezTo>
                  <a:lnTo>
                    <a:pt x="2036895" y="161763"/>
                  </a:lnTo>
                  <a:cubicBezTo>
                    <a:pt x="2036895" y="103308"/>
                    <a:pt x="1999612" y="69871"/>
                    <a:pt x="1945812" y="69871"/>
                  </a:cubicBezTo>
                  <a:close/>
                  <a:moveTo>
                    <a:pt x="1904319" y="279118"/>
                  </a:moveTo>
                  <a:lnTo>
                    <a:pt x="1897964" y="279118"/>
                  </a:lnTo>
                  <a:cubicBezTo>
                    <a:pt x="1864931" y="279118"/>
                    <a:pt x="1842059" y="258351"/>
                    <a:pt x="1842059" y="218113"/>
                  </a:cubicBezTo>
                  <a:lnTo>
                    <a:pt x="1842059" y="160508"/>
                  </a:lnTo>
                  <a:cubicBezTo>
                    <a:pt x="1842059" y="120270"/>
                    <a:pt x="1864931" y="99503"/>
                    <a:pt x="1897964" y="99503"/>
                  </a:cubicBezTo>
                  <a:lnTo>
                    <a:pt x="1904319" y="99503"/>
                  </a:lnTo>
                  <a:lnTo>
                    <a:pt x="1904319" y="279078"/>
                  </a:lnTo>
                  <a:close/>
                  <a:moveTo>
                    <a:pt x="2001717" y="218113"/>
                  </a:moveTo>
                  <a:cubicBezTo>
                    <a:pt x="2001717" y="258351"/>
                    <a:pt x="1978845" y="279118"/>
                    <a:pt x="1945812" y="279118"/>
                  </a:cubicBezTo>
                  <a:lnTo>
                    <a:pt x="1939457" y="279118"/>
                  </a:lnTo>
                  <a:lnTo>
                    <a:pt x="1939457" y="99543"/>
                  </a:lnTo>
                  <a:lnTo>
                    <a:pt x="1945812" y="99543"/>
                  </a:lnTo>
                  <a:cubicBezTo>
                    <a:pt x="1978845" y="99543"/>
                    <a:pt x="2001717" y="120310"/>
                    <a:pt x="2001717" y="160549"/>
                  </a:cubicBezTo>
                  <a:lnTo>
                    <a:pt x="2001717" y="218154"/>
                  </a:lnTo>
                  <a:close/>
                  <a:moveTo>
                    <a:pt x="2042725" y="106709"/>
                  </a:moveTo>
                  <a:lnTo>
                    <a:pt x="2100329" y="106709"/>
                  </a:lnTo>
                  <a:lnTo>
                    <a:pt x="2100329" y="303650"/>
                  </a:lnTo>
                  <a:lnTo>
                    <a:pt x="2135467" y="303650"/>
                  </a:lnTo>
                  <a:lnTo>
                    <a:pt x="2135467" y="106709"/>
                  </a:lnTo>
                  <a:lnTo>
                    <a:pt x="2193072" y="106709"/>
                  </a:lnTo>
                  <a:lnTo>
                    <a:pt x="2193072" y="74931"/>
                  </a:lnTo>
                  <a:lnTo>
                    <a:pt x="2042725" y="74931"/>
                  </a:lnTo>
                  <a:lnTo>
                    <a:pt x="2042725" y="106709"/>
                  </a:lnTo>
                  <a:close/>
                  <a:moveTo>
                    <a:pt x="2284114" y="149942"/>
                  </a:moveTo>
                  <a:lnTo>
                    <a:pt x="2247276" y="149942"/>
                  </a:lnTo>
                  <a:lnTo>
                    <a:pt x="2247276" y="74971"/>
                  </a:lnTo>
                  <a:lnTo>
                    <a:pt x="2212139" y="74971"/>
                  </a:lnTo>
                  <a:lnTo>
                    <a:pt x="2212139" y="303690"/>
                  </a:lnTo>
                  <a:lnTo>
                    <a:pt x="2284155" y="303690"/>
                  </a:lnTo>
                  <a:cubicBezTo>
                    <a:pt x="2329898" y="303690"/>
                    <a:pt x="2362527" y="281668"/>
                    <a:pt x="2362527" y="229569"/>
                  </a:cubicBezTo>
                  <a:lnTo>
                    <a:pt x="2362527" y="224064"/>
                  </a:lnTo>
                  <a:cubicBezTo>
                    <a:pt x="2362527" y="171964"/>
                    <a:pt x="2329898" y="149942"/>
                    <a:pt x="2284155" y="149942"/>
                  </a:cubicBezTo>
                  <a:close/>
                  <a:moveTo>
                    <a:pt x="2327308" y="229569"/>
                  </a:moveTo>
                  <a:cubicBezTo>
                    <a:pt x="2327308" y="262602"/>
                    <a:pt x="2310791" y="274058"/>
                    <a:pt x="2282414" y="274058"/>
                  </a:cubicBezTo>
                  <a:lnTo>
                    <a:pt x="2247276" y="274058"/>
                  </a:lnTo>
                  <a:lnTo>
                    <a:pt x="2247276" y="179615"/>
                  </a:lnTo>
                  <a:lnTo>
                    <a:pt x="2282414" y="179615"/>
                  </a:lnTo>
                  <a:cubicBezTo>
                    <a:pt x="2310791" y="179615"/>
                    <a:pt x="2327308" y="191031"/>
                    <a:pt x="2327308" y="224104"/>
                  </a:cubicBezTo>
                  <a:lnTo>
                    <a:pt x="2327308" y="229610"/>
                  </a:lnTo>
                  <a:close/>
                </a:path>
              </a:pathLst>
            </a:custGeom>
            <a:solidFill>
              <a:srgbClr val="FFFFFF"/>
            </a:solidFill>
            <a:ln w="404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5" name="Полилиния 44">
              <a:extLst>
                <a:ext uri="{FF2B5EF4-FFF2-40B4-BE49-F238E27FC236}">
                  <a16:creationId xmlns="" xmlns:a16="http://schemas.microsoft.com/office/drawing/2014/main" id="{D8710856-CB29-3967-6AAD-91D4C4DCC2AB}"/>
                </a:ext>
              </a:extLst>
            </p:cNvPr>
            <p:cNvSpPr/>
            <p:nvPr/>
          </p:nvSpPr>
          <p:spPr>
            <a:xfrm>
              <a:off x="2376026" y="1816656"/>
              <a:ext cx="457397" cy="457397"/>
            </a:xfrm>
            <a:custGeom>
              <a:avLst/>
              <a:gdLst>
                <a:gd name="connsiteX0" fmla="*/ 390422 w 457397"/>
                <a:gd name="connsiteY0" fmla="*/ 66976 h 457397"/>
                <a:gd name="connsiteX1" fmla="*/ 66976 w 457397"/>
                <a:gd name="connsiteY1" fmla="*/ 66976 h 457397"/>
                <a:gd name="connsiteX2" fmla="*/ 66976 w 457397"/>
                <a:gd name="connsiteY2" fmla="*/ 390422 h 457397"/>
                <a:gd name="connsiteX3" fmla="*/ 390422 w 457397"/>
                <a:gd name="connsiteY3" fmla="*/ 390422 h 457397"/>
                <a:gd name="connsiteX4" fmla="*/ 390422 w 457397"/>
                <a:gd name="connsiteY4" fmla="*/ 66976 h 457397"/>
                <a:gd name="connsiteX5" fmla="*/ 406938 w 457397"/>
                <a:gd name="connsiteY5" fmla="*/ 360708 h 457397"/>
                <a:gd name="connsiteX6" fmla="*/ 407504 w 457397"/>
                <a:gd name="connsiteY6" fmla="*/ 358482 h 457397"/>
                <a:gd name="connsiteX7" fmla="*/ 402890 w 457397"/>
                <a:gd name="connsiteY7" fmla="*/ 290068 h 457397"/>
                <a:gd name="connsiteX8" fmla="*/ 447581 w 457397"/>
                <a:gd name="connsiteY8" fmla="*/ 246106 h 457397"/>
                <a:gd name="connsiteX9" fmla="*/ 450091 w 457397"/>
                <a:gd name="connsiteY9" fmla="*/ 239224 h 457397"/>
                <a:gd name="connsiteX10" fmla="*/ 406897 w 457397"/>
                <a:gd name="connsiteY10" fmla="*/ 360668 h 457397"/>
                <a:gd name="connsiteX11" fmla="*/ 370262 w 457397"/>
                <a:gd name="connsiteY11" fmla="*/ 391676 h 457397"/>
                <a:gd name="connsiteX12" fmla="*/ 293104 w 457397"/>
                <a:gd name="connsiteY12" fmla="*/ 392648 h 457397"/>
                <a:gd name="connsiteX13" fmla="*/ 262906 w 457397"/>
                <a:gd name="connsiteY13" fmla="*/ 267682 h 457397"/>
                <a:gd name="connsiteX14" fmla="*/ 378965 w 457397"/>
                <a:gd name="connsiteY14" fmla="*/ 296910 h 457397"/>
                <a:gd name="connsiteX15" fmla="*/ 396129 w 457397"/>
                <a:gd name="connsiteY15" fmla="*/ 292700 h 457397"/>
                <a:gd name="connsiteX16" fmla="*/ 370221 w 457397"/>
                <a:gd name="connsiteY16" fmla="*/ 391636 h 457397"/>
                <a:gd name="connsiteX17" fmla="*/ 222141 w 457397"/>
                <a:gd name="connsiteY17" fmla="*/ 235216 h 457397"/>
                <a:gd name="connsiteX18" fmla="*/ 254202 w 457397"/>
                <a:gd name="connsiteY18" fmla="*/ 261934 h 457397"/>
                <a:gd name="connsiteX19" fmla="*/ 284482 w 457397"/>
                <a:gd name="connsiteY19" fmla="*/ 389855 h 457397"/>
                <a:gd name="connsiteX20" fmla="*/ 154861 w 457397"/>
                <a:gd name="connsiteY20" fmla="*/ 302496 h 457397"/>
                <a:gd name="connsiteX21" fmla="*/ 67503 w 457397"/>
                <a:gd name="connsiteY21" fmla="*/ 172916 h 457397"/>
                <a:gd name="connsiteX22" fmla="*/ 195423 w 457397"/>
                <a:gd name="connsiteY22" fmla="*/ 203155 h 457397"/>
                <a:gd name="connsiteX23" fmla="*/ 222141 w 457397"/>
                <a:gd name="connsiteY23" fmla="*/ 235216 h 457397"/>
                <a:gd name="connsiteX24" fmla="*/ 173523 w 457397"/>
                <a:gd name="connsiteY24" fmla="*/ 80254 h 457397"/>
                <a:gd name="connsiteX25" fmla="*/ 176518 w 457397"/>
                <a:gd name="connsiteY25" fmla="*/ 64831 h 457397"/>
                <a:gd name="connsiteX26" fmla="*/ 307799 w 457397"/>
                <a:gd name="connsiteY26" fmla="*/ 149518 h 457397"/>
                <a:gd name="connsiteX27" fmla="*/ 392486 w 457397"/>
                <a:gd name="connsiteY27" fmla="*/ 280798 h 457397"/>
                <a:gd name="connsiteX28" fmla="*/ 377063 w 457397"/>
                <a:gd name="connsiteY28" fmla="*/ 283834 h 457397"/>
                <a:gd name="connsiteX29" fmla="*/ 173482 w 457397"/>
                <a:gd name="connsiteY29" fmla="*/ 80254 h 457397"/>
                <a:gd name="connsiteX30" fmla="*/ 325368 w 457397"/>
                <a:gd name="connsiteY30" fmla="*/ 36818 h 457397"/>
                <a:gd name="connsiteX31" fmla="*/ 388114 w 457397"/>
                <a:gd name="connsiteY31" fmla="*/ 69243 h 457397"/>
                <a:gd name="connsiteX32" fmla="*/ 420540 w 457397"/>
                <a:gd name="connsiteY32" fmla="*/ 131989 h 457397"/>
                <a:gd name="connsiteX33" fmla="*/ 374755 w 457397"/>
                <a:gd name="connsiteY33" fmla="*/ 147251 h 457397"/>
                <a:gd name="connsiteX34" fmla="*/ 338079 w 457397"/>
                <a:gd name="connsiteY34" fmla="*/ 119238 h 457397"/>
                <a:gd name="connsiteX35" fmla="*/ 310066 w 457397"/>
                <a:gd name="connsiteY35" fmla="*/ 82562 h 457397"/>
                <a:gd name="connsiteX36" fmla="*/ 325328 w 457397"/>
                <a:gd name="connsiteY36" fmla="*/ 36818 h 457397"/>
                <a:gd name="connsiteX37" fmla="*/ 240479 w 457397"/>
                <a:gd name="connsiteY37" fmla="*/ 10505 h 457397"/>
                <a:gd name="connsiteX38" fmla="*/ 260274 w 457397"/>
                <a:gd name="connsiteY38" fmla="*/ 9210 h 457397"/>
                <a:gd name="connsiteX39" fmla="*/ 323992 w 457397"/>
                <a:gd name="connsiteY39" fmla="*/ 28398 h 457397"/>
                <a:gd name="connsiteX40" fmla="*/ 312293 w 457397"/>
                <a:gd name="connsiteY40" fmla="*/ 28762 h 457397"/>
                <a:gd name="connsiteX41" fmla="*/ 289542 w 457397"/>
                <a:gd name="connsiteY41" fmla="*/ 62807 h 457397"/>
                <a:gd name="connsiteX42" fmla="*/ 325085 w 457397"/>
                <a:gd name="connsiteY42" fmla="*/ 132232 h 457397"/>
                <a:gd name="connsiteX43" fmla="*/ 394510 w 457397"/>
                <a:gd name="connsiteY43" fmla="*/ 167775 h 457397"/>
                <a:gd name="connsiteX44" fmla="*/ 428555 w 457397"/>
                <a:gd name="connsiteY44" fmla="*/ 145024 h 457397"/>
                <a:gd name="connsiteX45" fmla="*/ 428919 w 457397"/>
                <a:gd name="connsiteY45" fmla="*/ 133325 h 457397"/>
                <a:gd name="connsiteX46" fmla="*/ 448107 w 457397"/>
                <a:gd name="connsiteY46" fmla="*/ 197123 h 457397"/>
                <a:gd name="connsiteX47" fmla="*/ 446812 w 457397"/>
                <a:gd name="connsiteY47" fmla="*/ 216878 h 457397"/>
                <a:gd name="connsiteX48" fmla="*/ 399044 w 457397"/>
                <a:gd name="connsiteY48" fmla="*/ 278531 h 457397"/>
                <a:gd name="connsiteX49" fmla="*/ 310066 w 457397"/>
                <a:gd name="connsiteY49" fmla="*/ 147251 h 457397"/>
                <a:gd name="connsiteX50" fmla="*/ 178785 w 457397"/>
                <a:gd name="connsiteY50" fmla="*/ 58273 h 457397"/>
                <a:gd name="connsiteX51" fmla="*/ 240439 w 457397"/>
                <a:gd name="connsiteY51" fmla="*/ 10505 h 457397"/>
                <a:gd name="connsiteX52" fmla="*/ 160407 w 457397"/>
                <a:gd name="connsiteY52" fmla="*/ 78392 h 457397"/>
                <a:gd name="connsiteX53" fmla="*/ 189634 w 457397"/>
                <a:gd name="connsiteY53" fmla="*/ 194452 h 457397"/>
                <a:gd name="connsiteX54" fmla="*/ 64669 w 457397"/>
                <a:gd name="connsiteY54" fmla="*/ 164253 h 457397"/>
                <a:gd name="connsiteX55" fmla="*/ 65681 w 457397"/>
                <a:gd name="connsiteY55" fmla="*/ 87095 h 457397"/>
                <a:gd name="connsiteX56" fmla="*/ 164617 w 457397"/>
                <a:gd name="connsiteY56" fmla="*/ 61187 h 457397"/>
                <a:gd name="connsiteX57" fmla="*/ 160407 w 457397"/>
                <a:gd name="connsiteY57" fmla="*/ 78392 h 457397"/>
                <a:gd name="connsiteX58" fmla="*/ 218093 w 457397"/>
                <a:gd name="connsiteY58" fmla="*/ 7226 h 457397"/>
                <a:gd name="connsiteX59" fmla="*/ 211211 w 457397"/>
                <a:gd name="connsiteY59" fmla="*/ 9736 h 457397"/>
                <a:gd name="connsiteX60" fmla="*/ 167248 w 457397"/>
                <a:gd name="connsiteY60" fmla="*/ 54427 h 457397"/>
                <a:gd name="connsiteX61" fmla="*/ 98875 w 457397"/>
                <a:gd name="connsiteY61" fmla="*/ 49853 h 457397"/>
                <a:gd name="connsiteX62" fmla="*/ 96649 w 457397"/>
                <a:gd name="connsiteY62" fmla="*/ 50419 h 457397"/>
                <a:gd name="connsiteX63" fmla="*/ 218093 w 457397"/>
                <a:gd name="connsiteY63" fmla="*/ 7226 h 457397"/>
                <a:gd name="connsiteX64" fmla="*/ 48395 w 457397"/>
                <a:gd name="connsiteY64" fmla="*/ 99483 h 457397"/>
                <a:gd name="connsiteX65" fmla="*/ 45076 w 457397"/>
                <a:gd name="connsiteY65" fmla="*/ 125431 h 457397"/>
                <a:gd name="connsiteX66" fmla="*/ 51229 w 457397"/>
                <a:gd name="connsiteY66" fmla="*/ 168868 h 457397"/>
                <a:gd name="connsiteX67" fmla="*/ 7145 w 457397"/>
                <a:gd name="connsiteY67" fmla="*/ 220360 h 457397"/>
                <a:gd name="connsiteX68" fmla="*/ 48395 w 457397"/>
                <a:gd name="connsiteY68" fmla="*/ 99483 h 457397"/>
                <a:gd name="connsiteX69" fmla="*/ 115837 w 457397"/>
                <a:gd name="connsiteY69" fmla="*/ 405197 h 457397"/>
                <a:gd name="connsiteX70" fmla="*/ 80416 w 457397"/>
                <a:gd name="connsiteY70" fmla="*/ 376982 h 457397"/>
                <a:gd name="connsiteX71" fmla="*/ 52201 w 457397"/>
                <a:gd name="connsiteY71" fmla="*/ 341561 h 457397"/>
                <a:gd name="connsiteX72" fmla="*/ 64102 w 457397"/>
                <a:gd name="connsiteY72" fmla="*/ 299096 h 457397"/>
                <a:gd name="connsiteX73" fmla="*/ 124621 w 457397"/>
                <a:gd name="connsiteY73" fmla="*/ 332776 h 457397"/>
                <a:gd name="connsiteX74" fmla="*/ 158302 w 457397"/>
                <a:gd name="connsiteY74" fmla="*/ 393296 h 457397"/>
                <a:gd name="connsiteX75" fmla="*/ 115837 w 457397"/>
                <a:gd name="connsiteY75" fmla="*/ 405197 h 457397"/>
                <a:gd name="connsiteX76" fmla="*/ 219915 w 457397"/>
                <a:gd name="connsiteY76" fmla="*/ 440294 h 457397"/>
                <a:gd name="connsiteX77" fmla="*/ 149032 w 457397"/>
                <a:gd name="connsiteY77" fmla="*/ 425923 h 457397"/>
                <a:gd name="connsiteX78" fmla="*/ 167329 w 457397"/>
                <a:gd name="connsiteY78" fmla="*/ 405359 h 457397"/>
                <a:gd name="connsiteX79" fmla="*/ 126848 w 457397"/>
                <a:gd name="connsiteY79" fmla="*/ 330509 h 457397"/>
                <a:gd name="connsiteX80" fmla="*/ 51998 w 457397"/>
                <a:gd name="connsiteY80" fmla="*/ 290028 h 457397"/>
                <a:gd name="connsiteX81" fmla="*/ 31434 w 457397"/>
                <a:gd name="connsiteY81" fmla="*/ 308325 h 457397"/>
                <a:gd name="connsiteX82" fmla="*/ 17063 w 457397"/>
                <a:gd name="connsiteY82" fmla="*/ 237443 h 457397"/>
                <a:gd name="connsiteX83" fmla="*/ 53901 w 457397"/>
                <a:gd name="connsiteY83" fmla="*/ 178340 h 457397"/>
                <a:gd name="connsiteX84" fmla="*/ 141826 w 457397"/>
                <a:gd name="connsiteY84" fmla="*/ 315531 h 457397"/>
                <a:gd name="connsiteX85" fmla="*/ 279017 w 457397"/>
                <a:gd name="connsiteY85" fmla="*/ 403456 h 457397"/>
                <a:gd name="connsiteX86" fmla="*/ 219874 w 457397"/>
                <a:gd name="connsiteY86" fmla="*/ 440294 h 457397"/>
                <a:gd name="connsiteX87" fmla="*/ 237038 w 457397"/>
                <a:gd name="connsiteY87" fmla="*/ 450212 h 457397"/>
                <a:gd name="connsiteX88" fmla="*/ 288530 w 457397"/>
                <a:gd name="connsiteY88" fmla="*/ 406128 h 457397"/>
                <a:gd name="connsiteX89" fmla="*/ 332007 w 457397"/>
                <a:gd name="connsiteY89" fmla="*/ 412281 h 457397"/>
                <a:gd name="connsiteX90" fmla="*/ 357915 w 457397"/>
                <a:gd name="connsiteY90" fmla="*/ 408962 h 457397"/>
                <a:gd name="connsiteX91" fmla="*/ 237079 w 457397"/>
                <a:gd name="connsiteY91" fmla="*/ 450212 h 457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</a:cxnLst>
              <a:rect l="l" t="t" r="r" b="b"/>
              <a:pathLst>
                <a:path w="457397" h="457397">
                  <a:moveTo>
                    <a:pt x="390422" y="66976"/>
                  </a:moveTo>
                  <a:cubicBezTo>
                    <a:pt x="301120" y="-22325"/>
                    <a:pt x="156278" y="-22325"/>
                    <a:pt x="66976" y="66976"/>
                  </a:cubicBezTo>
                  <a:cubicBezTo>
                    <a:pt x="-22325" y="156278"/>
                    <a:pt x="-22325" y="301120"/>
                    <a:pt x="66976" y="390422"/>
                  </a:cubicBezTo>
                  <a:cubicBezTo>
                    <a:pt x="156278" y="479723"/>
                    <a:pt x="301120" y="479723"/>
                    <a:pt x="390422" y="390422"/>
                  </a:cubicBezTo>
                  <a:cubicBezTo>
                    <a:pt x="479723" y="301120"/>
                    <a:pt x="479723" y="156278"/>
                    <a:pt x="390422" y="66976"/>
                  </a:cubicBezTo>
                  <a:close/>
                  <a:moveTo>
                    <a:pt x="406938" y="360708"/>
                  </a:moveTo>
                  <a:cubicBezTo>
                    <a:pt x="407140" y="359980"/>
                    <a:pt x="407343" y="359251"/>
                    <a:pt x="407504" y="358482"/>
                  </a:cubicBezTo>
                  <a:cubicBezTo>
                    <a:pt x="412362" y="336703"/>
                    <a:pt x="409934" y="313386"/>
                    <a:pt x="402890" y="290068"/>
                  </a:cubicBezTo>
                  <a:cubicBezTo>
                    <a:pt x="422523" y="281446"/>
                    <a:pt x="439161" y="266063"/>
                    <a:pt x="447581" y="246106"/>
                  </a:cubicBezTo>
                  <a:cubicBezTo>
                    <a:pt x="448512" y="243839"/>
                    <a:pt x="449322" y="241531"/>
                    <a:pt x="450091" y="239224"/>
                  </a:cubicBezTo>
                  <a:cubicBezTo>
                    <a:pt x="448067" y="282134"/>
                    <a:pt x="433655" y="324558"/>
                    <a:pt x="406897" y="360668"/>
                  </a:cubicBezTo>
                  <a:close/>
                  <a:moveTo>
                    <a:pt x="370262" y="391676"/>
                  </a:moveTo>
                  <a:cubicBezTo>
                    <a:pt x="347309" y="402404"/>
                    <a:pt x="320389" y="401028"/>
                    <a:pt x="293104" y="392648"/>
                  </a:cubicBezTo>
                  <a:cubicBezTo>
                    <a:pt x="304197" y="350102"/>
                    <a:pt x="288004" y="304965"/>
                    <a:pt x="262906" y="267682"/>
                  </a:cubicBezTo>
                  <a:cubicBezTo>
                    <a:pt x="297476" y="289785"/>
                    <a:pt x="337877" y="302820"/>
                    <a:pt x="378965" y="296910"/>
                  </a:cubicBezTo>
                  <a:cubicBezTo>
                    <a:pt x="384795" y="296100"/>
                    <a:pt x="390583" y="294643"/>
                    <a:pt x="396129" y="292700"/>
                  </a:cubicBezTo>
                  <a:cubicBezTo>
                    <a:pt x="405480" y="326906"/>
                    <a:pt x="405643" y="373055"/>
                    <a:pt x="370221" y="391636"/>
                  </a:cubicBezTo>
                  <a:close/>
                  <a:moveTo>
                    <a:pt x="222141" y="235216"/>
                  </a:moveTo>
                  <a:cubicBezTo>
                    <a:pt x="231856" y="244932"/>
                    <a:pt x="242705" y="253878"/>
                    <a:pt x="254202" y="261934"/>
                  </a:cubicBezTo>
                  <a:cubicBezTo>
                    <a:pt x="280272" y="299582"/>
                    <a:pt x="297476" y="347430"/>
                    <a:pt x="284482" y="389855"/>
                  </a:cubicBezTo>
                  <a:cubicBezTo>
                    <a:pt x="234164" y="371881"/>
                    <a:pt x="184088" y="331724"/>
                    <a:pt x="154861" y="302496"/>
                  </a:cubicBezTo>
                  <a:cubicBezTo>
                    <a:pt x="125634" y="273228"/>
                    <a:pt x="85436" y="223193"/>
                    <a:pt x="67503" y="172916"/>
                  </a:cubicBezTo>
                  <a:cubicBezTo>
                    <a:pt x="109886" y="159921"/>
                    <a:pt x="157776" y="177085"/>
                    <a:pt x="195423" y="203155"/>
                  </a:cubicBezTo>
                  <a:cubicBezTo>
                    <a:pt x="203519" y="214652"/>
                    <a:pt x="212425" y="225501"/>
                    <a:pt x="222141" y="235216"/>
                  </a:cubicBezTo>
                  <a:close/>
                  <a:moveTo>
                    <a:pt x="173523" y="80254"/>
                  </a:moveTo>
                  <a:cubicBezTo>
                    <a:pt x="174049" y="74911"/>
                    <a:pt x="175061" y="69769"/>
                    <a:pt x="176518" y="64831"/>
                  </a:cubicBezTo>
                  <a:cubicBezTo>
                    <a:pt x="226351" y="81307"/>
                    <a:pt x="270880" y="112599"/>
                    <a:pt x="307799" y="149518"/>
                  </a:cubicBezTo>
                  <a:cubicBezTo>
                    <a:pt x="344718" y="186436"/>
                    <a:pt x="376010" y="230966"/>
                    <a:pt x="392486" y="280798"/>
                  </a:cubicBezTo>
                  <a:cubicBezTo>
                    <a:pt x="387547" y="282255"/>
                    <a:pt x="382406" y="283308"/>
                    <a:pt x="377063" y="283834"/>
                  </a:cubicBezTo>
                  <a:cubicBezTo>
                    <a:pt x="279584" y="293752"/>
                    <a:pt x="163564" y="177773"/>
                    <a:pt x="173482" y="80254"/>
                  </a:cubicBezTo>
                  <a:close/>
                  <a:moveTo>
                    <a:pt x="325368" y="36818"/>
                  </a:moveTo>
                  <a:cubicBezTo>
                    <a:pt x="349212" y="38518"/>
                    <a:pt x="371152" y="52727"/>
                    <a:pt x="388114" y="69243"/>
                  </a:cubicBezTo>
                  <a:cubicBezTo>
                    <a:pt x="404630" y="86245"/>
                    <a:pt x="418839" y="108186"/>
                    <a:pt x="420540" y="131989"/>
                  </a:cubicBezTo>
                  <a:cubicBezTo>
                    <a:pt x="421592" y="161662"/>
                    <a:pt x="393660" y="157614"/>
                    <a:pt x="374755" y="147251"/>
                  </a:cubicBezTo>
                  <a:cubicBezTo>
                    <a:pt x="361113" y="140166"/>
                    <a:pt x="348969" y="130127"/>
                    <a:pt x="338079" y="119238"/>
                  </a:cubicBezTo>
                  <a:cubicBezTo>
                    <a:pt x="327190" y="108348"/>
                    <a:pt x="317191" y="96204"/>
                    <a:pt x="310066" y="82562"/>
                  </a:cubicBezTo>
                  <a:cubicBezTo>
                    <a:pt x="299703" y="63657"/>
                    <a:pt x="295695" y="35765"/>
                    <a:pt x="325328" y="36818"/>
                  </a:cubicBezTo>
                  <a:close/>
                  <a:moveTo>
                    <a:pt x="240479" y="10505"/>
                  </a:moveTo>
                  <a:cubicBezTo>
                    <a:pt x="247077" y="9574"/>
                    <a:pt x="253716" y="9169"/>
                    <a:pt x="260274" y="9210"/>
                  </a:cubicBezTo>
                  <a:cubicBezTo>
                    <a:pt x="282175" y="12327"/>
                    <a:pt x="303670" y="18723"/>
                    <a:pt x="323992" y="28398"/>
                  </a:cubicBezTo>
                  <a:cubicBezTo>
                    <a:pt x="320106" y="28074"/>
                    <a:pt x="316179" y="28155"/>
                    <a:pt x="312293" y="28762"/>
                  </a:cubicBezTo>
                  <a:cubicBezTo>
                    <a:pt x="296181" y="31596"/>
                    <a:pt x="288287" y="47707"/>
                    <a:pt x="289542" y="62807"/>
                  </a:cubicBezTo>
                  <a:cubicBezTo>
                    <a:pt x="291566" y="89808"/>
                    <a:pt x="306504" y="113651"/>
                    <a:pt x="325085" y="132232"/>
                  </a:cubicBezTo>
                  <a:cubicBezTo>
                    <a:pt x="343666" y="150813"/>
                    <a:pt x="367550" y="165750"/>
                    <a:pt x="394510" y="167775"/>
                  </a:cubicBezTo>
                  <a:cubicBezTo>
                    <a:pt x="409650" y="169029"/>
                    <a:pt x="425721" y="161095"/>
                    <a:pt x="428555" y="145024"/>
                  </a:cubicBezTo>
                  <a:cubicBezTo>
                    <a:pt x="429162" y="141097"/>
                    <a:pt x="429243" y="137211"/>
                    <a:pt x="428919" y="133325"/>
                  </a:cubicBezTo>
                  <a:cubicBezTo>
                    <a:pt x="438594" y="153687"/>
                    <a:pt x="444990" y="175223"/>
                    <a:pt x="448107" y="197123"/>
                  </a:cubicBezTo>
                  <a:cubicBezTo>
                    <a:pt x="448188" y="203681"/>
                    <a:pt x="447783" y="210280"/>
                    <a:pt x="446812" y="216878"/>
                  </a:cubicBezTo>
                  <a:cubicBezTo>
                    <a:pt x="442683" y="245620"/>
                    <a:pt x="424507" y="268411"/>
                    <a:pt x="399044" y="278531"/>
                  </a:cubicBezTo>
                  <a:cubicBezTo>
                    <a:pt x="380544" y="228051"/>
                    <a:pt x="341925" y="179069"/>
                    <a:pt x="310066" y="147251"/>
                  </a:cubicBezTo>
                  <a:cubicBezTo>
                    <a:pt x="278207" y="115432"/>
                    <a:pt x="229266" y="76773"/>
                    <a:pt x="178785" y="58273"/>
                  </a:cubicBezTo>
                  <a:cubicBezTo>
                    <a:pt x="188906" y="32810"/>
                    <a:pt x="211737" y="14634"/>
                    <a:pt x="240439" y="10505"/>
                  </a:cubicBezTo>
                  <a:close/>
                  <a:moveTo>
                    <a:pt x="160407" y="78392"/>
                  </a:moveTo>
                  <a:cubicBezTo>
                    <a:pt x="154497" y="119480"/>
                    <a:pt x="167532" y="159881"/>
                    <a:pt x="189634" y="194452"/>
                  </a:cubicBezTo>
                  <a:cubicBezTo>
                    <a:pt x="152351" y="169353"/>
                    <a:pt x="107255" y="153120"/>
                    <a:pt x="64669" y="164253"/>
                  </a:cubicBezTo>
                  <a:cubicBezTo>
                    <a:pt x="56330" y="136968"/>
                    <a:pt x="54953" y="110089"/>
                    <a:pt x="65681" y="87095"/>
                  </a:cubicBezTo>
                  <a:cubicBezTo>
                    <a:pt x="84221" y="51674"/>
                    <a:pt x="130410" y="51836"/>
                    <a:pt x="164617" y="61187"/>
                  </a:cubicBezTo>
                  <a:cubicBezTo>
                    <a:pt x="162674" y="66774"/>
                    <a:pt x="161257" y="72522"/>
                    <a:pt x="160407" y="78392"/>
                  </a:cubicBezTo>
                  <a:close/>
                  <a:moveTo>
                    <a:pt x="218093" y="7226"/>
                  </a:moveTo>
                  <a:cubicBezTo>
                    <a:pt x="215785" y="7995"/>
                    <a:pt x="213518" y="8805"/>
                    <a:pt x="211211" y="9736"/>
                  </a:cubicBezTo>
                  <a:cubicBezTo>
                    <a:pt x="191254" y="18156"/>
                    <a:pt x="175871" y="34794"/>
                    <a:pt x="167248" y="54427"/>
                  </a:cubicBezTo>
                  <a:cubicBezTo>
                    <a:pt x="143931" y="47383"/>
                    <a:pt x="120614" y="44954"/>
                    <a:pt x="98875" y="49853"/>
                  </a:cubicBezTo>
                  <a:cubicBezTo>
                    <a:pt x="98106" y="50015"/>
                    <a:pt x="97378" y="50217"/>
                    <a:pt x="96649" y="50419"/>
                  </a:cubicBezTo>
                  <a:cubicBezTo>
                    <a:pt x="132758" y="23661"/>
                    <a:pt x="175183" y="9250"/>
                    <a:pt x="218093" y="7226"/>
                  </a:cubicBezTo>
                  <a:close/>
                  <a:moveTo>
                    <a:pt x="48395" y="99483"/>
                  </a:moveTo>
                  <a:cubicBezTo>
                    <a:pt x="46129" y="107660"/>
                    <a:pt x="44995" y="116404"/>
                    <a:pt x="45076" y="125431"/>
                  </a:cubicBezTo>
                  <a:cubicBezTo>
                    <a:pt x="45278" y="139964"/>
                    <a:pt x="47464" y="154537"/>
                    <a:pt x="51229" y="168868"/>
                  </a:cubicBezTo>
                  <a:cubicBezTo>
                    <a:pt x="29491" y="178421"/>
                    <a:pt x="13905" y="197933"/>
                    <a:pt x="7145" y="220360"/>
                  </a:cubicBezTo>
                  <a:cubicBezTo>
                    <a:pt x="8724" y="177773"/>
                    <a:pt x="22487" y="135592"/>
                    <a:pt x="48395" y="99483"/>
                  </a:cubicBezTo>
                  <a:close/>
                  <a:moveTo>
                    <a:pt x="115837" y="405197"/>
                  </a:moveTo>
                  <a:cubicBezTo>
                    <a:pt x="102762" y="397668"/>
                    <a:pt x="91103" y="387669"/>
                    <a:pt x="80416" y="376982"/>
                  </a:cubicBezTo>
                  <a:cubicBezTo>
                    <a:pt x="69729" y="366295"/>
                    <a:pt x="59730" y="354636"/>
                    <a:pt x="52201" y="341561"/>
                  </a:cubicBezTo>
                  <a:cubicBezTo>
                    <a:pt x="41675" y="324154"/>
                    <a:pt x="34105" y="295736"/>
                    <a:pt x="64102" y="299096"/>
                  </a:cubicBezTo>
                  <a:cubicBezTo>
                    <a:pt x="87136" y="302456"/>
                    <a:pt x="108227" y="316381"/>
                    <a:pt x="124621" y="332776"/>
                  </a:cubicBezTo>
                  <a:cubicBezTo>
                    <a:pt x="141017" y="349171"/>
                    <a:pt x="154982" y="370221"/>
                    <a:pt x="158302" y="393296"/>
                  </a:cubicBezTo>
                  <a:cubicBezTo>
                    <a:pt x="161662" y="423333"/>
                    <a:pt x="133203" y="415722"/>
                    <a:pt x="115837" y="405197"/>
                  </a:cubicBezTo>
                  <a:close/>
                  <a:moveTo>
                    <a:pt x="219915" y="440294"/>
                  </a:moveTo>
                  <a:cubicBezTo>
                    <a:pt x="195261" y="441954"/>
                    <a:pt x="171296" y="436165"/>
                    <a:pt x="149032" y="425923"/>
                  </a:cubicBezTo>
                  <a:cubicBezTo>
                    <a:pt x="158504" y="423373"/>
                    <a:pt x="166196" y="416653"/>
                    <a:pt x="167329" y="405359"/>
                  </a:cubicBezTo>
                  <a:cubicBezTo>
                    <a:pt x="169313" y="377225"/>
                    <a:pt x="145388" y="349050"/>
                    <a:pt x="126848" y="330509"/>
                  </a:cubicBezTo>
                  <a:cubicBezTo>
                    <a:pt x="108308" y="311969"/>
                    <a:pt x="80092" y="288004"/>
                    <a:pt x="51998" y="290028"/>
                  </a:cubicBezTo>
                  <a:cubicBezTo>
                    <a:pt x="40704" y="291202"/>
                    <a:pt x="33984" y="298893"/>
                    <a:pt x="31434" y="308325"/>
                  </a:cubicBezTo>
                  <a:cubicBezTo>
                    <a:pt x="21192" y="286061"/>
                    <a:pt x="15403" y="262096"/>
                    <a:pt x="17063" y="237443"/>
                  </a:cubicBezTo>
                  <a:cubicBezTo>
                    <a:pt x="18723" y="213033"/>
                    <a:pt x="32162" y="189837"/>
                    <a:pt x="53901" y="178340"/>
                  </a:cubicBezTo>
                  <a:cubicBezTo>
                    <a:pt x="70053" y="230197"/>
                    <a:pt x="105636" y="279300"/>
                    <a:pt x="141826" y="315531"/>
                  </a:cubicBezTo>
                  <a:cubicBezTo>
                    <a:pt x="178016" y="351762"/>
                    <a:pt x="227161" y="387304"/>
                    <a:pt x="279017" y="403456"/>
                  </a:cubicBezTo>
                  <a:cubicBezTo>
                    <a:pt x="267521" y="425235"/>
                    <a:pt x="244284" y="438675"/>
                    <a:pt x="219874" y="440294"/>
                  </a:cubicBezTo>
                  <a:close/>
                  <a:moveTo>
                    <a:pt x="237038" y="450212"/>
                  </a:moveTo>
                  <a:cubicBezTo>
                    <a:pt x="259465" y="443411"/>
                    <a:pt x="278977" y="427826"/>
                    <a:pt x="288530" y="406128"/>
                  </a:cubicBezTo>
                  <a:cubicBezTo>
                    <a:pt x="302901" y="409893"/>
                    <a:pt x="317434" y="412119"/>
                    <a:pt x="332007" y="412281"/>
                  </a:cubicBezTo>
                  <a:cubicBezTo>
                    <a:pt x="340994" y="412362"/>
                    <a:pt x="349738" y="411269"/>
                    <a:pt x="357915" y="408962"/>
                  </a:cubicBezTo>
                  <a:cubicBezTo>
                    <a:pt x="321806" y="434870"/>
                    <a:pt x="279624" y="448593"/>
                    <a:pt x="237079" y="450212"/>
                  </a:cubicBezTo>
                  <a:close/>
                </a:path>
              </a:pathLst>
            </a:custGeom>
            <a:solidFill>
              <a:srgbClr val="FFFFFF"/>
            </a:solidFill>
            <a:ln w="404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50" name="Title 1">
            <a:extLst>
              <a:ext uri="{FF2B5EF4-FFF2-40B4-BE49-F238E27FC236}">
                <a16:creationId xmlns="" xmlns:a16="http://schemas.microsoft.com/office/drawing/2014/main" id="{F7B1E77B-0D57-0CD5-6D9D-E5054C1DB2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2206020"/>
            <a:ext cx="4895849" cy="1273536"/>
          </a:xfrm>
        </p:spPr>
        <p:txBody>
          <a:bodyPr anchor="b"/>
          <a:lstStyle>
            <a:lvl1pPr>
              <a:lnSpc>
                <a:spcPts val="4500"/>
              </a:lnSpc>
              <a:defRPr sz="45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ru-RU" dirty="0"/>
              <a:t>Заключительный</a:t>
            </a:r>
            <a:r>
              <a:rPr lang="en-US" dirty="0"/>
              <a:t> </a:t>
            </a:r>
            <a:r>
              <a:rPr lang="ru-RU" dirty="0"/>
              <a:t>слайд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981177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4_Заголовок и объек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>
            <a:extLst>
              <a:ext uri="{FF2B5EF4-FFF2-40B4-BE49-F238E27FC236}">
                <a16:creationId xmlns="" xmlns:a16="http://schemas.microsoft.com/office/drawing/2014/main" id="{F7B1E77B-0D57-0CD5-6D9D-E5054C1DB2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2206020"/>
            <a:ext cx="4895849" cy="1273536"/>
          </a:xfrm>
        </p:spPr>
        <p:txBody>
          <a:bodyPr anchor="b"/>
          <a:lstStyle>
            <a:lvl1pPr>
              <a:lnSpc>
                <a:spcPts val="4500"/>
              </a:lnSpc>
              <a:defRPr sz="45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ru-RU" dirty="0"/>
              <a:t>Заключительный</a:t>
            </a:r>
            <a:r>
              <a:rPr lang="en-US" dirty="0"/>
              <a:t> </a:t>
            </a:r>
            <a:r>
              <a:rPr lang="ru-RU" dirty="0"/>
              <a:t>слайд</a:t>
            </a:r>
            <a:endParaRPr lang="en-US" dirty="0"/>
          </a:p>
        </p:txBody>
      </p:sp>
      <p:pic>
        <p:nvPicPr>
          <p:cNvPr id="2" name="Рисунок 1">
            <a:extLst>
              <a:ext uri="{FF2B5EF4-FFF2-40B4-BE49-F238E27FC236}">
                <a16:creationId xmlns="" xmlns:a16="http://schemas.microsoft.com/office/drawing/2014/main" id="{C37AF724-7B52-4278-EF40-D4417A4B17A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371475" y="369395"/>
            <a:ext cx="3351031" cy="51873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="" xmlns:a16="http://schemas.microsoft.com/office/drawing/2014/main" id="{15F4E7BC-4CC6-9D83-5AF5-DA8FE9F2599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367154" y="6112841"/>
            <a:ext cx="3354418" cy="376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67083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85B1E75-BA47-43C5-A980-92045D445C18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E85A003-3EBD-471E-9B26-6A594E9A2E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688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5627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98" r:id="rId2"/>
    <p:sldLayoutId id="2147483756" r:id="rId3"/>
    <p:sldLayoutId id="2147483757" r:id="rId4"/>
    <p:sldLayoutId id="2147483758" r:id="rId5"/>
    <p:sldLayoutId id="2147483759" r:id="rId6"/>
    <p:sldLayoutId id="2147483760" r:id="rId7"/>
    <p:sldLayoutId id="2147483761" r:id="rId8"/>
    <p:sldLayoutId id="2147483762" r:id="rId9"/>
    <p:sldLayoutId id="2147483763" r:id="rId10"/>
    <p:sldLayoutId id="2147483764" r:id="rId11"/>
    <p:sldLayoutId id="2147483765" r:id="rId12"/>
    <p:sldLayoutId id="2147483766" r:id="rId13"/>
    <p:sldLayoutId id="2147483767" r:id="rId14"/>
    <p:sldLayoutId id="2147483772" r:id="rId15"/>
    <p:sldLayoutId id="2147483768" r:id="rId16"/>
    <p:sldLayoutId id="2147483794" r:id="rId17"/>
    <p:sldLayoutId id="2147483770" r:id="rId18"/>
    <p:sldLayoutId id="2147483789" r:id="rId19"/>
    <p:sldLayoutId id="2147483783" r:id="rId20"/>
    <p:sldLayoutId id="2147483784" r:id="rId21"/>
    <p:sldLayoutId id="2147483785" r:id="rId22"/>
    <p:sldLayoutId id="2147483786" r:id="rId23"/>
    <p:sldLayoutId id="2147483795" r:id="rId24"/>
    <p:sldLayoutId id="2147483796" r:id="rId25"/>
    <p:sldLayoutId id="2147483797" r:id="rId26"/>
    <p:sldLayoutId id="2147483799" r:id="rId27"/>
    <p:sldLayoutId id="2147483800" r:id="rId28"/>
  </p:sldLayoutIdLst>
  <p:hf hdr="0"/>
  <p:txStyles>
    <p:titleStyle>
      <a:lvl1pPr algn="l" defTabSz="914400" rtl="0" eaLnBrk="1" latinLnBrk="0" hangingPunct="1">
        <a:lnSpc>
          <a:spcPts val="4500"/>
        </a:lnSpc>
        <a:spcBef>
          <a:spcPct val="0"/>
        </a:spcBef>
        <a:buNone/>
        <a:defRPr sz="4500" b="0" i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bg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bg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bg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bg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bg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46" userDrawn="1">
          <p15:clr>
            <a:srgbClr val="F26B43"/>
          </p15:clr>
        </p15:guide>
        <p15:guide id="3" orient="horz" pos="232" userDrawn="1">
          <p15:clr>
            <a:srgbClr val="F26B43"/>
          </p15:clr>
        </p15:guide>
        <p15:guide id="4" orient="horz" pos="4088" userDrawn="1">
          <p15:clr>
            <a:srgbClr val="F26B43"/>
          </p15:clr>
        </p15:guide>
        <p15:guide id="5" pos="710" userDrawn="1">
          <p15:clr>
            <a:srgbClr val="F26B43"/>
          </p15:clr>
        </p15:guide>
        <p15:guide id="6" pos="846" userDrawn="1">
          <p15:clr>
            <a:srgbClr val="F26B43"/>
          </p15:clr>
        </p15:guide>
        <p15:guide id="7" pos="1323" userDrawn="1">
          <p15:clr>
            <a:srgbClr val="F26B43"/>
          </p15:clr>
        </p15:guide>
        <p15:guide id="8" pos="1459" userDrawn="1">
          <p15:clr>
            <a:srgbClr val="F26B43"/>
          </p15:clr>
        </p15:guide>
        <p15:guide id="9" pos="1935" userDrawn="1">
          <p15:clr>
            <a:srgbClr val="F26B43"/>
          </p15:clr>
        </p15:guide>
        <p15:guide id="10" pos="2071" userDrawn="1">
          <p15:clr>
            <a:srgbClr val="F26B43"/>
          </p15:clr>
        </p15:guide>
        <p15:guide id="11" pos="2547" userDrawn="1">
          <p15:clr>
            <a:srgbClr val="F26B43"/>
          </p15:clr>
        </p15:guide>
        <p15:guide id="12" pos="2683" userDrawn="1">
          <p15:clr>
            <a:srgbClr val="F26B43"/>
          </p15:clr>
        </p15:guide>
        <p15:guide id="13" pos="3160" userDrawn="1">
          <p15:clr>
            <a:srgbClr val="F26B43"/>
          </p15:clr>
        </p15:guide>
        <p15:guide id="14" pos="3296" userDrawn="1">
          <p15:clr>
            <a:srgbClr val="F26B43"/>
          </p15:clr>
        </p15:guide>
        <p15:guide id="15" pos="3772" userDrawn="1">
          <p15:clr>
            <a:srgbClr val="F26B43"/>
          </p15:clr>
        </p15:guide>
        <p15:guide id="16" pos="3908" userDrawn="1">
          <p15:clr>
            <a:srgbClr val="F26B43"/>
          </p15:clr>
        </p15:guide>
        <p15:guide id="17" pos="4384" userDrawn="1">
          <p15:clr>
            <a:srgbClr val="F26B43"/>
          </p15:clr>
        </p15:guide>
        <p15:guide id="18" pos="4520" userDrawn="1">
          <p15:clr>
            <a:srgbClr val="F26B43"/>
          </p15:clr>
        </p15:guide>
        <p15:guide id="19" pos="4997" userDrawn="1">
          <p15:clr>
            <a:srgbClr val="F26B43"/>
          </p15:clr>
        </p15:guide>
        <p15:guide id="20" pos="5133" userDrawn="1">
          <p15:clr>
            <a:srgbClr val="F26B43"/>
          </p15:clr>
        </p15:guide>
        <p15:guide id="21" pos="5609" userDrawn="1">
          <p15:clr>
            <a:srgbClr val="F26B43"/>
          </p15:clr>
        </p15:guide>
        <p15:guide id="22" pos="5745" userDrawn="1">
          <p15:clr>
            <a:srgbClr val="F26B43"/>
          </p15:clr>
        </p15:guide>
        <p15:guide id="23" pos="6357" userDrawn="1">
          <p15:clr>
            <a:srgbClr val="F26B43"/>
          </p15:clr>
        </p15:guide>
        <p15:guide id="24" pos="6834" userDrawn="1">
          <p15:clr>
            <a:srgbClr val="F26B43"/>
          </p15:clr>
        </p15:guide>
        <p15:guide id="25" pos="6221" userDrawn="1">
          <p15:clr>
            <a:srgbClr val="F26B43"/>
          </p15:clr>
        </p15:guide>
        <p15:guide id="26" pos="697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jp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3.jpe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.xml"/><Relationship Id="rId10" Type="http://schemas.openxmlformats.org/officeDocument/2006/relationships/image" Target="../media/yug_TbFilterOff_4BAF46.png"/><Relationship Id="rId11" Type="http://schemas.openxmlformats.org/officeDocument/2006/relationships/image" Target="../media/yug_TbSearch_4BAF46.png"/><Relationship Id="rId12" Type="http://schemas.openxmlformats.org/officeDocument/2006/relationships/image" Target="../media/yug_TbStack2_4BAF46.png"/><Relationship Id="rId13" Type="http://schemas.openxmlformats.org/officeDocument/2006/relationships/image" Target="../media/yug_TbCalendarTime_4BAF46.png"/><Relationship Id="rId14" Type="http://schemas.openxmlformats.org/officeDocument/2006/relationships/image" Target="../media/yug_TbTool_4BAF46.png"/><Relationship Id="rId15" Type="http://schemas.openxmlformats.org/officeDocument/2006/relationships/image" Target="../media/yug_TbChartLine_4BAF46.png"/><Relationship Id="rId16" Type="http://schemas.openxmlformats.org/officeDocument/2006/relationships/image" Target="../media/yug_TbRoute_4BAF46.png"/><Relationship Id="rId17" Type="http://schemas.openxmlformats.org/officeDocument/2006/relationships/image" Target="../media/yug_TbDroplet_4BAF46.png"/><Relationship Id="rId18" Type="http://schemas.openxmlformats.org/officeDocument/2006/relationships/image" Target="../media/yug_TbBolt_4BAF46.png"/><Relationship Id="rId19" Type="http://schemas.openxmlformats.org/officeDocument/2006/relationships/image" Target="../media/yug_TbCash_4BAF46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31.png"/><Relationship Id="rId4" Type="http://schemas.openxmlformats.org/officeDocument/2006/relationships/image" Target="../media/image3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32.png"/><Relationship Id="rId4" Type="http://schemas.openxmlformats.org/officeDocument/2006/relationships/image" Target="../media/image38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Проблематика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/>
              <a:t>Б</a:t>
            </a:r>
            <a:r>
              <a:rPr lang="ru-RU" dirty="0" smtClean="0"/>
              <a:t>урение </a:t>
            </a:r>
            <a:r>
              <a:rPr lang="ru-RU" dirty="0"/>
              <a:t>с поглощением снижает </a:t>
            </a:r>
            <a:r>
              <a:rPr lang="ru-RU" dirty="0" smtClean="0"/>
              <a:t>дебит </a:t>
            </a:r>
            <a:r>
              <a:rPr lang="ru-RU" dirty="0" smtClean="0"/>
              <a:t>геотермальной скважины</a:t>
            </a:r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10"/>
          </p:nvPr>
        </p:nvSpPr>
        <p:spPr/>
        <p:txBody>
          <a:bodyPr/>
          <a:lstStyle/>
          <a:p>
            <a:r>
              <a:rPr lang="ru-RU" dirty="0"/>
              <a:t>Новые технологии бурения геотермальных скважин · Мутновское месторождение</a:t>
            </a:r>
          </a:p>
        </p:txBody>
      </p:sp>
      <p:sp>
        <p:nvSpPr>
          <p:cNvPr id="11" name="Фигура 11"/>
          <p:cNvSpPr/>
          <p:nvPr/>
        </p:nvSpPr>
        <p:spPr>
          <a:xfrm>
            <a:off x="371364" y="1480000"/>
            <a:ext cx="11448752" cy="7600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pic>
        <p:nvPicPr>
          <p:cNvPr id="12" name="Иконка 12" descr="TbFlame_FFFF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364" y="1650000"/>
            <a:ext cx="420000" cy="4200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151364" y="1480000"/>
            <a:ext cx="10548752" cy="7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500" b="1" dirty="0">
                <a:solidFill>
                  <a:srgbClr val="FFFFFF"/>
                </a:solidFill>
                <a:latin typeface="+mn-lt"/>
              </a:rPr>
              <a:t>Главный результат БРД: дебит пароводяной смеси в «первоначальном» виде</a:t>
            </a:r>
          </a:p>
          <a:p>
            <a:pPr algn="l">
              <a:spcBef>
                <a:spcPts val="200"/>
              </a:spcBef>
              <a:buNone/>
            </a:pPr>
            <a:r>
              <a:rPr lang="ru-RU" sz="1050" b="0" dirty="0">
                <a:solidFill>
                  <a:srgbClr val="FFFFFF"/>
                </a:solidFill>
                <a:latin typeface="+mn-lt"/>
              </a:rPr>
              <a:t>Коллектор не охлаждён и не закольматирован — скважина отдаёт </a:t>
            </a:r>
            <a:r>
              <a:rPr lang="ru-RU" sz="1050" b="0" dirty="0" smtClean="0">
                <a:solidFill>
                  <a:srgbClr val="FFFFFF"/>
                </a:solidFill>
                <a:latin typeface="+mn-lt"/>
              </a:rPr>
              <a:t>ПВС сразу </a:t>
            </a:r>
            <a:r>
              <a:rPr lang="ru-RU" sz="1050" b="0" dirty="0">
                <a:solidFill>
                  <a:srgbClr val="FFFFFF"/>
                </a:solidFill>
                <a:latin typeface="+mn-lt"/>
              </a:rPr>
              <a:t>при освоении и в объёме, который определяет пласт, а не последствия бурения.</a:t>
            </a:r>
          </a:p>
        </p:txBody>
      </p:sp>
      <p:sp>
        <p:nvSpPr>
          <p:cNvPr id="14" name="Фигура 14"/>
          <p:cNvSpPr/>
          <p:nvPr/>
        </p:nvSpPr>
        <p:spPr>
          <a:xfrm>
            <a:off x="371364" y="2390000"/>
            <a:ext cx="11448752" cy="32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5" name="TextBox 15"/>
          <p:cNvSpPr txBox="1"/>
          <p:nvPr/>
        </p:nvSpPr>
        <p:spPr>
          <a:xfrm>
            <a:off x="491364" y="2390000"/>
            <a:ext cx="2150000" cy="3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50" b="1" dirty="0">
                <a:solidFill>
                  <a:srgbClr val="00326E"/>
                </a:solidFill>
                <a:latin typeface="+mn-lt"/>
              </a:rPr>
              <a:t>Фактор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841364" y="2390000"/>
            <a:ext cx="4200000" cy="3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50" b="1" dirty="0">
                <a:solidFill>
                  <a:srgbClr val="00326E"/>
                </a:solidFill>
                <a:latin typeface="+mn-lt"/>
              </a:rPr>
              <a:t>Бурение продуктивной зоны с поглощением (сейчас)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241364" y="2390000"/>
            <a:ext cx="4498752" cy="3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50" b="1" dirty="0">
                <a:solidFill>
                  <a:srgbClr val="00326E"/>
                </a:solidFill>
                <a:latin typeface="+mn-lt"/>
              </a:rPr>
              <a:t>Бурение на депрессии (БРД)</a:t>
            </a:r>
          </a:p>
        </p:txBody>
      </p:sp>
      <p:pic>
        <p:nvPicPr>
          <p:cNvPr id="18" name="Иконка 18" descr="TbTemperatureMinus_4BAF4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364" y="2930000"/>
            <a:ext cx="320000" cy="3200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871364" y="2750000"/>
            <a:ext cx="1790000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100" b="1" dirty="0">
                <a:solidFill>
                  <a:srgbClr val="00326E"/>
                </a:solidFill>
                <a:latin typeface="+mn-lt"/>
              </a:rPr>
              <a:t>Температура коллектора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841364" y="2750000"/>
            <a:ext cx="4200000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0" dirty="0">
                <a:solidFill>
                  <a:schemeClr val="bg2"/>
                </a:solidFill>
                <a:latin typeface="+mn-lt"/>
              </a:rPr>
              <a:t>Холодная техническая вода уходит в зону, где сосредоточены горячая вода и пар: коллектор охлаждается, нужен длительный повторный прогрев; при охлаждении падает растворимость кремнезёма</a:t>
            </a:r>
          </a:p>
        </p:txBody>
      </p:sp>
      <p:sp>
        <p:nvSpPr>
          <p:cNvPr id="21" name="Фигура 21"/>
          <p:cNvSpPr/>
          <p:nvPr/>
        </p:nvSpPr>
        <p:spPr>
          <a:xfrm>
            <a:off x="7121364" y="2790000"/>
            <a:ext cx="4698752" cy="600000"/>
          </a:xfrm>
          <a:prstGeom prst="rect">
            <a:avLst/>
          </a:prstGeom>
          <a:solidFill>
            <a:srgbClr val="EAF5E9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2" name="TextBox 22"/>
          <p:cNvSpPr txBox="1"/>
          <p:nvPr/>
        </p:nvSpPr>
        <p:spPr>
          <a:xfrm>
            <a:off x="7241364" y="2750000"/>
            <a:ext cx="4498752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0" dirty="0">
                <a:solidFill>
                  <a:srgbClr val="0A5C1E"/>
                </a:solidFill>
                <a:latin typeface="+mn-lt"/>
              </a:rPr>
              <a:t>Промывочная жидкость возвращается на поверхность — коллектор не охлаждается, прогрев не требуется</a:t>
            </a:r>
          </a:p>
        </p:txBody>
      </p:sp>
      <p:sp>
        <p:nvSpPr>
          <p:cNvPr id="23" name="Фигура 23"/>
          <p:cNvSpPr/>
          <p:nvPr/>
        </p:nvSpPr>
        <p:spPr>
          <a:xfrm>
            <a:off x="371364" y="3430000"/>
            <a:ext cx="11448752" cy="680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pic>
        <p:nvPicPr>
          <p:cNvPr id="24" name="Иконка 24" descr="TbFilterOff_4BAF4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364" y="3610000"/>
            <a:ext cx="320000" cy="320000"/>
          </a:xfrm>
          <a:prstGeom prst="rect">
            <a:avLst/>
          </a:prstGeom>
        </p:spPr>
      </p:pic>
      <p:sp>
        <p:nvSpPr>
          <p:cNvPr id="25" name="TextBox 25"/>
          <p:cNvSpPr txBox="1"/>
          <p:nvPr/>
        </p:nvSpPr>
        <p:spPr>
          <a:xfrm>
            <a:off x="871364" y="3430000"/>
            <a:ext cx="1790000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100" b="1" dirty="0">
                <a:solidFill>
                  <a:srgbClr val="00326E"/>
                </a:solidFill>
                <a:latin typeface="+mn-lt"/>
              </a:rPr>
              <a:t>Проницаемость трещин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841364" y="3430000"/>
            <a:ext cx="4200000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0" dirty="0">
                <a:solidFill>
                  <a:schemeClr val="bg2"/>
                </a:solidFill>
                <a:latin typeface="+mn-lt"/>
              </a:rPr>
              <a:t>Шлам не выносится на устье и уходит в трещины; вместе с осаждающимся кремнезёмом формирует плотную закупорку — дебит снижается</a:t>
            </a:r>
          </a:p>
        </p:txBody>
      </p:sp>
      <p:sp>
        <p:nvSpPr>
          <p:cNvPr id="27" name="Фигура 27"/>
          <p:cNvSpPr/>
          <p:nvPr/>
        </p:nvSpPr>
        <p:spPr>
          <a:xfrm>
            <a:off x="7121364" y="3470000"/>
            <a:ext cx="4698752" cy="600000"/>
          </a:xfrm>
          <a:prstGeom prst="rect">
            <a:avLst/>
          </a:prstGeom>
          <a:solidFill>
            <a:srgbClr val="EAF5E9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8" name="TextBox 28"/>
          <p:cNvSpPr txBox="1"/>
          <p:nvPr/>
        </p:nvSpPr>
        <p:spPr>
          <a:xfrm>
            <a:off x="7241364" y="3430000"/>
            <a:ext cx="4498752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0" dirty="0">
                <a:solidFill>
                  <a:srgbClr val="0A5C1E"/>
                </a:solidFill>
                <a:latin typeface="+mn-lt"/>
              </a:rPr>
              <a:t>Шлам выносится на поверхность, трещины остаются открытыми</a:t>
            </a:r>
          </a:p>
        </p:txBody>
      </p:sp>
      <p:pic>
        <p:nvPicPr>
          <p:cNvPr id="29" name="Иконка 29" descr="TbGauge_4BAF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364" y="4290000"/>
            <a:ext cx="320000" cy="320000"/>
          </a:xfrm>
          <a:prstGeom prst="rect">
            <a:avLst/>
          </a:prstGeom>
        </p:spPr>
      </p:pic>
      <p:sp>
        <p:nvSpPr>
          <p:cNvPr id="30" name="TextBox 30"/>
          <p:cNvSpPr txBox="1"/>
          <p:nvPr/>
        </p:nvSpPr>
        <p:spPr>
          <a:xfrm>
            <a:off x="871364" y="4110000"/>
            <a:ext cx="1790000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100" b="1" dirty="0">
                <a:solidFill>
                  <a:srgbClr val="00326E"/>
                </a:solidFill>
                <a:latin typeface="+mn-lt"/>
              </a:rPr>
              <a:t>Скорость и долота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841364" y="4110000"/>
            <a:ext cx="4200000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0" dirty="0">
                <a:solidFill>
                  <a:schemeClr val="bg2"/>
                </a:solidFill>
                <a:latin typeface="+mn-lt"/>
              </a:rPr>
              <a:t>Высокое забойное давление, повторное измельчение шлама, </a:t>
            </a:r>
            <a:r>
              <a:rPr lang="ru-RU" sz="950" b="0" dirty="0" smtClean="0">
                <a:solidFill>
                  <a:schemeClr val="bg2"/>
                </a:solidFill>
                <a:latin typeface="+mn-lt"/>
              </a:rPr>
              <a:t>время на проработку </a:t>
            </a:r>
            <a:r>
              <a:rPr lang="ru-RU" sz="950" b="0" dirty="0" err="1" smtClean="0">
                <a:solidFill>
                  <a:schemeClr val="bg2"/>
                </a:solidFill>
                <a:latin typeface="+mn-lt"/>
              </a:rPr>
              <a:t>призабойной</a:t>
            </a:r>
            <a:r>
              <a:rPr lang="ru-RU" sz="950" b="0" dirty="0" smtClean="0">
                <a:solidFill>
                  <a:schemeClr val="bg2"/>
                </a:solidFill>
                <a:latin typeface="+mn-lt"/>
              </a:rPr>
              <a:t> зоны при </a:t>
            </a:r>
            <a:r>
              <a:rPr lang="ru-RU" sz="950" b="0" dirty="0">
                <a:solidFill>
                  <a:schemeClr val="bg2"/>
                </a:solidFill>
                <a:latin typeface="+mn-lt"/>
              </a:rPr>
              <a:t>плохой очистке</a:t>
            </a:r>
          </a:p>
        </p:txBody>
      </p:sp>
      <p:sp>
        <p:nvSpPr>
          <p:cNvPr id="32" name="Фигура 32"/>
          <p:cNvSpPr/>
          <p:nvPr/>
        </p:nvSpPr>
        <p:spPr>
          <a:xfrm>
            <a:off x="7121364" y="4150000"/>
            <a:ext cx="4698752" cy="600000"/>
          </a:xfrm>
          <a:prstGeom prst="rect">
            <a:avLst/>
          </a:prstGeom>
          <a:solidFill>
            <a:srgbClr val="EAF5E9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3" name="TextBox 33"/>
          <p:cNvSpPr txBox="1"/>
          <p:nvPr/>
        </p:nvSpPr>
        <p:spPr>
          <a:xfrm>
            <a:off x="7241364" y="4110000"/>
            <a:ext cx="4498752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0" dirty="0">
                <a:solidFill>
                  <a:srgbClr val="0A5C1E"/>
                </a:solidFill>
                <a:latin typeface="+mn-lt"/>
              </a:rPr>
              <a:t>Меньше забойное давление и лучше очистка забоя азотированной жидкостью: выше механическая скорость, </a:t>
            </a:r>
            <a:r>
              <a:rPr lang="ru-RU" sz="950" b="0" dirty="0" smtClean="0">
                <a:solidFill>
                  <a:srgbClr val="0A5C1E"/>
                </a:solidFill>
                <a:latin typeface="+mn-lt"/>
              </a:rPr>
              <a:t>выше стойкость </a:t>
            </a:r>
            <a:r>
              <a:rPr lang="ru-RU" sz="950" b="0" dirty="0">
                <a:solidFill>
                  <a:srgbClr val="0A5C1E"/>
                </a:solidFill>
                <a:latin typeface="+mn-lt"/>
              </a:rPr>
              <a:t>долот, меньше их расход</a:t>
            </a:r>
          </a:p>
        </p:txBody>
      </p:sp>
      <p:sp>
        <p:nvSpPr>
          <p:cNvPr id="34" name="Фигура 34"/>
          <p:cNvSpPr/>
          <p:nvPr/>
        </p:nvSpPr>
        <p:spPr>
          <a:xfrm>
            <a:off x="371364" y="4790000"/>
            <a:ext cx="11448752" cy="680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pic>
        <p:nvPicPr>
          <p:cNvPr id="35" name="Иконка 35" descr="TbDroplet_4BAF4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364" y="4970000"/>
            <a:ext cx="320000" cy="320000"/>
          </a:xfrm>
          <a:prstGeom prst="rect">
            <a:avLst/>
          </a:prstGeom>
        </p:spPr>
      </p:pic>
      <p:sp>
        <p:nvSpPr>
          <p:cNvPr id="36" name="TextBox 36"/>
          <p:cNvSpPr txBox="1"/>
          <p:nvPr/>
        </p:nvSpPr>
        <p:spPr>
          <a:xfrm>
            <a:off x="871364" y="4790000"/>
            <a:ext cx="1790000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100" b="1" dirty="0">
                <a:solidFill>
                  <a:srgbClr val="00326E"/>
                </a:solidFill>
                <a:latin typeface="+mn-lt"/>
              </a:rPr>
              <a:t>Вода и логистика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2841364" y="4790000"/>
            <a:ext cx="4200000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0" dirty="0">
                <a:solidFill>
                  <a:schemeClr val="bg2"/>
                </a:solidFill>
                <a:latin typeface="+mn-lt"/>
              </a:rPr>
              <a:t>Большие объёмы воды </a:t>
            </a:r>
            <a:r>
              <a:rPr lang="ru-RU" sz="950" b="0" dirty="0" smtClean="0">
                <a:solidFill>
                  <a:schemeClr val="bg2"/>
                </a:solidFill>
                <a:latin typeface="+mn-lt"/>
              </a:rPr>
              <a:t>поглощаются пластом; </a:t>
            </a:r>
            <a:r>
              <a:rPr lang="ru-RU" sz="950" b="0" dirty="0">
                <a:solidFill>
                  <a:schemeClr val="bg2"/>
                </a:solidFill>
                <a:latin typeface="+mn-lt"/>
              </a:rPr>
              <a:t>простои на набор воды, </a:t>
            </a:r>
            <a:r>
              <a:rPr lang="ru-RU" sz="950" b="0" dirty="0" smtClean="0">
                <a:solidFill>
                  <a:schemeClr val="bg2"/>
                </a:solidFill>
                <a:latin typeface="+mn-lt"/>
              </a:rPr>
              <a:t>затраты на завоз воды автоцистернами</a:t>
            </a:r>
            <a:endParaRPr lang="ru-RU" sz="950" b="0" dirty="0">
              <a:solidFill>
                <a:schemeClr val="bg2"/>
              </a:solidFill>
              <a:latin typeface="+mn-lt"/>
            </a:endParaRPr>
          </a:p>
        </p:txBody>
      </p:sp>
      <p:sp>
        <p:nvSpPr>
          <p:cNvPr id="38" name="Фигура 38"/>
          <p:cNvSpPr/>
          <p:nvPr/>
        </p:nvSpPr>
        <p:spPr>
          <a:xfrm>
            <a:off x="7121364" y="4830000"/>
            <a:ext cx="4698752" cy="600000"/>
          </a:xfrm>
          <a:prstGeom prst="rect">
            <a:avLst/>
          </a:prstGeom>
          <a:solidFill>
            <a:srgbClr val="EAF5E9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9" name="TextBox 39"/>
          <p:cNvSpPr txBox="1"/>
          <p:nvPr/>
        </p:nvSpPr>
        <p:spPr>
          <a:xfrm>
            <a:off x="7241364" y="4790000"/>
            <a:ext cx="4498752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0" dirty="0">
                <a:solidFill>
                  <a:srgbClr val="0A5C1E"/>
                </a:solidFill>
                <a:latin typeface="+mn-lt"/>
              </a:rPr>
              <a:t>Вода возвращается в цикл: меньше расход, простоев и транспортных затрат</a:t>
            </a:r>
          </a:p>
        </p:txBody>
      </p:sp>
      <p:pic>
        <p:nvPicPr>
          <p:cNvPr id="40" name="Иконка 40" descr="TbGasStation_4BAF4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1364" y="5650000"/>
            <a:ext cx="320000" cy="320000"/>
          </a:xfrm>
          <a:prstGeom prst="rect">
            <a:avLst/>
          </a:prstGeom>
        </p:spPr>
      </p:pic>
      <p:sp>
        <p:nvSpPr>
          <p:cNvPr id="41" name="TextBox 41"/>
          <p:cNvSpPr txBox="1"/>
          <p:nvPr/>
        </p:nvSpPr>
        <p:spPr>
          <a:xfrm>
            <a:off x="871364" y="5470000"/>
            <a:ext cx="1790000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100" b="1" dirty="0">
                <a:solidFill>
                  <a:srgbClr val="00326E"/>
                </a:solidFill>
                <a:latin typeface="+mn-lt"/>
              </a:rPr>
              <a:t>Дизельное топливо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2841364" y="5470000"/>
            <a:ext cx="4200000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0" dirty="0" smtClean="0">
                <a:solidFill>
                  <a:schemeClr val="bg2"/>
                </a:solidFill>
                <a:latin typeface="+mn-lt"/>
              </a:rPr>
              <a:t>Увеличенный расход ДТ при большем количестве </a:t>
            </a:r>
            <a:r>
              <a:rPr lang="ru-RU" sz="950" b="0" dirty="0">
                <a:solidFill>
                  <a:schemeClr val="bg2"/>
                </a:solidFill>
                <a:latin typeface="+mn-lt"/>
              </a:rPr>
              <a:t>рейсов на смену долот, высокие затраты энергии на разрушение породы</a:t>
            </a:r>
          </a:p>
        </p:txBody>
      </p:sp>
      <p:sp>
        <p:nvSpPr>
          <p:cNvPr id="43" name="Фигура 43"/>
          <p:cNvSpPr/>
          <p:nvPr/>
        </p:nvSpPr>
        <p:spPr>
          <a:xfrm>
            <a:off x="7121364" y="5510000"/>
            <a:ext cx="4698752" cy="600000"/>
          </a:xfrm>
          <a:prstGeom prst="rect">
            <a:avLst/>
          </a:prstGeom>
          <a:solidFill>
            <a:srgbClr val="EAF5E9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44" name="TextBox 44"/>
          <p:cNvSpPr txBox="1"/>
          <p:nvPr/>
        </p:nvSpPr>
        <p:spPr>
          <a:xfrm>
            <a:off x="7241364" y="5470000"/>
            <a:ext cx="4498752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0" dirty="0">
                <a:solidFill>
                  <a:srgbClr val="0A5C1E"/>
                </a:solidFill>
                <a:latin typeface="+mn-lt"/>
              </a:rPr>
              <a:t>Меньше СПО и нагрузки на подъёмный агрегат и буровые </a:t>
            </a:r>
            <a:r>
              <a:rPr lang="ru-RU" sz="950" b="0" dirty="0" smtClean="0">
                <a:solidFill>
                  <a:srgbClr val="0A5C1E"/>
                </a:solidFill>
                <a:latin typeface="+mn-lt"/>
              </a:rPr>
              <a:t>насосы </a:t>
            </a:r>
            <a:r>
              <a:rPr lang="ru-RU" sz="950" b="0" dirty="0">
                <a:solidFill>
                  <a:srgbClr val="0A5C1E"/>
                </a:solidFill>
                <a:latin typeface="+mn-lt"/>
              </a:rPr>
              <a:t>— ниже расход ДТ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Технология БРД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/>
              <a:t>Бурение </a:t>
            </a:r>
            <a:r>
              <a:rPr lang="ru-RU" dirty="0" smtClean="0"/>
              <a:t>продуктивного интервала на </a:t>
            </a:r>
            <a:r>
              <a:rPr lang="ru-RU" dirty="0"/>
              <a:t>азотированной воде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10"/>
          </p:nvPr>
        </p:nvSpPr>
        <p:spPr/>
        <p:txBody>
          <a:bodyPr/>
          <a:lstStyle/>
          <a:p>
            <a:r>
              <a:rPr lang="ru-RU" dirty="0"/>
              <a:t>Новые технологии бурения геотермальных скважин · Мутновское месторождение</a:t>
            </a:r>
          </a:p>
        </p:txBody>
      </p:sp>
      <p:sp>
        <p:nvSpPr>
          <p:cNvPr id="11" name="Фигура 11"/>
          <p:cNvSpPr/>
          <p:nvPr/>
        </p:nvSpPr>
        <p:spPr>
          <a:xfrm>
            <a:off x="371364" y="1500000"/>
            <a:ext cx="4700000" cy="468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2" name="Фигура 12"/>
          <p:cNvSpPr/>
          <p:nvPr/>
        </p:nvSpPr>
        <p:spPr>
          <a:xfrm>
            <a:off x="371364" y="1431000"/>
            <a:ext cx="4700000" cy="7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3" name="TextBox 13"/>
          <p:cNvSpPr txBox="1"/>
          <p:nvPr/>
        </p:nvSpPr>
        <p:spPr>
          <a:xfrm>
            <a:off x="551364" y="1560000"/>
            <a:ext cx="4340000" cy="3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200" b="0" dirty="0">
                <a:solidFill>
                  <a:schemeClr val="tx2"/>
                </a:solidFill>
                <a:latin typeface="+mj-lt"/>
              </a:rPr>
              <a:t>Схема: замкнутая циркуляция азотированной воды</a:t>
            </a:r>
          </a:p>
        </p:txBody>
      </p:sp>
      <p:sp>
        <p:nvSpPr>
          <p:cNvPr id="14" name="Фигура 14"/>
          <p:cNvSpPr/>
          <p:nvPr/>
        </p:nvSpPr>
        <p:spPr>
          <a:xfrm>
            <a:off x="821364" y="3000000"/>
            <a:ext cx="780000" cy="266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8A97A8"/>
            </a:solidFill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5" name="Фигура 15"/>
          <p:cNvSpPr/>
          <p:nvPr/>
        </p:nvSpPr>
        <p:spPr>
          <a:xfrm>
            <a:off x="1131364" y="2940000"/>
            <a:ext cx="160000" cy="2360000"/>
          </a:xfrm>
          <a:prstGeom prst="rect">
            <a:avLst/>
          </a:prstGeom>
          <a:solidFill>
            <a:srgbClr val="8A97A8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cxnSp>
        <p:nvCxnSpPr>
          <p:cNvPr id="16" name="Стрелка 16"/>
          <p:cNvCxnSpPr/>
          <p:nvPr/>
        </p:nvCxnSpPr>
        <p:spPr>
          <a:xfrm>
            <a:off x="1211364" y="3150000"/>
            <a:ext cx="0" cy="2060000"/>
          </a:xfrm>
          <a:prstGeom prst="line">
            <a:avLst/>
          </a:prstGeom>
          <a:ln w="19050">
            <a:solidFill>
              <a:srgbClr val="FFFFFF"/>
            </a:solidFill>
            <a:tailEnd type="triangle" w="med" len="med"/>
          </a:ln>
        </p:spPr>
      </p:cxnSp>
      <p:cxnSp>
        <p:nvCxnSpPr>
          <p:cNvPr id="17" name="Стрелка 17"/>
          <p:cNvCxnSpPr/>
          <p:nvPr/>
        </p:nvCxnSpPr>
        <p:spPr>
          <a:xfrm flipV="1">
            <a:off x="981364" y="3150000"/>
            <a:ext cx="0" cy="2090000"/>
          </a:xfrm>
          <a:prstGeom prst="line">
            <a:avLst/>
          </a:prstGeom>
          <a:ln w="28575">
            <a:solidFill>
              <a:srgbClr val="0078AE"/>
            </a:solidFill>
            <a:tailEnd type="triangle" w="med" len="med"/>
          </a:ln>
        </p:spPr>
      </p:cxnSp>
      <p:cxnSp>
        <p:nvCxnSpPr>
          <p:cNvPr id="18" name="Стрелка 18"/>
          <p:cNvCxnSpPr/>
          <p:nvPr/>
        </p:nvCxnSpPr>
        <p:spPr>
          <a:xfrm flipV="1">
            <a:off x="1441364" y="3150000"/>
            <a:ext cx="0" cy="2090000"/>
          </a:xfrm>
          <a:prstGeom prst="line">
            <a:avLst/>
          </a:prstGeom>
          <a:ln w="28575">
            <a:solidFill>
              <a:srgbClr val="0078AE"/>
            </a:solidFill>
            <a:tailEnd type="triangle" w="med" len="med"/>
          </a:ln>
        </p:spPr>
      </p:cxnSp>
      <p:sp>
        <p:nvSpPr>
          <p:cNvPr id="19" name="Фигура 19"/>
          <p:cNvSpPr/>
          <p:nvPr/>
        </p:nvSpPr>
        <p:spPr>
          <a:xfrm>
            <a:off x="491364" y="5330000"/>
            <a:ext cx="4460000" cy="330000"/>
          </a:xfrm>
          <a:prstGeom prst="rect">
            <a:avLst/>
          </a:prstGeom>
          <a:solidFill>
            <a:srgbClr val="FDE9C8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0" name="TextBox 20"/>
          <p:cNvSpPr txBox="1"/>
          <p:nvPr/>
        </p:nvSpPr>
        <p:spPr>
          <a:xfrm>
            <a:off x="491364" y="5330000"/>
            <a:ext cx="4460000" cy="33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ru-RU" sz="850" b="1" dirty="0">
                <a:solidFill>
                  <a:srgbClr val="00326E"/>
                </a:solidFill>
                <a:latin typeface="+mn-lt"/>
              </a:rPr>
              <a:t>Продуктивная зона: Pзаб ≤ Pпл — </a:t>
            </a:r>
            <a:r>
              <a:rPr lang="ru-RU" sz="850" b="1" dirty="0" smtClean="0">
                <a:solidFill>
                  <a:srgbClr val="00326E"/>
                </a:solidFill>
                <a:latin typeface="+mn-lt"/>
              </a:rPr>
              <a:t>поглощение отсутствует, </a:t>
            </a:r>
            <a:r>
              <a:rPr lang="ru-RU" sz="850" b="1" dirty="0">
                <a:solidFill>
                  <a:srgbClr val="00326E"/>
                </a:solidFill>
                <a:latin typeface="+mn-lt"/>
              </a:rPr>
              <a:t>коллектор сохранён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91364" y="1900000"/>
            <a:ext cx="2200000" cy="48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Насосы + </a:t>
            </a:r>
            <a:r>
              <a:rPr lang="ru-RU" sz="950" b="1" dirty="0" smtClean="0">
                <a:solidFill>
                  <a:srgbClr val="00326E"/>
                </a:solidFill>
                <a:latin typeface="+mn-lt"/>
              </a:rPr>
              <a:t>компрессоры</a:t>
            </a:r>
            <a:endParaRPr lang="ru-RU" sz="950" b="1" dirty="0">
              <a:solidFill>
                <a:srgbClr val="00326E"/>
              </a:solidFill>
              <a:latin typeface="+mn-lt"/>
            </a:endParaRPr>
          </a:p>
          <a:p>
            <a:pPr algn="l">
              <a:spcBef>
                <a:spcPts val="0"/>
              </a:spcBef>
              <a:buNone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вода + азот (аэрированная жидкость)</a:t>
            </a:r>
          </a:p>
        </p:txBody>
      </p:sp>
      <p:cxnSp>
        <p:nvCxnSpPr>
          <p:cNvPr id="22" name="Стрелка 22"/>
          <p:cNvCxnSpPr/>
          <p:nvPr/>
        </p:nvCxnSpPr>
        <p:spPr>
          <a:xfrm>
            <a:off x="871364" y="2380000"/>
            <a:ext cx="280000" cy="200000"/>
          </a:xfrm>
          <a:prstGeom prst="line">
            <a:avLst/>
          </a:prstGeom>
          <a:ln w="22225">
            <a:solidFill>
              <a:srgbClr val="00326E"/>
            </a:solidFill>
            <a:tailEnd type="triangle" w="med" len="med"/>
          </a:ln>
        </p:spPr>
      </p:cxnSp>
      <p:sp>
        <p:nvSpPr>
          <p:cNvPr id="23" name="Фигура 23"/>
          <p:cNvSpPr/>
          <p:nvPr/>
        </p:nvSpPr>
        <p:spPr>
          <a:xfrm>
            <a:off x="701364" y="2590000"/>
            <a:ext cx="1020000" cy="320000"/>
          </a:xfrm>
          <a:prstGeom prst="rect">
            <a:avLst/>
          </a:prstGeom>
          <a:solidFill>
            <a:srgbClr val="005491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4" name="TextBox 24"/>
          <p:cNvSpPr txBox="1"/>
          <p:nvPr/>
        </p:nvSpPr>
        <p:spPr>
          <a:xfrm>
            <a:off x="731364" y="2590000"/>
            <a:ext cx="960000" cy="3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ru-RU" sz="900" b="1" dirty="0">
                <a:solidFill>
                  <a:srgbClr val="FFFFFF"/>
                </a:solidFill>
                <a:latin typeface="+mn-lt"/>
              </a:rPr>
              <a:t>РУГ</a:t>
            </a:r>
          </a:p>
        </p:txBody>
      </p:sp>
      <p:sp>
        <p:nvSpPr>
          <p:cNvPr id="25" name="Фигура 25"/>
          <p:cNvSpPr/>
          <p:nvPr/>
        </p:nvSpPr>
        <p:spPr>
          <a:xfrm>
            <a:off x="1861364" y="2590000"/>
            <a:ext cx="1300000" cy="560000"/>
          </a:xfrm>
          <a:prstGeom prst="rect">
            <a:avLst/>
          </a:prstGeom>
          <a:solidFill>
            <a:srgbClr val="0078AE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6" name="TextBox 26"/>
          <p:cNvSpPr txBox="1"/>
          <p:nvPr/>
        </p:nvSpPr>
        <p:spPr>
          <a:xfrm>
            <a:off x="1891364" y="2590000"/>
            <a:ext cx="1240000" cy="5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ru-RU" sz="900" b="1" dirty="0">
                <a:solidFill>
                  <a:srgbClr val="FFFFFF"/>
                </a:solidFill>
                <a:latin typeface="+mn-lt"/>
              </a:rPr>
              <a:t>Дроссельный манифольд</a:t>
            </a:r>
          </a:p>
          <a:p>
            <a:pPr algn="ctr">
              <a:spcBef>
                <a:spcPts val="0"/>
              </a:spcBef>
              <a:buNone/>
            </a:pPr>
            <a:r>
              <a:rPr lang="ru-RU" sz="750" b="0" dirty="0">
                <a:solidFill>
                  <a:srgbClr val="FFFFFF"/>
                </a:solidFill>
                <a:latin typeface="+mn-lt"/>
              </a:rPr>
              <a:t>противодавление</a:t>
            </a:r>
          </a:p>
        </p:txBody>
      </p:sp>
      <p:sp>
        <p:nvSpPr>
          <p:cNvPr id="27" name="Фигура 27"/>
          <p:cNvSpPr/>
          <p:nvPr/>
        </p:nvSpPr>
        <p:spPr>
          <a:xfrm>
            <a:off x="3291364" y="1940000"/>
            <a:ext cx="1150000" cy="560000"/>
          </a:xfrm>
          <a:prstGeom prst="rect">
            <a:avLst/>
          </a:prstGeom>
          <a:solidFill>
            <a:srgbClr val="0A8F2D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8" name="TextBox 28"/>
          <p:cNvSpPr txBox="1"/>
          <p:nvPr/>
        </p:nvSpPr>
        <p:spPr>
          <a:xfrm>
            <a:off x="3321364" y="1940000"/>
            <a:ext cx="1090000" cy="5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ru-RU" sz="900" b="1" dirty="0">
                <a:solidFill>
                  <a:srgbClr val="FFFFFF"/>
                </a:solidFill>
                <a:latin typeface="+mn-lt"/>
              </a:rPr>
              <a:t>Сепаратор</a:t>
            </a:r>
          </a:p>
          <a:p>
            <a:pPr algn="ctr">
              <a:spcBef>
                <a:spcPts val="0"/>
              </a:spcBef>
              <a:buNone/>
            </a:pPr>
            <a:r>
              <a:rPr lang="ru-RU" sz="750" b="0" dirty="0" smtClean="0">
                <a:solidFill>
                  <a:srgbClr val="FFFFFF"/>
                </a:solidFill>
                <a:latin typeface="+mn-lt"/>
              </a:rPr>
              <a:t>пар </a:t>
            </a:r>
            <a:r>
              <a:rPr lang="ru-RU" sz="750" b="0" dirty="0">
                <a:solidFill>
                  <a:srgbClr val="FFFFFF"/>
                </a:solidFill>
                <a:latin typeface="+mn-lt"/>
              </a:rPr>
              <a:t>· вода · шлам</a:t>
            </a:r>
          </a:p>
        </p:txBody>
      </p:sp>
      <p:cxnSp>
        <p:nvCxnSpPr>
          <p:cNvPr id="29" name="Стрелка 29"/>
          <p:cNvCxnSpPr/>
          <p:nvPr/>
        </p:nvCxnSpPr>
        <p:spPr>
          <a:xfrm>
            <a:off x="1721364" y="2750000"/>
            <a:ext cx="140000" cy="0"/>
          </a:xfrm>
          <a:prstGeom prst="line">
            <a:avLst/>
          </a:prstGeom>
          <a:ln w="22225">
            <a:solidFill>
              <a:srgbClr val="00326E"/>
            </a:solidFill>
            <a:tailEnd type="triangle" w="med" len="med"/>
          </a:ln>
        </p:spPr>
      </p:cxnSp>
      <p:cxnSp>
        <p:nvCxnSpPr>
          <p:cNvPr id="30" name="Стрелка 30"/>
          <p:cNvCxnSpPr/>
          <p:nvPr/>
        </p:nvCxnSpPr>
        <p:spPr>
          <a:xfrm flipV="1">
            <a:off x="2811364" y="2490000"/>
            <a:ext cx="580000" cy="100000"/>
          </a:xfrm>
          <a:prstGeom prst="line">
            <a:avLst/>
          </a:prstGeom>
          <a:ln w="22225">
            <a:solidFill>
              <a:srgbClr val="00326E"/>
            </a:solidFill>
            <a:tailEnd type="triangle" w="med" len="med"/>
          </a:ln>
        </p:spPr>
      </p:cxnSp>
      <p:sp>
        <p:nvSpPr>
          <p:cNvPr id="31" name="Фигура 31"/>
          <p:cNvSpPr/>
          <p:nvPr/>
        </p:nvSpPr>
        <p:spPr>
          <a:xfrm>
            <a:off x="3291364" y="3480000"/>
            <a:ext cx="1150000" cy="380000"/>
          </a:xfrm>
          <a:prstGeom prst="rect">
            <a:avLst/>
          </a:prstGeom>
          <a:solidFill>
            <a:srgbClr val="8A97A8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2" name="TextBox 32"/>
          <p:cNvSpPr txBox="1"/>
          <p:nvPr/>
        </p:nvSpPr>
        <p:spPr>
          <a:xfrm>
            <a:off x="3321364" y="3480000"/>
            <a:ext cx="1090000" cy="3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ru-RU" sz="900" b="1" dirty="0">
                <a:solidFill>
                  <a:srgbClr val="FFFFFF"/>
                </a:solidFill>
                <a:latin typeface="+mn-lt"/>
              </a:rPr>
              <a:t>Градирня → ЦС</a:t>
            </a:r>
          </a:p>
          <a:p>
            <a:pPr algn="ctr">
              <a:spcBef>
                <a:spcPts val="0"/>
              </a:spcBef>
              <a:buNone/>
            </a:pPr>
            <a:r>
              <a:rPr lang="ru-RU" sz="750" b="0" dirty="0">
                <a:solidFill>
                  <a:srgbClr val="FFFFFF"/>
                </a:solidFill>
                <a:latin typeface="+mn-lt"/>
              </a:rPr>
              <a:t>охлаждение, возврат</a:t>
            </a:r>
          </a:p>
        </p:txBody>
      </p:sp>
      <p:cxnSp>
        <p:nvCxnSpPr>
          <p:cNvPr id="33" name="Стрелка 33"/>
          <p:cNvCxnSpPr/>
          <p:nvPr/>
        </p:nvCxnSpPr>
        <p:spPr>
          <a:xfrm>
            <a:off x="3866364" y="2500000"/>
            <a:ext cx="0" cy="980000"/>
          </a:xfrm>
          <a:prstGeom prst="line">
            <a:avLst/>
          </a:prstGeom>
          <a:ln w="22225">
            <a:solidFill>
              <a:srgbClr val="00326E"/>
            </a:solidFill>
            <a:tailEnd type="triangle" w="med" len="med"/>
          </a:ln>
        </p:spPr>
      </p:cxnSp>
      <p:sp>
        <p:nvSpPr>
          <p:cNvPr id="34" name="Фигура 34"/>
          <p:cNvSpPr/>
          <p:nvPr/>
        </p:nvSpPr>
        <p:spPr>
          <a:xfrm>
            <a:off x="1861364" y="3480000"/>
            <a:ext cx="1300000" cy="380000"/>
          </a:xfrm>
          <a:prstGeom prst="rect">
            <a:avLst/>
          </a:prstGeom>
          <a:solidFill>
            <a:srgbClr val="8A97A8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5" name="TextBox 35"/>
          <p:cNvSpPr txBox="1"/>
          <p:nvPr/>
        </p:nvSpPr>
        <p:spPr>
          <a:xfrm>
            <a:off x="1891364" y="3480000"/>
            <a:ext cx="1240000" cy="3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ru-RU" sz="900" b="1" dirty="0">
                <a:solidFill>
                  <a:srgbClr val="FFFFFF"/>
                </a:solidFill>
                <a:latin typeface="+mn-lt"/>
              </a:rPr>
              <a:t>Отвод </a:t>
            </a:r>
            <a:r>
              <a:rPr lang="ru-RU" sz="900" b="1" dirty="0" smtClean="0">
                <a:solidFill>
                  <a:srgbClr val="FFFFFF"/>
                </a:solidFill>
                <a:latin typeface="+mn-lt"/>
              </a:rPr>
              <a:t>пара</a:t>
            </a:r>
            <a:endParaRPr lang="ru-RU" sz="900" b="1" dirty="0">
              <a:solidFill>
                <a:srgbClr val="FFFFFF"/>
              </a:solidFill>
              <a:latin typeface="+mn-lt"/>
            </a:endParaRPr>
          </a:p>
          <a:p>
            <a:pPr algn="ctr">
              <a:spcBef>
                <a:spcPts val="0"/>
              </a:spcBef>
              <a:buNone/>
            </a:pPr>
            <a:r>
              <a:rPr lang="ru-RU" sz="750" b="0" dirty="0">
                <a:solidFill>
                  <a:srgbClr val="FFFFFF"/>
                </a:solidFill>
                <a:latin typeface="+mn-lt"/>
              </a:rPr>
              <a:t>на </a:t>
            </a:r>
            <a:r>
              <a:rPr lang="ru-RU" sz="750" b="0" dirty="0" smtClean="0">
                <a:solidFill>
                  <a:srgbClr val="FFFFFF"/>
                </a:solidFill>
                <a:latin typeface="+mn-lt"/>
              </a:rPr>
              <a:t>сброс</a:t>
            </a:r>
            <a:endParaRPr lang="ru-RU" sz="750" b="0" dirty="0">
              <a:solidFill>
                <a:srgbClr val="FFFFFF"/>
              </a:solidFill>
              <a:latin typeface="+mn-lt"/>
            </a:endParaRPr>
          </a:p>
        </p:txBody>
      </p:sp>
      <p:cxnSp>
        <p:nvCxnSpPr>
          <p:cNvPr id="36" name="Стрелка 36"/>
          <p:cNvCxnSpPr/>
          <p:nvPr/>
        </p:nvCxnSpPr>
        <p:spPr>
          <a:xfrm flipH="1">
            <a:off x="3011364" y="2500000"/>
            <a:ext cx="380000" cy="980000"/>
          </a:xfrm>
          <a:prstGeom prst="line">
            <a:avLst/>
          </a:prstGeom>
          <a:ln w="22225">
            <a:solidFill>
              <a:srgbClr val="00326E"/>
            </a:solidFill>
            <a:tailEnd type="triangle" w="med" len="med"/>
          </a:ln>
        </p:spPr>
      </p:cxnSp>
      <p:sp>
        <p:nvSpPr>
          <p:cNvPr id="37" name="TextBox 37"/>
          <p:cNvSpPr txBox="1"/>
          <p:nvPr/>
        </p:nvSpPr>
        <p:spPr>
          <a:xfrm>
            <a:off x="1861364" y="4000000"/>
            <a:ext cx="3090000" cy="9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00" b="0" dirty="0">
                <a:solidFill>
                  <a:schemeClr val="bg2"/>
                </a:solidFill>
                <a:latin typeface="+mn-lt"/>
              </a:rPr>
              <a:t>Шлам выносится на поверхность и отделяется в сепараторе.</a:t>
            </a:r>
          </a:p>
          <a:p>
            <a:pPr algn="l">
              <a:spcBef>
                <a:spcPts val="300"/>
              </a:spcBef>
              <a:buNone/>
            </a:pPr>
            <a:r>
              <a:rPr lang="ru-RU" sz="900" b="0" dirty="0">
                <a:solidFill>
                  <a:schemeClr val="bg2"/>
                </a:solidFill>
                <a:latin typeface="+mn-lt"/>
              </a:rPr>
              <a:t>Режим задаётся долей азота и противодавлением на дросселе.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5271364" y="1440000"/>
            <a:ext cx="3500000" cy="28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300" b="0" dirty="0">
                <a:solidFill>
                  <a:schemeClr val="tx2"/>
                </a:solidFill>
                <a:latin typeface="+mj-lt"/>
              </a:rPr>
              <a:t>Как работает</a:t>
            </a:r>
          </a:p>
        </p:txBody>
      </p:sp>
      <p:sp>
        <p:nvSpPr>
          <p:cNvPr id="39" name="Фигура 39"/>
          <p:cNvSpPr/>
          <p:nvPr/>
        </p:nvSpPr>
        <p:spPr>
          <a:xfrm>
            <a:off x="5271364" y="1860000"/>
            <a:ext cx="300000" cy="30000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40" name="TextBox 40"/>
          <p:cNvSpPr txBox="1"/>
          <p:nvPr/>
        </p:nvSpPr>
        <p:spPr>
          <a:xfrm>
            <a:off x="5271364" y="1860000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FFFFFF"/>
                </a:solidFill>
                <a:latin typeface="+mn-lt"/>
              </a:rPr>
              <a:t>1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5671364" y="1820000"/>
            <a:ext cx="3080000" cy="836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50" b="1" dirty="0">
                <a:solidFill>
                  <a:srgbClr val="00326E"/>
                </a:solidFill>
                <a:latin typeface="+mn-lt"/>
              </a:rPr>
              <a:t>До башмака эксплуатационной колонны</a:t>
            </a:r>
          </a:p>
          <a:p>
            <a:pPr algn="l">
              <a:spcBef>
                <a:spcPts val="0"/>
              </a:spcBef>
              <a:buNone/>
            </a:pPr>
            <a:r>
              <a:rPr lang="ru-RU" sz="900" b="0" dirty="0">
                <a:solidFill>
                  <a:schemeClr val="bg2"/>
                </a:solidFill>
                <a:latin typeface="+mn-lt"/>
              </a:rPr>
              <a:t>бурение по стандартной технологии</a:t>
            </a:r>
          </a:p>
        </p:txBody>
      </p:sp>
      <p:sp>
        <p:nvSpPr>
          <p:cNvPr id="42" name="Фигура 42"/>
          <p:cNvSpPr/>
          <p:nvPr/>
        </p:nvSpPr>
        <p:spPr>
          <a:xfrm>
            <a:off x="5271364" y="2736000"/>
            <a:ext cx="300000" cy="30000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43" name="TextBox 43"/>
          <p:cNvSpPr txBox="1"/>
          <p:nvPr/>
        </p:nvSpPr>
        <p:spPr>
          <a:xfrm>
            <a:off x="5271364" y="2736000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FFFFFF"/>
                </a:solidFill>
                <a:latin typeface="+mn-lt"/>
              </a:rPr>
              <a:t>2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5671364" y="2696000"/>
            <a:ext cx="3080000" cy="836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50" b="1" dirty="0">
                <a:solidFill>
                  <a:srgbClr val="00326E"/>
                </a:solidFill>
                <a:latin typeface="+mn-lt"/>
              </a:rPr>
              <a:t>Вскрытие продуктивной зоны</a:t>
            </a:r>
          </a:p>
          <a:p>
            <a:pPr algn="l">
              <a:spcBef>
                <a:spcPts val="0"/>
              </a:spcBef>
              <a:buNone/>
            </a:pPr>
            <a:r>
              <a:rPr lang="ru-RU" sz="900" b="0" dirty="0">
                <a:solidFill>
                  <a:schemeClr val="bg2"/>
                </a:solidFill>
                <a:latin typeface="+mn-lt"/>
              </a:rPr>
              <a:t>в техническую воду подаётся азот — плотность смеси и забойное давление снижаются до уровня пластового и ниже</a:t>
            </a:r>
          </a:p>
        </p:txBody>
      </p:sp>
      <p:sp>
        <p:nvSpPr>
          <p:cNvPr id="45" name="Фигура 45"/>
          <p:cNvSpPr/>
          <p:nvPr/>
        </p:nvSpPr>
        <p:spPr>
          <a:xfrm>
            <a:off x="5271364" y="3612000"/>
            <a:ext cx="300000" cy="30000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46" name="TextBox 46"/>
          <p:cNvSpPr txBox="1"/>
          <p:nvPr/>
        </p:nvSpPr>
        <p:spPr>
          <a:xfrm>
            <a:off x="5271364" y="3612000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FFFFFF"/>
                </a:solidFill>
                <a:latin typeface="+mn-lt"/>
              </a:rPr>
              <a:t>3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5671364" y="3572000"/>
            <a:ext cx="3080000" cy="836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50" b="1" dirty="0">
                <a:solidFill>
                  <a:srgbClr val="00326E"/>
                </a:solidFill>
                <a:latin typeface="+mn-lt"/>
              </a:rPr>
              <a:t>Герметизация устья</a:t>
            </a:r>
          </a:p>
          <a:p>
            <a:pPr algn="l">
              <a:spcBef>
                <a:spcPts val="0"/>
              </a:spcBef>
              <a:buNone/>
            </a:pPr>
            <a:r>
              <a:rPr lang="ru-RU" sz="900" b="0" dirty="0">
                <a:solidFill>
                  <a:schemeClr val="bg2"/>
                </a:solidFill>
                <a:latin typeface="+mn-lt"/>
              </a:rPr>
              <a:t>РУГ </a:t>
            </a:r>
            <a:r>
              <a:rPr lang="ru-RU" sz="900" dirty="0" smtClean="0">
                <a:solidFill>
                  <a:schemeClr val="bg2"/>
                </a:solidFill>
              </a:rPr>
              <a:t>герметизирует затрубное пространство с помощью </a:t>
            </a:r>
            <a:r>
              <a:rPr lang="ru-RU" sz="900" dirty="0" err="1" smtClean="0">
                <a:solidFill>
                  <a:schemeClr val="bg2"/>
                </a:solidFill>
              </a:rPr>
              <a:t>Подшипниково</a:t>
            </a:r>
            <a:r>
              <a:rPr lang="ru-RU" sz="900" dirty="0" smtClean="0">
                <a:solidFill>
                  <a:schemeClr val="bg2"/>
                </a:solidFill>
              </a:rPr>
              <a:t> – Уплотнительного Узла (ПУУ) при</a:t>
            </a:r>
            <a:r>
              <a:rPr lang="ru-RU" sz="900" b="0" dirty="0" smtClean="0">
                <a:solidFill>
                  <a:schemeClr val="bg2"/>
                </a:solidFill>
                <a:latin typeface="+mn-lt"/>
              </a:rPr>
              <a:t> бурении и СПО и отводит поток в </a:t>
            </a:r>
            <a:r>
              <a:rPr lang="ru-RU" sz="900" b="0" dirty="0" err="1" smtClean="0">
                <a:solidFill>
                  <a:schemeClr val="bg2"/>
                </a:solidFill>
                <a:latin typeface="+mn-lt"/>
              </a:rPr>
              <a:t>манифольд</a:t>
            </a:r>
            <a:r>
              <a:rPr lang="ru-RU" sz="900" b="0" dirty="0" smtClean="0">
                <a:solidFill>
                  <a:schemeClr val="bg2"/>
                </a:solidFill>
                <a:latin typeface="+mn-lt"/>
              </a:rPr>
              <a:t> БРД, давление ПВС на устье </a:t>
            </a:r>
            <a:r>
              <a:rPr lang="ru-RU" sz="900" dirty="0" smtClean="0">
                <a:solidFill>
                  <a:schemeClr val="bg2"/>
                </a:solidFill>
              </a:rPr>
              <a:t>контролируется и корректируется</a:t>
            </a:r>
            <a:r>
              <a:rPr lang="ru-RU" sz="900" b="0" dirty="0" smtClean="0">
                <a:solidFill>
                  <a:schemeClr val="bg2"/>
                </a:solidFill>
                <a:latin typeface="+mn-lt"/>
              </a:rPr>
              <a:t> дросселем</a:t>
            </a:r>
            <a:endParaRPr lang="ru-RU" sz="900" b="0" dirty="0">
              <a:solidFill>
                <a:schemeClr val="bg2"/>
              </a:solidFill>
              <a:latin typeface="+mn-lt"/>
            </a:endParaRPr>
          </a:p>
        </p:txBody>
      </p:sp>
      <p:sp>
        <p:nvSpPr>
          <p:cNvPr id="48" name="Фигура 48"/>
          <p:cNvSpPr/>
          <p:nvPr/>
        </p:nvSpPr>
        <p:spPr>
          <a:xfrm>
            <a:off x="5271364" y="4488000"/>
            <a:ext cx="300000" cy="30000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49" name="TextBox 49"/>
          <p:cNvSpPr txBox="1"/>
          <p:nvPr/>
        </p:nvSpPr>
        <p:spPr>
          <a:xfrm>
            <a:off x="5271364" y="4488000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FFFFFF"/>
                </a:solidFill>
                <a:latin typeface="+mn-lt"/>
              </a:rPr>
              <a:t>4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5671364" y="4448000"/>
            <a:ext cx="3080000" cy="836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50" b="1" dirty="0">
                <a:solidFill>
                  <a:srgbClr val="00326E"/>
                </a:solidFill>
                <a:latin typeface="+mn-lt"/>
              </a:rPr>
              <a:t>Сепарация и возврат</a:t>
            </a:r>
          </a:p>
          <a:p>
            <a:pPr algn="l">
              <a:spcBef>
                <a:spcPts val="0"/>
              </a:spcBef>
              <a:buNone/>
            </a:pPr>
            <a:r>
              <a:rPr lang="ru-RU" sz="900" b="0" dirty="0">
                <a:solidFill>
                  <a:schemeClr val="bg2"/>
                </a:solidFill>
                <a:latin typeface="+mn-lt"/>
              </a:rPr>
              <a:t>сепаратор отделяет </a:t>
            </a:r>
            <a:r>
              <a:rPr lang="ru-RU" sz="900" b="0" dirty="0" smtClean="0">
                <a:solidFill>
                  <a:schemeClr val="bg2"/>
                </a:solidFill>
                <a:latin typeface="+mn-lt"/>
              </a:rPr>
              <a:t>пар, </a:t>
            </a:r>
            <a:r>
              <a:rPr lang="ru-RU" sz="900" b="0" dirty="0">
                <a:solidFill>
                  <a:schemeClr val="bg2"/>
                </a:solidFill>
                <a:latin typeface="+mn-lt"/>
              </a:rPr>
              <a:t>воду и шлам; вода </a:t>
            </a:r>
            <a:r>
              <a:rPr lang="ru-RU" sz="900" b="0" dirty="0" smtClean="0">
                <a:solidFill>
                  <a:schemeClr val="bg2"/>
                </a:solidFill>
                <a:latin typeface="+mn-lt"/>
              </a:rPr>
              <a:t>охлаждается на градирнях либо шламовых накопителях </a:t>
            </a:r>
            <a:r>
              <a:rPr lang="ru-RU" sz="900" b="0" dirty="0">
                <a:solidFill>
                  <a:schemeClr val="bg2"/>
                </a:solidFill>
                <a:latin typeface="+mn-lt"/>
              </a:rPr>
              <a:t>и возвращается в </a:t>
            </a:r>
            <a:r>
              <a:rPr lang="ru-RU" sz="900" b="0" dirty="0" smtClean="0">
                <a:solidFill>
                  <a:schemeClr val="bg2"/>
                </a:solidFill>
                <a:latin typeface="+mn-lt"/>
              </a:rPr>
              <a:t>циркуляцию</a:t>
            </a:r>
            <a:endParaRPr lang="ru-RU" sz="900" b="0" dirty="0">
              <a:solidFill>
                <a:schemeClr val="bg2"/>
              </a:solidFill>
              <a:latin typeface="+mn-lt"/>
            </a:endParaRPr>
          </a:p>
        </p:txBody>
      </p:sp>
      <p:sp>
        <p:nvSpPr>
          <p:cNvPr id="51" name="Фигура 51"/>
          <p:cNvSpPr/>
          <p:nvPr/>
        </p:nvSpPr>
        <p:spPr>
          <a:xfrm>
            <a:off x="5271364" y="5364000"/>
            <a:ext cx="300000" cy="30000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52" name="TextBox 52"/>
          <p:cNvSpPr txBox="1"/>
          <p:nvPr/>
        </p:nvSpPr>
        <p:spPr>
          <a:xfrm>
            <a:off x="5271364" y="5364000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FFFFFF"/>
                </a:solidFill>
                <a:latin typeface="+mn-lt"/>
              </a:rPr>
              <a:t>5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671364" y="5324000"/>
            <a:ext cx="3080000" cy="836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50" b="1" dirty="0">
                <a:solidFill>
                  <a:srgbClr val="00326E"/>
                </a:solidFill>
                <a:latin typeface="+mn-lt"/>
              </a:rPr>
              <a:t>Освоение</a:t>
            </a:r>
          </a:p>
          <a:p>
            <a:pPr algn="l">
              <a:spcBef>
                <a:spcPts val="0"/>
              </a:spcBef>
              <a:buNone/>
            </a:pPr>
            <a:r>
              <a:rPr lang="ru-RU" sz="900" b="0" dirty="0">
                <a:solidFill>
                  <a:schemeClr val="bg2"/>
                </a:solidFill>
                <a:latin typeface="+mn-lt"/>
              </a:rPr>
              <a:t>скважина выходит на режим без длительного прогрева коллектора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971364" y="1440000"/>
            <a:ext cx="2848752" cy="28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300" b="0" dirty="0">
                <a:solidFill>
                  <a:schemeClr val="tx2"/>
                </a:solidFill>
                <a:latin typeface="+mj-lt"/>
              </a:rPr>
              <a:t>Оборудование АКРОС</a:t>
            </a:r>
          </a:p>
        </p:txBody>
      </p:sp>
      <p:sp>
        <p:nvSpPr>
          <p:cNvPr id="55" name="Место для фото 55"/>
          <p:cNvSpPr/>
          <p:nvPr/>
        </p:nvSpPr>
        <p:spPr>
          <a:xfrm>
            <a:off x="8971364" y="1800000"/>
            <a:ext cx="2848752" cy="1380000"/>
          </a:xfrm>
          <a:prstGeom prst="rect">
            <a:avLst/>
          </a:prstGeom>
          <a:solidFill>
            <a:srgbClr val="F4F6F9"/>
          </a:solidFill>
          <a:ln w="15875">
            <a:solidFill>
              <a:srgbClr val="8A97A8"/>
            </a:solidFill>
            <a:prstDash val="dash"/>
          </a:ln>
        </p:spPr>
        <p:txBody>
          <a:bodyPr rtlCol="0" anchor="ctr"/>
          <a:lstStyle/>
          <a:p>
            <a:endParaRPr lang="ru-RU"/>
          </a:p>
        </p:txBody>
      </p:sp>
      <p:pic>
        <p:nvPicPr>
          <p:cNvPr id="56" name="Иконка 56" descr="TbPhoto_8A97A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740" y="2070000"/>
            <a:ext cx="400000" cy="400000"/>
          </a:xfrm>
          <a:prstGeom prst="rect">
            <a:avLst/>
          </a:prstGeom>
        </p:spPr>
      </p:pic>
      <p:sp>
        <p:nvSpPr>
          <p:cNvPr id="57" name="TextBox 57"/>
          <p:cNvSpPr txBox="1"/>
          <p:nvPr/>
        </p:nvSpPr>
        <p:spPr>
          <a:xfrm>
            <a:off x="9071364" y="2520000"/>
            <a:ext cx="2648752" cy="5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ru-RU" sz="1050" b="1" dirty="0">
                <a:solidFill>
                  <a:srgbClr val="00326E"/>
                </a:solidFill>
                <a:latin typeface="+mn-lt"/>
              </a:rPr>
              <a:t>Фото </a:t>
            </a:r>
            <a:r>
              <a:rPr lang="ru-RU" sz="1050" b="1" dirty="0" smtClean="0">
                <a:solidFill>
                  <a:srgbClr val="00326E"/>
                </a:solidFill>
                <a:latin typeface="+mn-lt"/>
              </a:rPr>
              <a:t>РУГ</a:t>
            </a:r>
            <a:endParaRPr lang="ru-RU" sz="1050" b="1" dirty="0">
              <a:solidFill>
                <a:srgbClr val="00326E"/>
              </a:solidFill>
              <a:latin typeface="+mn-lt"/>
            </a:endParaRPr>
          </a:p>
          <a:p>
            <a:pPr algn="ctr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роторный устьевой герметизатор</a:t>
            </a:r>
          </a:p>
        </p:txBody>
      </p:sp>
      <p:sp>
        <p:nvSpPr>
          <p:cNvPr id="58" name="Место для фото 58"/>
          <p:cNvSpPr/>
          <p:nvPr/>
        </p:nvSpPr>
        <p:spPr>
          <a:xfrm>
            <a:off x="8971364" y="3300000"/>
            <a:ext cx="2848752" cy="1380000"/>
          </a:xfrm>
          <a:prstGeom prst="rect">
            <a:avLst/>
          </a:prstGeom>
          <a:solidFill>
            <a:srgbClr val="F4F6F9"/>
          </a:solidFill>
          <a:ln w="15875">
            <a:solidFill>
              <a:srgbClr val="8A97A8"/>
            </a:solidFill>
            <a:prstDash val="dash"/>
          </a:ln>
        </p:spPr>
        <p:txBody>
          <a:bodyPr rtlCol="0" anchor="ctr"/>
          <a:lstStyle/>
          <a:p>
            <a:endParaRPr lang="ru-RU"/>
          </a:p>
        </p:txBody>
      </p:sp>
      <p:pic>
        <p:nvPicPr>
          <p:cNvPr id="59" name="Иконка 59" descr="TbPhoto_8A97A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740" y="3570000"/>
            <a:ext cx="400000" cy="400000"/>
          </a:xfrm>
          <a:prstGeom prst="rect">
            <a:avLst/>
          </a:prstGeom>
        </p:spPr>
      </p:pic>
      <p:sp>
        <p:nvSpPr>
          <p:cNvPr id="60" name="TextBox 60"/>
          <p:cNvSpPr txBox="1"/>
          <p:nvPr/>
        </p:nvSpPr>
        <p:spPr>
          <a:xfrm>
            <a:off x="9071364" y="4020000"/>
            <a:ext cx="2648752" cy="5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ru-RU" sz="1050" b="1" dirty="0">
                <a:solidFill>
                  <a:srgbClr val="00326E"/>
                </a:solidFill>
                <a:latin typeface="+mn-lt"/>
              </a:rPr>
              <a:t>Общий вид комплекса </a:t>
            </a:r>
            <a:r>
              <a:rPr lang="ru-RU" sz="1050" b="1" dirty="0" smtClean="0">
                <a:solidFill>
                  <a:srgbClr val="00326E"/>
                </a:solidFill>
                <a:latin typeface="+mn-lt"/>
              </a:rPr>
              <a:t>БРД</a:t>
            </a:r>
            <a:endParaRPr lang="ru-RU" sz="1050" b="1" dirty="0">
              <a:solidFill>
                <a:srgbClr val="00326E"/>
              </a:solidFill>
              <a:latin typeface="+mn-lt"/>
            </a:endParaRPr>
          </a:p>
        </p:txBody>
      </p:sp>
      <p:sp>
        <p:nvSpPr>
          <p:cNvPr id="61" name="Место для фото 61"/>
          <p:cNvSpPr/>
          <p:nvPr/>
        </p:nvSpPr>
        <p:spPr>
          <a:xfrm>
            <a:off x="8971364" y="4800000"/>
            <a:ext cx="2848752" cy="1380000"/>
          </a:xfrm>
          <a:prstGeom prst="rect">
            <a:avLst/>
          </a:prstGeom>
          <a:solidFill>
            <a:srgbClr val="F4F6F9"/>
          </a:solidFill>
          <a:ln w="15875">
            <a:solidFill>
              <a:srgbClr val="8A97A8"/>
            </a:solidFill>
            <a:prstDash val="dash"/>
          </a:ln>
        </p:spPr>
        <p:txBody>
          <a:bodyPr rtlCol="0" anchor="ctr"/>
          <a:lstStyle/>
          <a:p>
            <a:endParaRPr lang="ru-RU"/>
          </a:p>
        </p:txBody>
      </p:sp>
      <p:pic>
        <p:nvPicPr>
          <p:cNvPr id="62" name="Иконка 62" descr="TbPhoto_8A97A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740" y="5070000"/>
            <a:ext cx="400000" cy="400000"/>
          </a:xfrm>
          <a:prstGeom prst="rect">
            <a:avLst/>
          </a:prstGeom>
        </p:spPr>
      </p:pic>
      <p:sp>
        <p:nvSpPr>
          <p:cNvPr id="63" name="TextBox 63"/>
          <p:cNvSpPr txBox="1"/>
          <p:nvPr/>
        </p:nvSpPr>
        <p:spPr>
          <a:xfrm>
            <a:off x="9071364" y="5520000"/>
            <a:ext cx="2648752" cy="5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ru-RU" sz="1050" b="1" dirty="0">
                <a:solidFill>
                  <a:srgbClr val="00326E"/>
                </a:solidFill>
                <a:latin typeface="+mn-lt"/>
              </a:rPr>
              <a:t>Фото: азотная установка / </a:t>
            </a:r>
            <a:r>
              <a:rPr lang="ru-RU" sz="1050" b="1" dirty="0" smtClean="0">
                <a:solidFill>
                  <a:srgbClr val="00326E"/>
                </a:solidFill>
                <a:latin typeface="+mn-lt"/>
              </a:rPr>
              <a:t>сепаратор</a:t>
            </a:r>
            <a:endParaRPr lang="ru-RU" sz="1050" b="1" dirty="0">
              <a:solidFill>
                <a:srgbClr val="00326E"/>
              </a:solidFill>
              <a:latin typeface="+mn-lt"/>
            </a:endParaRPr>
          </a:p>
        </p:txBody>
      </p:sp>
      <p:grpSp>
        <p:nvGrpSpPr>
          <p:cNvPr id="64" name="Группа 63">
            <a:extLst>
              <a:ext uri="{FF2B5EF4-FFF2-40B4-BE49-F238E27FC236}">
                <a16:creationId xmlns:a16="http://schemas.microsoft.com/office/drawing/2014/main" xmlns="" id="{B7A7CC35-C853-A0A8-9F60-24BD5329F903}"/>
              </a:ext>
            </a:extLst>
          </p:cNvPr>
          <p:cNvGrpSpPr/>
          <p:nvPr/>
        </p:nvGrpSpPr>
        <p:grpSpPr>
          <a:xfrm>
            <a:off x="8971364" y="4796546"/>
            <a:ext cx="2857297" cy="1392000"/>
            <a:chOff x="463218" y="2423813"/>
            <a:chExt cx="3580440" cy="2114360"/>
          </a:xfrm>
        </p:grpSpPr>
        <p:pic>
          <p:nvPicPr>
            <p:cNvPr id="65" name="Рисунок 64">
              <a:extLst>
                <a:ext uri="{FF2B5EF4-FFF2-40B4-BE49-F238E27FC236}">
                  <a16:creationId xmlns:a16="http://schemas.microsoft.com/office/drawing/2014/main" xmlns="" id="{F079A71F-A309-BB63-DBEA-E4826F2E88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3218" y="3599999"/>
              <a:ext cx="1922934" cy="938174"/>
            </a:xfrm>
            <a:prstGeom prst="rect">
              <a:avLst/>
            </a:prstGeom>
          </p:spPr>
        </p:pic>
        <p:pic>
          <p:nvPicPr>
            <p:cNvPr id="66" name="Рисунок 65">
              <a:extLst>
                <a:ext uri="{FF2B5EF4-FFF2-40B4-BE49-F238E27FC236}">
                  <a16:creationId xmlns:a16="http://schemas.microsoft.com/office/drawing/2014/main" xmlns="" id="{21AD4FD0-3A94-9D9C-EA4A-7468276A3F7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3218" y="2423813"/>
              <a:ext cx="1922934" cy="1134937"/>
            </a:xfrm>
            <a:prstGeom prst="rect">
              <a:avLst/>
            </a:prstGeom>
          </p:spPr>
        </p:pic>
        <p:pic>
          <p:nvPicPr>
            <p:cNvPr id="67" name="Рисунок 66">
              <a:extLst>
                <a:ext uri="{FF2B5EF4-FFF2-40B4-BE49-F238E27FC236}">
                  <a16:creationId xmlns:a16="http://schemas.microsoft.com/office/drawing/2014/main" xmlns="" id="{30979FDA-CB77-03CA-B3F4-2E86F4B484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417405" y="2423813"/>
              <a:ext cx="1626253" cy="2114360"/>
            </a:xfrm>
            <a:prstGeom prst="rect">
              <a:avLst/>
            </a:prstGeom>
          </p:spPr>
        </p:pic>
      </p:grpSp>
      <p:pic>
        <p:nvPicPr>
          <p:cNvPr id="69" name="Picture 15" descr="A picture containing yellow, blue, sitting&#10;&#10;Description automatically generated">
            <a:extLst>
              <a:ext uri="{FF2B5EF4-FFF2-40B4-BE49-F238E27FC236}">
                <a16:creationId xmlns="" xmlns:a16="http://schemas.microsoft.com/office/drawing/2014/main" id="{EE1455CD-C223-4229-BB82-37FF9786470D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67" t="1" r="7734" b="-664"/>
          <a:stretch/>
        </p:blipFill>
        <p:spPr>
          <a:xfrm>
            <a:off x="8971364" y="1791677"/>
            <a:ext cx="1466223" cy="138832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1" name="Рисунок 70">
            <a:extLst>
              <a:ext uri="{FF2B5EF4-FFF2-40B4-BE49-F238E27FC236}">
                <a16:creationId xmlns="" xmlns:a16="http://schemas.microsoft.com/office/drawing/2014/main" id="{47C1AB19-7066-4831-A498-BCDE095620E5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t="12276" b="11868"/>
          <a:stretch/>
        </p:blipFill>
        <p:spPr>
          <a:xfrm>
            <a:off x="10437587" y="1791454"/>
            <a:ext cx="1382529" cy="1388546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46" t="41371" r="5302" b="40311"/>
          <a:stretch/>
        </p:blipFill>
        <p:spPr>
          <a:xfrm>
            <a:off x="8973084" y="3283884"/>
            <a:ext cx="2837204" cy="13961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Заключение: эффект БРД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 smtClean="0"/>
              <a:t>Почему БРД окупается на </a:t>
            </a:r>
            <a:r>
              <a:rPr lang="ru-RU" dirty="0" err="1" smtClean="0"/>
              <a:t>Мутновском</a:t>
            </a:r>
            <a:r>
              <a:rPr lang="ru-RU" dirty="0" smtClean="0"/>
              <a:t> месторождении</a:t>
            </a:r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10"/>
          </p:nvPr>
        </p:nvSpPr>
        <p:spPr/>
        <p:txBody>
          <a:bodyPr/>
          <a:lstStyle/>
          <a:p>
            <a:r>
              <a:rPr lang="ru-RU" dirty="0"/>
              <a:t>Новые технологии бурения геотермальных скважин · Мутновское месторождение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364" y="1430000"/>
            <a:ext cx="11448752" cy="28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300" b="0" dirty="0">
                <a:solidFill>
                  <a:schemeClr val="tx2"/>
                </a:solidFill>
                <a:latin typeface="+mj-lt"/>
              </a:rPr>
              <a:t>Подтверждено международной практикой</a:t>
            </a:r>
          </a:p>
        </p:txBody>
      </p:sp>
      <p:sp>
        <p:nvSpPr>
          <p:cNvPr id="12" name="Фигура 12"/>
          <p:cNvSpPr/>
          <p:nvPr/>
        </p:nvSpPr>
        <p:spPr>
          <a:xfrm>
            <a:off x="371364" y="1750000"/>
            <a:ext cx="2772188" cy="105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3" name="Фигура 13"/>
          <p:cNvSpPr/>
          <p:nvPr/>
        </p:nvSpPr>
        <p:spPr>
          <a:xfrm>
            <a:off x="371364" y="1700000"/>
            <a:ext cx="2772188" cy="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4" name="TextBox 14"/>
          <p:cNvSpPr txBox="1"/>
          <p:nvPr/>
        </p:nvSpPr>
        <p:spPr>
          <a:xfrm>
            <a:off x="491364" y="1790000"/>
            <a:ext cx="2532188" cy="97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100" b="1" dirty="0">
                <a:solidFill>
                  <a:srgbClr val="00326E"/>
                </a:solidFill>
                <a:latin typeface="+mn-lt"/>
              </a:rPr>
              <a:t>Исландия</a:t>
            </a:r>
          </a:p>
          <a:p>
            <a:pPr algn="l">
              <a:spcBef>
                <a:spcPts val="200"/>
              </a:spcBef>
              <a:buNone/>
            </a:pPr>
            <a:r>
              <a:rPr lang="ru-RU" sz="900" b="0" dirty="0">
                <a:solidFill>
                  <a:schemeClr val="bg2"/>
                </a:solidFill>
                <a:latin typeface="+mn-lt"/>
              </a:rPr>
              <a:t>стандарт Hellisheidi: продуктивная зона бурится на аэрированной воде; </a:t>
            </a:r>
            <a:r>
              <a:rPr lang="ru-RU" sz="900" b="0" dirty="0" smtClean="0">
                <a:solidFill>
                  <a:schemeClr val="bg2"/>
                </a:solidFill>
                <a:latin typeface="+mn-lt"/>
              </a:rPr>
              <a:t>увеличение механической скорости </a:t>
            </a:r>
            <a:r>
              <a:rPr lang="ru-RU" sz="900" b="0" dirty="0">
                <a:solidFill>
                  <a:schemeClr val="bg2"/>
                </a:solidFill>
                <a:latin typeface="+mn-lt"/>
              </a:rPr>
              <a:t>в базальтах — до 3×</a:t>
            </a:r>
          </a:p>
        </p:txBody>
      </p:sp>
      <p:sp>
        <p:nvSpPr>
          <p:cNvPr id="15" name="Фигура 15"/>
          <p:cNvSpPr/>
          <p:nvPr/>
        </p:nvSpPr>
        <p:spPr>
          <a:xfrm>
            <a:off x="3263552" y="1750000"/>
            <a:ext cx="2772188" cy="105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6" name="Фигура 16"/>
          <p:cNvSpPr/>
          <p:nvPr/>
        </p:nvSpPr>
        <p:spPr>
          <a:xfrm>
            <a:off x="3263552" y="1700000"/>
            <a:ext cx="2772188" cy="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7" name="TextBox 17"/>
          <p:cNvSpPr txBox="1"/>
          <p:nvPr/>
        </p:nvSpPr>
        <p:spPr>
          <a:xfrm>
            <a:off x="3383552" y="1790000"/>
            <a:ext cx="2532188" cy="97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100" b="1" dirty="0">
                <a:solidFill>
                  <a:srgbClr val="00326E"/>
                </a:solidFill>
                <a:latin typeface="+mn-lt"/>
              </a:rPr>
              <a:t>Кения, Олкария</a:t>
            </a:r>
          </a:p>
          <a:p>
            <a:pPr algn="l">
              <a:spcBef>
                <a:spcPts val="200"/>
              </a:spcBef>
              <a:buNone/>
            </a:pPr>
            <a:r>
              <a:rPr lang="ru-RU" sz="900" b="0" dirty="0">
                <a:solidFill>
                  <a:schemeClr val="bg2"/>
                </a:solidFill>
                <a:latin typeface="+mn-lt"/>
              </a:rPr>
              <a:t>средняя мощность скважин 58 МВт(т) с аэрацией против 23 МВт(т) при </a:t>
            </a:r>
            <a:r>
              <a:rPr lang="ru-RU" sz="900" b="0" dirty="0" smtClean="0">
                <a:solidFill>
                  <a:schemeClr val="bg2"/>
                </a:solidFill>
                <a:latin typeface="+mn-lt"/>
              </a:rPr>
              <a:t>бурении с поглощением на </a:t>
            </a:r>
            <a:r>
              <a:rPr lang="ru-RU" sz="900" b="0" dirty="0">
                <a:solidFill>
                  <a:schemeClr val="bg2"/>
                </a:solidFill>
                <a:latin typeface="+mn-lt"/>
              </a:rPr>
              <a:t>воде</a:t>
            </a:r>
          </a:p>
        </p:txBody>
      </p:sp>
      <p:sp>
        <p:nvSpPr>
          <p:cNvPr id="18" name="Фигура 18"/>
          <p:cNvSpPr/>
          <p:nvPr/>
        </p:nvSpPr>
        <p:spPr>
          <a:xfrm>
            <a:off x="6155740" y="1750000"/>
            <a:ext cx="2772188" cy="105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9" name="Фигура 19"/>
          <p:cNvSpPr/>
          <p:nvPr/>
        </p:nvSpPr>
        <p:spPr>
          <a:xfrm>
            <a:off x="6155740" y="1700000"/>
            <a:ext cx="2772188" cy="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0" name="TextBox 20"/>
          <p:cNvSpPr txBox="1"/>
          <p:nvPr/>
        </p:nvSpPr>
        <p:spPr>
          <a:xfrm>
            <a:off x="6275740" y="1790000"/>
            <a:ext cx="2532188" cy="97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100" b="1" dirty="0" smtClean="0">
                <a:solidFill>
                  <a:srgbClr val="00326E"/>
                </a:solidFill>
                <a:latin typeface="+mn-lt"/>
              </a:rPr>
              <a:t>Кения, KenGen (19 скважин)</a:t>
            </a:r>
            <a:endParaRPr lang="ru-RU" sz="1100" b="1" dirty="0">
              <a:solidFill>
                <a:srgbClr val="00326E"/>
              </a:solidFill>
              <a:latin typeface="+mn-lt"/>
            </a:endParaRPr>
          </a:p>
          <a:p>
            <a:pPr algn="l">
              <a:spcBef>
                <a:spcPts val="200"/>
              </a:spcBef>
              <a:buNone/>
            </a:pPr>
            <a:r>
              <a:rPr lang="ru-RU" sz="900" b="0" dirty="0">
                <a:solidFill>
                  <a:schemeClr val="bg2"/>
                </a:solidFill>
                <a:latin typeface="+mn-lt"/>
              </a:rPr>
              <a:t>потери на поглощения — в среднем $128 тыс. на скважину; отношение выгод к затратам БРД — более 4 (расчёт)</a:t>
            </a:r>
          </a:p>
        </p:txBody>
      </p:sp>
      <p:sp>
        <p:nvSpPr>
          <p:cNvPr id="21" name="Фигура 21"/>
          <p:cNvSpPr/>
          <p:nvPr/>
        </p:nvSpPr>
        <p:spPr>
          <a:xfrm>
            <a:off x="9047928" y="1750000"/>
            <a:ext cx="2772188" cy="105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2" name="Фигура 22"/>
          <p:cNvSpPr/>
          <p:nvPr/>
        </p:nvSpPr>
        <p:spPr>
          <a:xfrm>
            <a:off x="9047928" y="1700000"/>
            <a:ext cx="2772188" cy="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3" name="TextBox 23"/>
          <p:cNvSpPr txBox="1"/>
          <p:nvPr/>
        </p:nvSpPr>
        <p:spPr>
          <a:xfrm>
            <a:off x="9167928" y="1790000"/>
            <a:ext cx="2532188" cy="97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100" b="1" dirty="0">
                <a:solidFill>
                  <a:srgbClr val="00326E"/>
                </a:solidFill>
                <a:latin typeface="+mn-lt"/>
              </a:rPr>
              <a:t>Новая Зеландия</a:t>
            </a:r>
          </a:p>
          <a:p>
            <a:pPr algn="l">
              <a:spcBef>
                <a:spcPts val="200"/>
              </a:spcBef>
              <a:buNone/>
            </a:pPr>
            <a:r>
              <a:rPr lang="ru-RU" sz="900" b="0" dirty="0">
                <a:solidFill>
                  <a:schemeClr val="bg2"/>
                </a:solidFill>
                <a:latin typeface="+mn-lt"/>
              </a:rPr>
              <a:t>сервис аэрированного бурения — 5,5 % стоимости скважины (2 600 м, 38 сут)</a:t>
            </a:r>
          </a:p>
        </p:txBody>
      </p:sp>
      <p:sp>
        <p:nvSpPr>
          <p:cNvPr id="24" name="Фигура 24"/>
          <p:cNvSpPr/>
          <p:nvPr/>
        </p:nvSpPr>
        <p:spPr>
          <a:xfrm>
            <a:off x="371364" y="2980000"/>
            <a:ext cx="3716250" cy="3020000"/>
          </a:xfrm>
          <a:prstGeom prst="rect">
            <a:avLst/>
          </a:prstGeom>
          <a:solidFill>
            <a:srgbClr val="FCE8E8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5" name="TextBox 25"/>
          <p:cNvSpPr txBox="1"/>
          <p:nvPr/>
        </p:nvSpPr>
        <p:spPr>
          <a:xfrm>
            <a:off x="521364" y="3040000"/>
            <a:ext cx="3416250" cy="32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300" b="1" dirty="0">
                <a:solidFill>
                  <a:srgbClr val="C00000"/>
                </a:solidFill>
                <a:latin typeface="+mn-lt"/>
              </a:rPr>
              <a:t>Камчатка сегодня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21364" y="3380000"/>
            <a:ext cx="3416250" cy="257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0"/>
              </a:spcBef>
              <a:buFont typeface="Wingdings" pitchFamily="2" charset="2"/>
              <a:buChar char="v"/>
            </a:pPr>
            <a:r>
              <a:rPr lang="ru-RU" sz="950" b="0" dirty="0">
                <a:solidFill>
                  <a:schemeClr val="bg2"/>
                </a:solidFill>
                <a:latin typeface="+mn-lt"/>
              </a:rPr>
              <a:t>Продуктивные зоны вскрываются с </a:t>
            </a:r>
            <a:r>
              <a:rPr lang="ru-RU" sz="950" b="0" dirty="0" smtClean="0">
                <a:solidFill>
                  <a:schemeClr val="bg2"/>
                </a:solidFill>
                <a:latin typeface="+mn-lt"/>
              </a:rPr>
              <a:t>полным поглощением холодной технической воды в интервале коллектора; технология БРД никогда не применялась.</a:t>
            </a:r>
            <a:endParaRPr lang="ru-RU" sz="950" b="0" dirty="0">
              <a:solidFill>
                <a:schemeClr val="bg2"/>
              </a:solidFill>
              <a:latin typeface="+mn-lt"/>
            </a:endParaRPr>
          </a:p>
          <a:p>
            <a:pPr marL="171450" indent="-171450" algn="l">
              <a:spcBef>
                <a:spcPts val="500"/>
              </a:spcBef>
              <a:buFont typeface="Wingdings" pitchFamily="2" charset="2"/>
              <a:buChar char="v"/>
            </a:pPr>
            <a:r>
              <a:rPr lang="ru-RU" sz="950" b="0" dirty="0">
                <a:solidFill>
                  <a:schemeClr val="bg2"/>
                </a:solidFill>
                <a:latin typeface="+mn-lt"/>
              </a:rPr>
              <a:t>Дебит снижается из-за отложений кремнекислоты в стволе и прискважинной зоне; при </a:t>
            </a:r>
            <a:r>
              <a:rPr lang="ru-RU" sz="950" b="0" dirty="0" smtClean="0">
                <a:solidFill>
                  <a:schemeClr val="bg2"/>
                </a:solidFill>
                <a:latin typeface="+mn-lt"/>
              </a:rPr>
              <a:t>значительном ухудшении свойств коллектора, </a:t>
            </a:r>
            <a:r>
              <a:rPr lang="ru-RU" sz="950" b="0" dirty="0">
                <a:solidFill>
                  <a:schemeClr val="bg2"/>
                </a:solidFill>
                <a:latin typeface="+mn-lt"/>
              </a:rPr>
              <a:t>скважину </a:t>
            </a:r>
            <a:r>
              <a:rPr lang="ru-RU" sz="950" b="0" dirty="0" smtClean="0">
                <a:solidFill>
                  <a:schemeClr val="bg2"/>
                </a:solidFill>
                <a:latin typeface="+mn-lt"/>
              </a:rPr>
              <a:t>останавливают.</a:t>
            </a:r>
            <a:endParaRPr lang="ru-RU" sz="950" b="0" dirty="0">
              <a:solidFill>
                <a:schemeClr val="bg2"/>
              </a:solidFill>
              <a:latin typeface="+mn-lt"/>
            </a:endParaRPr>
          </a:p>
          <a:p>
            <a:pPr marL="171450" indent="-171450" algn="l">
              <a:spcBef>
                <a:spcPts val="500"/>
              </a:spcBef>
              <a:buFont typeface="Wingdings" pitchFamily="2" charset="2"/>
              <a:buChar char="v"/>
            </a:pPr>
            <a:r>
              <a:rPr lang="ru-RU" sz="950" b="0" dirty="0">
                <a:solidFill>
                  <a:schemeClr val="bg2"/>
                </a:solidFill>
                <a:latin typeface="+mn-lt"/>
              </a:rPr>
              <a:t>Скв. 016 — падение дебита через 4 года, Гео-6 — через 2 года; </a:t>
            </a:r>
            <a:r>
              <a:rPr lang="ru-RU" sz="950" b="0" dirty="0" smtClean="0">
                <a:solidFill>
                  <a:schemeClr val="bg2"/>
                </a:solidFill>
                <a:latin typeface="+mn-lt"/>
              </a:rPr>
              <a:t>средний жизненный цикл скважин </a:t>
            </a:r>
            <a:r>
              <a:rPr lang="ru-RU" sz="950" b="0" dirty="0">
                <a:solidFill>
                  <a:schemeClr val="bg2"/>
                </a:solidFill>
                <a:latin typeface="+mn-lt"/>
              </a:rPr>
              <a:t>≈ </a:t>
            </a:r>
            <a:r>
              <a:rPr lang="ru-RU" sz="950" b="0" dirty="0" smtClean="0">
                <a:solidFill>
                  <a:schemeClr val="bg2"/>
                </a:solidFill>
                <a:latin typeface="+mn-lt"/>
              </a:rPr>
              <a:t>4</a:t>
            </a:r>
            <a:r>
              <a:rPr lang="en-US" sz="950" b="0" dirty="0" smtClean="0">
                <a:solidFill>
                  <a:schemeClr val="bg2"/>
                </a:solidFill>
                <a:latin typeface="+mn-lt"/>
              </a:rPr>
              <a:t>-6</a:t>
            </a:r>
            <a:r>
              <a:rPr lang="ru-RU" sz="950" b="0" dirty="0" smtClean="0">
                <a:solidFill>
                  <a:schemeClr val="bg2"/>
                </a:solidFill>
                <a:latin typeface="+mn-lt"/>
              </a:rPr>
              <a:t> лет.</a:t>
            </a:r>
            <a:endParaRPr lang="ru-RU" sz="950" b="0" dirty="0">
              <a:solidFill>
                <a:schemeClr val="bg2"/>
              </a:solidFill>
              <a:latin typeface="+mn-lt"/>
            </a:endParaRPr>
          </a:p>
        </p:txBody>
      </p:sp>
      <p:sp>
        <p:nvSpPr>
          <p:cNvPr id="27" name="Фигура 27"/>
          <p:cNvSpPr/>
          <p:nvPr/>
        </p:nvSpPr>
        <p:spPr>
          <a:xfrm>
            <a:off x="4237614" y="2980000"/>
            <a:ext cx="3716250" cy="302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8" name="TextBox 28"/>
          <p:cNvSpPr txBox="1"/>
          <p:nvPr/>
        </p:nvSpPr>
        <p:spPr>
          <a:xfrm>
            <a:off x="4387614" y="3040000"/>
            <a:ext cx="3416250" cy="32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300" b="1" dirty="0">
                <a:solidFill>
                  <a:schemeClr val="tx2"/>
                </a:solidFill>
                <a:latin typeface="+mn-lt"/>
              </a:rPr>
              <a:t>Производственный эффект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387614" y="3380000"/>
            <a:ext cx="3416250" cy="257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0"/>
              </a:spcBef>
              <a:buFont typeface="Wingdings" pitchFamily="2" charset="2"/>
              <a:buChar char="v"/>
            </a:pPr>
            <a:r>
              <a:rPr lang="ru-RU" sz="950" b="0" dirty="0">
                <a:solidFill>
                  <a:schemeClr val="bg2"/>
                </a:solidFill>
                <a:latin typeface="+mn-lt"/>
              </a:rPr>
              <a:t>Вывод скважины на режим без длительного прогрева — дебит в первоначальном объёме;</a:t>
            </a:r>
          </a:p>
          <a:p>
            <a:pPr marL="171450" indent="-171450" algn="l">
              <a:spcBef>
                <a:spcPts val="500"/>
              </a:spcBef>
              <a:buFont typeface="Wingdings" pitchFamily="2" charset="2"/>
              <a:buChar char="v"/>
            </a:pPr>
            <a:r>
              <a:rPr lang="ru-RU" sz="950" b="0" dirty="0">
                <a:solidFill>
                  <a:schemeClr val="bg2"/>
                </a:solidFill>
                <a:latin typeface="+mn-lt"/>
              </a:rPr>
              <a:t>Сохранение проницаемости трещин — выше дебит и дольше межремонтный период;</a:t>
            </a:r>
          </a:p>
          <a:p>
            <a:pPr marL="171450" indent="-171450" algn="l">
              <a:spcBef>
                <a:spcPts val="500"/>
              </a:spcBef>
              <a:buFont typeface="Wingdings" pitchFamily="2" charset="2"/>
              <a:buChar char="v"/>
            </a:pPr>
            <a:r>
              <a:rPr lang="ru-RU" sz="950" b="0" dirty="0">
                <a:solidFill>
                  <a:schemeClr val="bg2"/>
                </a:solidFill>
                <a:latin typeface="+mn-lt"/>
              </a:rPr>
              <a:t>Выше механическая скорость, меньше СПО, </a:t>
            </a:r>
            <a:r>
              <a:rPr lang="ru-RU" sz="950" b="0" dirty="0" smtClean="0">
                <a:solidFill>
                  <a:schemeClr val="bg2"/>
                </a:solidFill>
                <a:latin typeface="+mn-lt"/>
              </a:rPr>
              <a:t>проработок и расхода долот</a:t>
            </a:r>
            <a:r>
              <a:rPr lang="ru-RU" sz="950" b="0" dirty="0">
                <a:solidFill>
                  <a:schemeClr val="bg2"/>
                </a:solidFill>
                <a:latin typeface="+mn-lt"/>
              </a:rPr>
              <a:t>;</a:t>
            </a:r>
          </a:p>
          <a:p>
            <a:pPr marL="171450" indent="-171450" algn="l">
              <a:spcBef>
                <a:spcPts val="500"/>
              </a:spcBef>
              <a:buFont typeface="Wingdings" pitchFamily="2" charset="2"/>
              <a:buChar char="v"/>
            </a:pPr>
            <a:r>
              <a:rPr lang="ru-RU" sz="950" b="0" dirty="0">
                <a:solidFill>
                  <a:schemeClr val="bg2"/>
                </a:solidFill>
                <a:latin typeface="+mn-lt"/>
              </a:rPr>
              <a:t>Меньше </a:t>
            </a:r>
            <a:r>
              <a:rPr lang="ru-RU" sz="950" b="0" dirty="0" smtClean="0">
                <a:solidFill>
                  <a:schemeClr val="bg2"/>
                </a:solidFill>
                <a:latin typeface="+mn-lt"/>
              </a:rPr>
              <a:t>расхода воды</a:t>
            </a:r>
            <a:r>
              <a:rPr lang="ru-RU" sz="950" b="0" dirty="0">
                <a:solidFill>
                  <a:schemeClr val="bg2"/>
                </a:solidFill>
                <a:latin typeface="+mn-lt"/>
              </a:rPr>
              <a:t>, простоев на её набор и </a:t>
            </a:r>
            <a:r>
              <a:rPr lang="ru-RU" sz="950" b="0" dirty="0" smtClean="0">
                <a:solidFill>
                  <a:schemeClr val="bg2"/>
                </a:solidFill>
                <a:latin typeface="+mn-lt"/>
              </a:rPr>
              <a:t>затрат на ее завоз автоцистернами.</a:t>
            </a:r>
            <a:endParaRPr lang="ru-RU" sz="950" b="0" dirty="0">
              <a:solidFill>
                <a:schemeClr val="bg2"/>
              </a:solidFill>
              <a:latin typeface="+mn-lt"/>
            </a:endParaRPr>
          </a:p>
        </p:txBody>
      </p:sp>
      <p:sp>
        <p:nvSpPr>
          <p:cNvPr id="30" name="Фигура 30"/>
          <p:cNvSpPr/>
          <p:nvPr/>
        </p:nvSpPr>
        <p:spPr>
          <a:xfrm>
            <a:off x="8103865" y="2980000"/>
            <a:ext cx="3716250" cy="30200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1" name="TextBox 31"/>
          <p:cNvSpPr txBox="1"/>
          <p:nvPr/>
        </p:nvSpPr>
        <p:spPr>
          <a:xfrm>
            <a:off x="8253865" y="3040000"/>
            <a:ext cx="3416250" cy="32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300" b="1" dirty="0">
                <a:solidFill>
                  <a:srgbClr val="FFFFFF"/>
                </a:solidFill>
                <a:latin typeface="+mn-lt"/>
              </a:rPr>
              <a:t>Экономический эффект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8253865" y="3400000"/>
            <a:ext cx="1450000" cy="85333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500" b="1" dirty="0">
                <a:solidFill>
                  <a:srgbClr val="FFFFFF"/>
                </a:solidFill>
                <a:latin typeface="+mn-lt"/>
              </a:rPr>
              <a:t>≈ </a:t>
            </a:r>
            <a:r>
              <a:rPr lang="ru-RU" sz="1500" b="1" dirty="0" smtClean="0">
                <a:solidFill>
                  <a:srgbClr val="FFFFFF"/>
                </a:solidFill>
                <a:latin typeface="+mn-lt"/>
              </a:rPr>
              <a:t>330 </a:t>
            </a:r>
            <a:r>
              <a:rPr lang="ru-RU" sz="1500" b="1" dirty="0">
                <a:solidFill>
                  <a:srgbClr val="FFFFFF"/>
                </a:solidFill>
                <a:latin typeface="+mn-lt"/>
              </a:rPr>
              <a:t>млн ₽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9703865" y="3400000"/>
            <a:ext cx="2016250" cy="85333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rgbClr val="FFFFFF"/>
                </a:solidFill>
                <a:latin typeface="+mn-lt"/>
              </a:rPr>
              <a:t>стоимость новой скважины взамен </a:t>
            </a:r>
            <a:r>
              <a:rPr lang="ru-RU" sz="850" b="0" dirty="0" smtClean="0">
                <a:solidFill>
                  <a:srgbClr val="FFFFFF"/>
                </a:solidFill>
                <a:latin typeface="+mn-lt"/>
              </a:rPr>
              <a:t>выбывшей</a:t>
            </a:r>
            <a:endParaRPr lang="ru-RU" sz="850" b="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8253865" y="4253333"/>
            <a:ext cx="1450000" cy="85333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500" b="1" dirty="0">
                <a:solidFill>
                  <a:srgbClr val="FFFFFF"/>
                </a:solidFill>
                <a:latin typeface="+mn-lt"/>
              </a:rPr>
              <a:t>≈ </a:t>
            </a:r>
            <a:r>
              <a:rPr lang="ru-RU" sz="1500" b="1" dirty="0" smtClean="0">
                <a:solidFill>
                  <a:srgbClr val="FFFFFF"/>
                </a:solidFill>
                <a:latin typeface="+mn-lt"/>
              </a:rPr>
              <a:t>20 </a:t>
            </a:r>
            <a:r>
              <a:rPr lang="ru-RU" sz="1500" b="1" dirty="0">
                <a:solidFill>
                  <a:srgbClr val="FFFFFF"/>
                </a:solidFill>
                <a:latin typeface="+mn-lt"/>
              </a:rPr>
              <a:t>%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703865" y="4253333"/>
            <a:ext cx="2016250" cy="85333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rgbClr val="FFFFFF"/>
                </a:solidFill>
                <a:latin typeface="+mn-lt"/>
              </a:rPr>
              <a:t>доля сервиса </a:t>
            </a:r>
            <a:r>
              <a:rPr lang="ru-RU" sz="850" b="0" dirty="0" smtClean="0">
                <a:solidFill>
                  <a:srgbClr val="FFFFFF"/>
                </a:solidFill>
                <a:latin typeface="+mn-lt"/>
              </a:rPr>
              <a:t>БРД в </a:t>
            </a:r>
            <a:r>
              <a:rPr lang="ru-RU" sz="850" b="0" dirty="0">
                <a:solidFill>
                  <a:srgbClr val="FFFFFF"/>
                </a:solidFill>
                <a:latin typeface="+mn-lt"/>
              </a:rPr>
              <a:t>стоимости скважины (≈ </a:t>
            </a:r>
            <a:r>
              <a:rPr lang="ru-RU" sz="850" b="0" dirty="0" smtClean="0">
                <a:solidFill>
                  <a:srgbClr val="FFFFFF"/>
                </a:solidFill>
                <a:latin typeface="+mn-lt"/>
              </a:rPr>
              <a:t>65 </a:t>
            </a:r>
            <a:r>
              <a:rPr lang="ru-RU" sz="850" b="0" dirty="0">
                <a:solidFill>
                  <a:srgbClr val="FFFFFF"/>
                </a:solidFill>
                <a:latin typeface="+mn-lt"/>
              </a:rPr>
              <a:t>млн руб</a:t>
            </a:r>
            <a:r>
              <a:rPr lang="ru-RU" sz="850" b="0" dirty="0" smtClean="0">
                <a:solidFill>
                  <a:srgbClr val="FFFFFF"/>
                </a:solidFill>
                <a:latin typeface="+mn-lt"/>
              </a:rPr>
              <a:t>. с учетом роста </a:t>
            </a:r>
            <a:r>
              <a:rPr lang="ru-RU" sz="850" b="0" dirty="0" err="1" smtClean="0">
                <a:solidFill>
                  <a:srgbClr val="FFFFFF"/>
                </a:solidFill>
                <a:latin typeface="+mn-lt"/>
              </a:rPr>
              <a:t>ком.скорости</a:t>
            </a:r>
            <a:r>
              <a:rPr lang="ru-RU" sz="850" b="0" dirty="0" smtClean="0">
                <a:solidFill>
                  <a:srgbClr val="FFFFFF"/>
                </a:solidFill>
                <a:latin typeface="+mn-lt"/>
              </a:rPr>
              <a:t>)</a:t>
            </a:r>
            <a:endParaRPr lang="ru-RU" sz="850" b="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8253865" y="5106666"/>
            <a:ext cx="1450000" cy="85333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500" b="1" dirty="0" smtClean="0">
                <a:solidFill>
                  <a:srgbClr val="FFFFFF"/>
                </a:solidFill>
                <a:latin typeface="+mn-lt"/>
              </a:rPr>
              <a:t>+20 </a:t>
            </a:r>
            <a:r>
              <a:rPr lang="ru-RU" sz="1500" b="1" dirty="0">
                <a:solidFill>
                  <a:srgbClr val="FFFFFF"/>
                </a:solidFill>
                <a:latin typeface="+mn-lt"/>
              </a:rPr>
              <a:t>%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9703865" y="5106666"/>
            <a:ext cx="2016250" cy="85333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rgbClr val="FFFFFF"/>
                </a:solidFill>
                <a:latin typeface="+mn-lt"/>
              </a:rPr>
              <a:t>прирост мощности скважины (≈ +0,6 МВт к средним 2,9 МВт), при котором БРД окупается — расчёт на слайде 4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371364" y="6040000"/>
            <a:ext cx="11448752" cy="2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rgbClr val="C00000"/>
                </a:solidFill>
                <a:latin typeface="+mn-lt"/>
              </a:rPr>
              <a:t>Международные показатели — ориентиры с других месторождений; эффект для </a:t>
            </a:r>
            <a:r>
              <a:rPr lang="ru-RU" sz="850" b="0" dirty="0" err="1">
                <a:solidFill>
                  <a:srgbClr val="C00000"/>
                </a:solidFill>
                <a:latin typeface="+mn-lt"/>
              </a:rPr>
              <a:t>Мутновского</a:t>
            </a:r>
            <a:r>
              <a:rPr lang="ru-RU" sz="850" b="0" dirty="0">
                <a:solidFill>
                  <a:srgbClr val="C00000"/>
                </a:solidFill>
                <a:latin typeface="+mn-lt"/>
              </a:rPr>
              <a:t> </a:t>
            </a:r>
            <a:r>
              <a:rPr lang="ru-RU" sz="850" b="0" dirty="0" smtClean="0">
                <a:solidFill>
                  <a:srgbClr val="C00000"/>
                </a:solidFill>
                <a:latin typeface="+mn-lt"/>
              </a:rPr>
              <a:t>месторождения подтверждается </a:t>
            </a:r>
            <a:r>
              <a:rPr lang="ru-RU" sz="850" b="0" dirty="0">
                <a:solidFill>
                  <a:srgbClr val="C00000"/>
                </a:solidFill>
                <a:latin typeface="+mn-lt"/>
              </a:rPr>
              <a:t>ОПР на первой скважине. Расчёт окупаемости — ориентировочный.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71364" y="6280000"/>
            <a:ext cx="11448752" cy="2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750" b="0" dirty="0">
                <a:solidFill>
                  <a:schemeClr val="bg2"/>
                </a:solidFill>
                <a:latin typeface="+mn-lt"/>
              </a:rPr>
              <a:t>Источники: UNU-GTP 2008 Report 11; Birkisson, Hole, EGC 2007; Nzioka et al., 2014; Вестник РусГидро, 2018; Спектор и др., «Разведка и охрана недр», № 2, 2025; Чернев И.И., ИГД ДВО РАН.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Мощность и окупаемость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/>
              <a:t>С</a:t>
            </a:r>
            <a:r>
              <a:rPr lang="ru-RU" dirty="0" smtClean="0"/>
              <a:t>правка </a:t>
            </a:r>
            <a:r>
              <a:rPr lang="ru-RU" dirty="0"/>
              <a:t>добычи ПВС, январь–май 2024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10"/>
          </p:nvPr>
        </p:nvSpPr>
        <p:spPr/>
        <p:txBody>
          <a:bodyPr/>
          <a:lstStyle/>
          <a:p>
            <a:r>
              <a:rPr lang="ru-RU" dirty="0"/>
              <a:t>Новые технологии бурения геотермальных скважин · Мутновское месторождение</a:t>
            </a:r>
          </a:p>
        </p:txBody>
      </p:sp>
      <p:sp>
        <p:nvSpPr>
          <p:cNvPr id="11" name="Фигура 11"/>
          <p:cNvSpPr/>
          <p:nvPr/>
        </p:nvSpPr>
        <p:spPr>
          <a:xfrm>
            <a:off x="371364" y="1480000"/>
            <a:ext cx="5900000" cy="333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2" name="Фигура 12"/>
          <p:cNvSpPr/>
          <p:nvPr/>
        </p:nvSpPr>
        <p:spPr>
          <a:xfrm>
            <a:off x="371364" y="1411000"/>
            <a:ext cx="5900000" cy="7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3" name="TextBox 13"/>
          <p:cNvSpPr txBox="1"/>
          <p:nvPr/>
        </p:nvSpPr>
        <p:spPr>
          <a:xfrm>
            <a:off x="521364" y="1530000"/>
            <a:ext cx="5600000" cy="3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150" b="1" dirty="0">
                <a:solidFill>
                  <a:schemeClr val="tx2"/>
                </a:solidFill>
                <a:latin typeface="+mn-lt"/>
              </a:rPr>
              <a:t>Расчётная мощность добычных скважин участка Дачный, МВт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1364" y="4480000"/>
            <a:ext cx="5600000" cy="3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Расчёт: 40 МВт средней нагрузки МГеоЭС-1 распределены пропорционально добыче ПВС; паросодержание 26 % в справке принято единым для всех скважин.</a:t>
            </a:r>
          </a:p>
        </p:txBody>
      </p:sp>
      <p:sp>
        <p:nvSpPr>
          <p:cNvPr id="15" name="Фигура 15"/>
          <p:cNvSpPr/>
          <p:nvPr/>
        </p:nvSpPr>
        <p:spPr>
          <a:xfrm>
            <a:off x="371364" y="4960000"/>
            <a:ext cx="5900000" cy="1190000"/>
          </a:xfrm>
          <a:prstGeom prst="rect">
            <a:avLst/>
          </a:prstGeom>
          <a:solidFill>
            <a:srgbClr val="FCE8E8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6" name="TextBox 16"/>
          <p:cNvSpPr txBox="1"/>
          <p:nvPr/>
        </p:nvSpPr>
        <p:spPr>
          <a:xfrm>
            <a:off x="521364" y="4960000"/>
            <a:ext cx="1700000" cy="119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2000" b="1" dirty="0">
                <a:solidFill>
                  <a:srgbClr val="C00000"/>
                </a:solidFill>
                <a:latin typeface="+mn-lt"/>
              </a:rPr>
              <a:t>606 мг/л</a:t>
            </a:r>
          </a:p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SiO₂ в сепарате Гео-8 (2024)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321364" y="4960000"/>
            <a:ext cx="3850000" cy="119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0" dirty="0">
                <a:solidFill>
                  <a:schemeClr val="bg2"/>
                </a:solidFill>
                <a:latin typeface="+mn-lt"/>
              </a:rPr>
              <a:t>Растворимость аморфного кремнезёма при 100 °C ≈ 370 мг/л. При охлаждении флюида холодной технической водой кремнезём пересыщается и осаждается в трещинах — </a:t>
            </a:r>
            <a:r>
              <a:rPr lang="ru-RU" sz="950" b="0" dirty="0" smtClean="0">
                <a:solidFill>
                  <a:schemeClr val="bg2"/>
                </a:solidFill>
                <a:latin typeface="+mn-lt"/>
              </a:rPr>
              <a:t>гипотеза о </a:t>
            </a:r>
            <a:r>
              <a:rPr lang="ru-RU" sz="950" b="0" dirty="0">
                <a:solidFill>
                  <a:schemeClr val="bg2"/>
                </a:solidFill>
                <a:latin typeface="+mn-lt"/>
              </a:rPr>
              <a:t>закупорке </a:t>
            </a:r>
            <a:r>
              <a:rPr lang="ru-RU" sz="950" b="0" dirty="0" smtClean="0">
                <a:solidFill>
                  <a:schemeClr val="bg2"/>
                </a:solidFill>
                <a:latin typeface="+mn-lt"/>
              </a:rPr>
              <a:t>трещин подтверждается </a:t>
            </a:r>
            <a:r>
              <a:rPr lang="ru-RU" sz="950" b="0" dirty="0">
                <a:solidFill>
                  <a:schemeClr val="bg2"/>
                </a:solidFill>
                <a:latin typeface="+mn-lt"/>
              </a:rPr>
              <a:t>для </a:t>
            </a:r>
            <a:r>
              <a:rPr lang="ru-RU" sz="950" b="0" dirty="0" err="1" smtClean="0">
                <a:solidFill>
                  <a:schemeClr val="bg2"/>
                </a:solidFill>
                <a:latin typeface="+mn-lt"/>
              </a:rPr>
              <a:t>Мутновского</a:t>
            </a:r>
            <a:r>
              <a:rPr lang="ru-RU" sz="950" b="0" dirty="0" smtClean="0">
                <a:solidFill>
                  <a:schemeClr val="bg2"/>
                </a:solidFill>
                <a:latin typeface="+mn-lt"/>
              </a:rPr>
              <a:t> месторождения.</a:t>
            </a:r>
            <a:endParaRPr lang="ru-RU" sz="950" b="0" dirty="0">
              <a:solidFill>
                <a:schemeClr val="bg2"/>
              </a:solidFill>
              <a:latin typeface="+mn-lt"/>
            </a:endParaRPr>
          </a:p>
        </p:txBody>
      </p:sp>
      <p:sp>
        <p:nvSpPr>
          <p:cNvPr id="18" name="Фигура 18"/>
          <p:cNvSpPr/>
          <p:nvPr/>
        </p:nvSpPr>
        <p:spPr>
          <a:xfrm>
            <a:off x="6501364" y="1480000"/>
            <a:ext cx="5318752" cy="225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9" name="Фигура 19"/>
          <p:cNvSpPr/>
          <p:nvPr/>
        </p:nvSpPr>
        <p:spPr>
          <a:xfrm>
            <a:off x="6501364" y="1411000"/>
            <a:ext cx="5318752" cy="7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0" name="TextBox 20"/>
          <p:cNvSpPr txBox="1"/>
          <p:nvPr/>
        </p:nvSpPr>
        <p:spPr>
          <a:xfrm>
            <a:off x="6651364" y="1530000"/>
            <a:ext cx="5018752" cy="3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150" b="1" dirty="0" smtClean="0">
                <a:solidFill>
                  <a:schemeClr val="tx2"/>
                </a:solidFill>
              </a:rPr>
              <a:t>Оценка фактической </a:t>
            </a:r>
            <a:r>
              <a:rPr lang="ru-RU" sz="1150" b="1" smtClean="0">
                <a:solidFill>
                  <a:schemeClr val="tx2"/>
                </a:solidFill>
              </a:rPr>
              <a:t>мощности скважин - </a:t>
            </a:r>
            <a:r>
              <a:rPr lang="ru-RU" sz="1150" b="1" smtClean="0">
                <a:solidFill>
                  <a:schemeClr val="tx2"/>
                </a:solidFill>
                <a:latin typeface="+mn-lt"/>
              </a:rPr>
              <a:t>3–4 МВт</a:t>
            </a:r>
            <a:endParaRPr lang="ru-RU" sz="1150" b="1" dirty="0">
              <a:solidFill>
                <a:schemeClr val="tx2"/>
              </a:solidFill>
              <a:latin typeface="+mn-lt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6651364" y="1860000"/>
            <a:ext cx="1500000" cy="51333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400" b="1" dirty="0">
                <a:solidFill>
                  <a:srgbClr val="00326E"/>
                </a:solidFill>
                <a:latin typeface="+mn-lt"/>
              </a:rPr>
              <a:t>50 / ≈40 МВт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201364" y="1860000"/>
            <a:ext cx="3518752" cy="51333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установленная / средняя фактическая мощность МГеоЭС-1 (≈350 млн кВт·ч в год, КИУМ 78,5 %)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651364" y="2373333"/>
            <a:ext cx="1500000" cy="51333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400" b="1" dirty="0">
                <a:solidFill>
                  <a:srgbClr val="00326E"/>
                </a:solidFill>
                <a:latin typeface="+mn-lt"/>
              </a:rPr>
              <a:t>2,9 МВт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201364" y="2373333"/>
            <a:ext cx="3518752" cy="51333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средняя мощность скважины (Дачный, 14 скв.); по месторождению ≈ 3,1 МВт (≈50 МВт / 16 скв.)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651364" y="2886666"/>
            <a:ext cx="1500000" cy="51333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400" b="1" dirty="0">
                <a:solidFill>
                  <a:srgbClr val="00326E"/>
                </a:solidFill>
                <a:latin typeface="+mn-lt"/>
              </a:rPr>
              <a:t>1,9 МВт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201364" y="2886666"/>
            <a:ext cx="3518752" cy="51333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медиана: 5 скважин дают 64 % мощности участка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651364" y="3400000"/>
            <a:ext cx="5018752" cy="3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00" b="1" dirty="0">
                <a:solidFill>
                  <a:srgbClr val="00326E"/>
                </a:solidFill>
                <a:latin typeface="+mn-lt"/>
              </a:rPr>
              <a:t>Вывод: «3–4 МВт» верно как среднее (нижняя граница); типичная скважина — около 2 МВт.</a:t>
            </a:r>
          </a:p>
        </p:txBody>
      </p:sp>
      <p:sp>
        <p:nvSpPr>
          <p:cNvPr id="28" name="Фигура 28"/>
          <p:cNvSpPr/>
          <p:nvPr/>
        </p:nvSpPr>
        <p:spPr>
          <a:xfrm>
            <a:off x="6501364" y="3880000"/>
            <a:ext cx="5318752" cy="22700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9" name="TextBox 29"/>
          <p:cNvSpPr txBox="1"/>
          <p:nvPr/>
        </p:nvSpPr>
        <p:spPr>
          <a:xfrm>
            <a:off x="6651364" y="3930000"/>
            <a:ext cx="5018752" cy="3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150" b="1" dirty="0">
                <a:solidFill>
                  <a:srgbClr val="FFFFFF"/>
                </a:solidFill>
                <a:latin typeface="+mn-lt"/>
              </a:rPr>
              <a:t>Окупаемость БРД на одной скважине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6651364" y="4260000"/>
            <a:ext cx="1500000" cy="61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300" b="1" dirty="0" smtClean="0">
                <a:solidFill>
                  <a:srgbClr val="FFFFFF"/>
                </a:solidFill>
                <a:latin typeface="+mn-lt"/>
              </a:rPr>
              <a:t>≈</a:t>
            </a:r>
            <a:r>
              <a:rPr lang="en-US" sz="1300" b="1" dirty="0" smtClean="0">
                <a:solidFill>
                  <a:srgbClr val="FFFFFF"/>
                </a:solidFill>
                <a:latin typeface="+mn-lt"/>
              </a:rPr>
              <a:t>114</a:t>
            </a:r>
            <a:r>
              <a:rPr lang="ru-RU" sz="1300" b="1" dirty="0" smtClean="0">
                <a:solidFill>
                  <a:srgbClr val="FFFFFF"/>
                </a:solidFill>
                <a:latin typeface="+mn-lt"/>
              </a:rPr>
              <a:t> </a:t>
            </a:r>
            <a:r>
              <a:rPr lang="ru-RU" sz="1300" b="1" dirty="0">
                <a:solidFill>
                  <a:srgbClr val="FFFFFF"/>
                </a:solidFill>
                <a:latin typeface="+mn-lt"/>
              </a:rPr>
              <a:t>млн ₽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8201364" y="4260000"/>
            <a:ext cx="3518752" cy="61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rgbClr val="FFFFFF"/>
                </a:solidFill>
                <a:latin typeface="+mn-lt"/>
              </a:rPr>
              <a:t>стоимость 1 МВт мощности новой скважины </a:t>
            </a:r>
            <a:r>
              <a:rPr lang="ru-RU" sz="850" b="0" dirty="0" smtClean="0">
                <a:solidFill>
                  <a:srgbClr val="FFFFFF"/>
                </a:solidFill>
                <a:latin typeface="+mn-lt"/>
              </a:rPr>
              <a:t>(330 </a:t>
            </a:r>
            <a:r>
              <a:rPr lang="ru-RU" sz="850" b="0" dirty="0">
                <a:solidFill>
                  <a:srgbClr val="FFFFFF"/>
                </a:solidFill>
                <a:latin typeface="+mn-lt"/>
              </a:rPr>
              <a:t>млн ₽ / 2,9 МВт)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651364" y="4870000"/>
            <a:ext cx="1500000" cy="61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300" b="1" dirty="0">
                <a:solidFill>
                  <a:srgbClr val="FFFFFF"/>
                </a:solidFill>
                <a:latin typeface="+mn-lt"/>
              </a:rPr>
              <a:t>+0,6 МВт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201364" y="4870000"/>
            <a:ext cx="3518752" cy="61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rgbClr val="FFFFFF"/>
                </a:solidFill>
                <a:latin typeface="+mn-lt"/>
              </a:rPr>
              <a:t>точка окупаемости БРД </a:t>
            </a:r>
            <a:r>
              <a:rPr lang="en-US" sz="850" b="0" smtClean="0">
                <a:solidFill>
                  <a:srgbClr val="FFFFFF"/>
                </a:solidFill>
                <a:latin typeface="+mn-lt"/>
              </a:rPr>
              <a:t>65</a:t>
            </a:r>
            <a:r>
              <a:rPr lang="ru-RU" sz="850" b="0" smtClean="0">
                <a:solidFill>
                  <a:srgbClr val="FFFFFF"/>
                </a:solidFill>
                <a:latin typeface="+mn-lt"/>
              </a:rPr>
              <a:t> </a:t>
            </a:r>
            <a:r>
              <a:rPr lang="ru-RU" sz="850" b="0" dirty="0">
                <a:solidFill>
                  <a:srgbClr val="FFFFFF"/>
                </a:solidFill>
                <a:latin typeface="+mn-lt"/>
              </a:rPr>
              <a:t>млн ₽ — прирост +20 % к средней скважине (≈ 4 млн кВт·ч в год)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651364" y="5480000"/>
            <a:ext cx="1500000" cy="61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300" b="1" dirty="0">
                <a:solidFill>
                  <a:srgbClr val="FFFFFF"/>
                </a:solidFill>
                <a:latin typeface="+mn-lt"/>
              </a:rPr>
              <a:t>+10 % … ×2,5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8201364" y="5480000"/>
            <a:ext cx="3518752" cy="61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rgbClr val="FFFFFF"/>
                </a:solidFill>
                <a:latin typeface="+mn-lt"/>
              </a:rPr>
              <a:t>ожидаемый прирост: минимум по руководству UBD (McLennan, 1997) — Олкария (23 → 58 МВт тепл.)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371364" y="6230000"/>
            <a:ext cx="11448752" cy="2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750" b="0" dirty="0">
                <a:solidFill>
                  <a:schemeClr val="bg2"/>
                </a:solidFill>
                <a:latin typeface="+mn-lt"/>
              </a:rPr>
              <a:t>Источники: справка добычи ПВС и хим. анализ Гео-8, ПАО «Камчатскэнерго», 2024; Спектор и др., 2025; растворимость SiO₂ — Dove et al.; Nzioka et al., 2014.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471364" y="1810000"/>
          <a:ext cx="5700000" cy="267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Анализ: разведка и добыча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/>
              <a:t>Эффект БРД для МГеоЭС-2 помимо коммерческой скорости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10"/>
          </p:nvPr>
        </p:nvSpPr>
        <p:spPr/>
        <p:txBody>
          <a:bodyPr/>
          <a:lstStyle/>
          <a:p>
            <a:r>
              <a:rPr lang="ru-RU" dirty="0"/>
              <a:t>Новые технологии бурения геотермальных скважин · Мутновское месторождение</a:t>
            </a:r>
          </a:p>
        </p:txBody>
      </p:sp>
      <p:sp>
        <p:nvSpPr>
          <p:cNvPr id="11" name="Фигура 11"/>
          <p:cNvSpPr/>
          <p:nvPr/>
        </p:nvSpPr>
        <p:spPr>
          <a:xfrm>
            <a:off x="371364" y="1500000"/>
            <a:ext cx="5624376" cy="350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2" name="Фигура 12"/>
          <p:cNvSpPr/>
          <p:nvPr/>
        </p:nvSpPr>
        <p:spPr>
          <a:xfrm>
            <a:off x="371364" y="1431000"/>
            <a:ext cx="5624376" cy="7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3" name="TextBox 13"/>
          <p:cNvSpPr txBox="1"/>
          <p:nvPr/>
        </p:nvSpPr>
        <p:spPr>
          <a:xfrm>
            <a:off x="501364" y="1540000"/>
            <a:ext cx="5364376" cy="3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100" b="1" dirty="0">
                <a:solidFill>
                  <a:schemeClr val="tx2"/>
                </a:solidFill>
                <a:latin typeface="+mn-lt"/>
              </a:rPr>
              <a:t>Разведка · 3 скважины</a:t>
            </a:r>
          </a:p>
        </p:txBody>
      </p:sp>
      <p:pic>
        <p:nvPicPr>
          <p:cNvPr id="14" name="Иконка 14" descr="TbFilterOff_4BAF4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1364" y="1930000"/>
            <a:ext cx="300000" cy="30000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911364" y="1880000"/>
            <a:ext cx="4944376" cy="614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00326E"/>
                </a:solidFill>
                <a:latin typeface="+mn-lt"/>
              </a:rPr>
              <a:t>Поглощения — главная статья экономии</a:t>
            </a:r>
          </a:p>
          <a:p>
            <a:pPr algn="l">
              <a:spcBef>
                <a:spcPts val="15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Ликвидация поглощений — ≈10 % стоимости скважины на зрелых месторождениях и &gt;20 % на разведочных (Sandia, 2010); по более ранним оценкам — 25 % и более (Sandia, 1981).</a:t>
            </a:r>
          </a:p>
        </p:txBody>
      </p:sp>
      <p:pic>
        <p:nvPicPr>
          <p:cNvPr id="16" name="Иконка 16" descr="TbSearch_4BAF4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1364" y="2544000"/>
            <a:ext cx="300000" cy="300000"/>
          </a:xfrm>
          <a:prstGeom prst="rect">
            <a:avLst/>
          </a:prstGeom>
        </p:spPr>
      </p:pic>
      <p:sp>
        <p:nvSpPr>
          <p:cNvPr id="17" name="TextBox 17"/>
          <p:cNvSpPr txBox="1"/>
          <p:nvPr/>
        </p:nvSpPr>
        <p:spPr>
          <a:xfrm>
            <a:off x="911364" y="2494000"/>
            <a:ext cx="4944376" cy="614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00326E"/>
                </a:solidFill>
                <a:latin typeface="+mn-lt"/>
              </a:rPr>
              <a:t>Достоверная оценка ресурса</a:t>
            </a:r>
          </a:p>
          <a:p>
            <a:pPr algn="l">
              <a:spcBef>
                <a:spcPts val="15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Без повреждения ПЗП испытания показывают продуктивность пласта, а не последствия бурения. SK-2D (Филиппины): скин +27, предположительно от бурения; после перфорации и кислотной обработки — 4,3 МВт.</a:t>
            </a:r>
          </a:p>
        </p:txBody>
      </p:sp>
      <p:pic>
        <p:nvPicPr>
          <p:cNvPr id="18" name="Иконка 18" descr="TbStack2_4BAF46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1364" y="3158000"/>
            <a:ext cx="300000" cy="3000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911364" y="3108000"/>
            <a:ext cx="4944376" cy="614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00326E"/>
                </a:solidFill>
                <a:latin typeface="+mn-lt"/>
              </a:rPr>
              <a:t>Контроль геологии по стволу</a:t>
            </a:r>
          </a:p>
          <a:p>
            <a:pPr algn="l">
              <a:spcBef>
                <a:spcPts val="15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Шлам выносится по большей части ствола, притоки фиксируются в процессе бурения — решения о конечном забое и зарезке бокового ствола принимаются по фактическим данным.</a:t>
            </a:r>
          </a:p>
        </p:txBody>
      </p:sp>
      <p:pic>
        <p:nvPicPr>
          <p:cNvPr id="20" name="Иконка 20" descr="TbCalendarTime_4BAF46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11364" y="3772000"/>
            <a:ext cx="300000" cy="30000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911364" y="3722000"/>
            <a:ext cx="4944376" cy="614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00326E"/>
                </a:solidFill>
                <a:latin typeface="+mn-lt"/>
              </a:rPr>
              <a:t>Сокращение сроков испытаний</a:t>
            </a:r>
          </a:p>
          <a:p>
            <a:pPr algn="l">
              <a:spcBef>
                <a:spcPts val="15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Тепловое восстановление — 2 сут – 2 нед. вместо 2 нед. – 3 мес.: испытания начинаются раньше, снижается риск сдвига инвестиционного решения 2027 г.</a:t>
            </a:r>
          </a:p>
        </p:txBody>
      </p:sp>
      <p:pic>
        <p:nvPicPr>
          <p:cNvPr id="22" name="Иконка 22" descr="TbTool_4BAF46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11364" y="4386000"/>
            <a:ext cx="300000" cy="300000"/>
          </a:xfrm>
          <a:prstGeom prst="rect">
            <a:avLst/>
          </a:prstGeom>
        </p:spPr>
      </p:pic>
      <p:sp>
        <p:nvSpPr>
          <p:cNvPr id="23" name="TextBox 23"/>
          <p:cNvSpPr txBox="1"/>
          <p:nvPr/>
        </p:nvSpPr>
        <p:spPr>
          <a:xfrm>
            <a:off x="911364" y="4336000"/>
            <a:ext cx="4944376" cy="614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00326E"/>
                </a:solidFill>
                <a:latin typeface="+mn-lt"/>
              </a:rPr>
              <a:t>Отработка режима на 3 скважинах</a:t>
            </a:r>
          </a:p>
          <a:p>
            <a:pPr algn="l">
              <a:spcBef>
                <a:spcPts val="15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Режим аэрации, оборудование и квалификация персонала отрабатываются до бурения 12 добычных скважин; разведочная скважина при переводе в добычу не требует стимуляции.</a:t>
            </a:r>
          </a:p>
        </p:txBody>
      </p:sp>
      <p:sp>
        <p:nvSpPr>
          <p:cNvPr id="24" name="Фигура 24"/>
          <p:cNvSpPr/>
          <p:nvPr/>
        </p:nvSpPr>
        <p:spPr>
          <a:xfrm>
            <a:off x="6195740" y="1500000"/>
            <a:ext cx="5624376" cy="350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5" name="Фигура 25"/>
          <p:cNvSpPr/>
          <p:nvPr/>
        </p:nvSpPr>
        <p:spPr>
          <a:xfrm>
            <a:off x="6195740" y="1431000"/>
            <a:ext cx="5624376" cy="7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6" name="TextBox 26"/>
          <p:cNvSpPr txBox="1"/>
          <p:nvPr/>
        </p:nvSpPr>
        <p:spPr>
          <a:xfrm>
            <a:off x="6325740" y="1540000"/>
            <a:ext cx="5364376" cy="3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100" b="1" dirty="0">
                <a:solidFill>
                  <a:schemeClr val="tx2"/>
                </a:solidFill>
                <a:latin typeface="+mn-lt"/>
              </a:rPr>
              <a:t>Добыча · 12 скважин</a:t>
            </a:r>
          </a:p>
        </p:txBody>
      </p:sp>
      <p:pic>
        <p:nvPicPr>
          <p:cNvPr id="27" name="Иконка 27" descr="TbChartLine_4BAF46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35740" y="1930000"/>
            <a:ext cx="300000" cy="300000"/>
          </a:xfrm>
          <a:prstGeom prst="rect">
            <a:avLst/>
          </a:prstGeom>
        </p:spPr>
      </p:pic>
      <p:sp>
        <p:nvSpPr>
          <p:cNvPr id="28" name="TextBox 28"/>
          <p:cNvSpPr txBox="1"/>
          <p:nvPr/>
        </p:nvSpPr>
        <p:spPr>
          <a:xfrm>
            <a:off x="6735740" y="1880000"/>
            <a:ext cx="4944376" cy="614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00326E"/>
                </a:solidFill>
                <a:latin typeface="+mn-lt"/>
              </a:rPr>
              <a:t>Выше дебит или меньше скважин</a:t>
            </a:r>
          </a:p>
          <a:p>
            <a:pPr algn="l">
              <a:spcBef>
                <a:spcPts val="15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Olkaria: скважины, пробуренные на аэрированной воде рядом с ранее пробуренными, — в среднем 58 МВт тепл. против 23 МВт при бурении с поглощением и ≈15 МВт на буровом растворе.</a:t>
            </a:r>
          </a:p>
        </p:txBody>
      </p:sp>
      <p:pic>
        <p:nvPicPr>
          <p:cNvPr id="29" name="Иконка 29" descr="TbRoute_4BAF46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35740" y="2544000"/>
            <a:ext cx="300000" cy="300000"/>
          </a:xfrm>
          <a:prstGeom prst="rect">
            <a:avLst/>
          </a:prstGeom>
        </p:spPr>
      </p:pic>
      <p:sp>
        <p:nvSpPr>
          <p:cNvPr id="30" name="TextBox 30"/>
          <p:cNvSpPr txBox="1"/>
          <p:nvPr/>
        </p:nvSpPr>
        <p:spPr>
          <a:xfrm>
            <a:off x="6735740" y="2494000"/>
            <a:ext cx="4944376" cy="614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00326E"/>
                </a:solidFill>
                <a:latin typeface="+mn-lt"/>
              </a:rPr>
              <a:t>Экономия на обустройстве</a:t>
            </a:r>
          </a:p>
          <a:p>
            <a:pPr algn="l">
              <a:spcBef>
                <a:spcPts val="15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Меньше скважин для выработки той же мощности — меньше кустовых площадок, трубопроводов ПВС и системы сбора.</a:t>
            </a:r>
          </a:p>
        </p:txBody>
      </p:sp>
      <p:pic>
        <p:nvPicPr>
          <p:cNvPr id="31" name="Иконка 31" descr="TbDroplet_4BAF46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35740" y="3158000"/>
            <a:ext cx="300000" cy="300000"/>
          </a:xfrm>
          <a:prstGeom prst="rect">
            <a:avLst/>
          </a:prstGeom>
        </p:spPr>
      </p:pic>
      <p:sp>
        <p:nvSpPr>
          <p:cNvPr id="32" name="TextBox 32"/>
          <p:cNvSpPr txBox="1"/>
          <p:nvPr/>
        </p:nvSpPr>
        <p:spPr>
          <a:xfrm>
            <a:off x="6735740" y="3108000"/>
            <a:ext cx="4944376" cy="614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00326E"/>
                </a:solidFill>
                <a:latin typeface="+mn-lt"/>
              </a:rPr>
              <a:t>Меньше расход материалов</a:t>
            </a:r>
          </a:p>
          <a:p>
            <a:pPr algn="l">
              <a:spcBef>
                <a:spcPts val="15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Ниже расход бентонита, химреагентов, материалов для цементных мостов и пачек. При подтверждении эффекта — применение БРД и в верхних секциях (до фильтра-хвостовика).</a:t>
            </a:r>
          </a:p>
        </p:txBody>
      </p:sp>
      <p:pic>
        <p:nvPicPr>
          <p:cNvPr id="33" name="Иконка 33" descr="TbBolt_4BAF46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35740" y="3772000"/>
            <a:ext cx="300000" cy="300000"/>
          </a:xfrm>
          <a:prstGeom prst="rect">
            <a:avLst/>
          </a:prstGeom>
        </p:spPr>
      </p:pic>
      <p:sp>
        <p:nvSpPr>
          <p:cNvPr id="34" name="TextBox 34"/>
          <p:cNvSpPr txBox="1"/>
          <p:nvPr/>
        </p:nvSpPr>
        <p:spPr>
          <a:xfrm>
            <a:off x="6735740" y="3722000"/>
            <a:ext cx="4944376" cy="614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00326E"/>
                </a:solidFill>
                <a:latin typeface="+mn-lt"/>
              </a:rPr>
              <a:t>Ранний пуск станции</a:t>
            </a:r>
          </a:p>
          <a:p>
            <a:pPr algn="l">
              <a:spcBef>
                <a:spcPts val="15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Пар подаётся на энергоблоки к пуску без ожидания прогрева коллектора — выручка от продажи электроэнергии поступает раньше.</a:t>
            </a:r>
          </a:p>
        </p:txBody>
      </p:sp>
      <p:pic>
        <p:nvPicPr>
          <p:cNvPr id="35" name="Иконка 35" descr="TbCash_4BAF46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335740" y="4386000"/>
            <a:ext cx="300000" cy="300000"/>
          </a:xfrm>
          <a:prstGeom prst="rect">
            <a:avLst/>
          </a:prstGeom>
        </p:spPr>
      </p:pic>
      <p:sp>
        <p:nvSpPr>
          <p:cNvPr id="36" name="TextBox 36"/>
          <p:cNvSpPr txBox="1"/>
          <p:nvPr/>
        </p:nvSpPr>
        <p:spPr>
          <a:xfrm>
            <a:off x="6735740" y="4336000"/>
            <a:ext cx="4944376" cy="614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00326E"/>
                </a:solidFill>
                <a:latin typeface="+mn-lt"/>
              </a:rPr>
              <a:t>Эффект масштаба сервиса</a:t>
            </a:r>
          </a:p>
          <a:p>
            <a:pPr algn="l">
              <a:spcBef>
                <a:spcPts val="15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Новая Зеландия: сервис — 5,5 % стоимости скважины, 32 % его затрат — простой (оборудование работало 13 из 41 сут). На 12 скважинах мобилизация и простой распределяются — доля снижается.</a:t>
            </a:r>
          </a:p>
        </p:txBody>
      </p:sp>
      <p:sp>
        <p:nvSpPr>
          <p:cNvPr id="37" name="Фигура 37"/>
          <p:cNvSpPr/>
          <p:nvPr/>
        </p:nvSpPr>
        <p:spPr>
          <a:xfrm>
            <a:off x="371364" y="5130000"/>
            <a:ext cx="5624376" cy="1020000"/>
          </a:xfrm>
          <a:prstGeom prst="rect">
            <a:avLst/>
          </a:prstGeom>
          <a:solidFill>
            <a:srgbClr val="FCE8E8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8" name="TextBox 38"/>
          <p:cNvSpPr txBox="1"/>
          <p:nvPr/>
        </p:nvSpPr>
        <p:spPr>
          <a:xfrm>
            <a:off x="501364" y="5130000"/>
            <a:ext cx="1500000" cy="10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800" b="1" dirty="0">
                <a:solidFill>
                  <a:srgbClr val="C00000"/>
                </a:solidFill>
                <a:latin typeface="+mn-lt"/>
              </a:rPr>
              <a:t>≈2 900 м³</a:t>
            </a:r>
          </a:p>
          <a:p>
            <a:pPr algn="l">
              <a:spcBef>
                <a:spcPts val="0"/>
              </a:spcBef>
              <a:buNone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холодной воды в сутки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2071364" y="5130000"/>
            <a:ext cx="3824376" cy="10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уходит в пласт при полном поглощении в стволе 8½″ (≈2 000 л/мин). Это охлаждает коллектор и пересыщает кремнезём: 606 мг/л SiO₂ в сепарате Гео-8 при растворимости ≈370 мг/л при 100 °C.</a:t>
            </a:r>
          </a:p>
        </p:txBody>
      </p:sp>
      <p:sp>
        <p:nvSpPr>
          <p:cNvPr id="40" name="Фигура 40"/>
          <p:cNvSpPr/>
          <p:nvPr/>
        </p:nvSpPr>
        <p:spPr>
          <a:xfrm>
            <a:off x="6195740" y="5130000"/>
            <a:ext cx="5624376" cy="10200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41" name="TextBox 41"/>
          <p:cNvSpPr txBox="1"/>
          <p:nvPr/>
        </p:nvSpPr>
        <p:spPr>
          <a:xfrm>
            <a:off x="6325740" y="5150000"/>
            <a:ext cx="5364376" cy="25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00" b="1" dirty="0">
                <a:solidFill>
                  <a:srgbClr val="FFFFFF"/>
                </a:solidFill>
                <a:latin typeface="+mn-lt"/>
              </a:rPr>
              <a:t>Проверка ориентира: аналог МГеоЭС-1, 12 добычных скважин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6325740" y="5380000"/>
            <a:ext cx="1341094" cy="47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ru-RU" sz="1300" b="1" dirty="0">
                <a:solidFill>
                  <a:srgbClr val="FFFFFF"/>
                </a:solidFill>
                <a:latin typeface="+mn-lt"/>
              </a:rPr>
              <a:t>≈35 МВт</a:t>
            </a:r>
          </a:p>
          <a:p>
            <a:pPr algn="ctr">
              <a:spcBef>
                <a:spcPts val="0"/>
              </a:spcBef>
              <a:buNone/>
            </a:pPr>
            <a:r>
              <a:rPr lang="ru-RU" sz="720" b="0" dirty="0">
                <a:solidFill>
                  <a:srgbClr val="FFFFFF"/>
                </a:solidFill>
                <a:latin typeface="+mn-lt"/>
              </a:rPr>
              <a:t>12 × 2,9 МВт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666834" y="5380000"/>
            <a:ext cx="1341094" cy="47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ru-RU" sz="1300" b="1" dirty="0">
                <a:solidFill>
                  <a:srgbClr val="FFFFFF"/>
                </a:solidFill>
                <a:latin typeface="+mn-lt"/>
              </a:rPr>
              <a:t>+7 МВт</a:t>
            </a:r>
          </a:p>
          <a:p>
            <a:pPr algn="ctr">
              <a:spcBef>
                <a:spcPts val="0"/>
              </a:spcBef>
              <a:buNone/>
            </a:pPr>
            <a:r>
              <a:rPr lang="ru-RU" sz="720" b="0" dirty="0">
                <a:solidFill>
                  <a:srgbClr val="FFFFFF"/>
                </a:solidFill>
                <a:latin typeface="+mn-lt"/>
              </a:rPr>
              <a:t>при +20 % — пороге окупаемости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9007928" y="5380000"/>
            <a:ext cx="1341094" cy="47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ru-RU" sz="1300" b="1" dirty="0">
                <a:solidFill>
                  <a:srgbClr val="8CD17D"/>
                </a:solidFill>
                <a:latin typeface="+mn-lt"/>
              </a:rPr>
              <a:t>≈790 млн ₽</a:t>
            </a:r>
          </a:p>
          <a:p>
            <a:pPr algn="ctr">
              <a:spcBef>
                <a:spcPts val="0"/>
              </a:spcBef>
              <a:buNone/>
            </a:pPr>
            <a:r>
              <a:rPr lang="ru-RU" sz="720" b="0" dirty="0">
                <a:solidFill>
                  <a:srgbClr val="FFFFFF"/>
                </a:solidFill>
                <a:latin typeface="+mn-lt"/>
              </a:rPr>
              <a:t>экономия: 2,4 скв. × 330 млн ₽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0349022" y="5380000"/>
            <a:ext cx="1341094" cy="47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ru-RU" sz="1300" b="1" dirty="0">
                <a:solidFill>
                  <a:srgbClr val="F4A6A6"/>
                </a:solidFill>
                <a:latin typeface="+mn-lt"/>
              </a:rPr>
              <a:t>≈780 млн ₽</a:t>
            </a:r>
          </a:p>
          <a:p>
            <a:pPr algn="ctr">
              <a:spcBef>
                <a:spcPts val="0"/>
              </a:spcBef>
              <a:buNone/>
            </a:pPr>
            <a:r>
              <a:rPr lang="ru-RU" sz="720" b="0" dirty="0">
                <a:solidFill>
                  <a:srgbClr val="FFFFFF"/>
                </a:solidFill>
                <a:latin typeface="+mn-lt"/>
              </a:rPr>
              <a:t>затраты на БРД: 12 × 65 млн ₽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6325740" y="5850000"/>
            <a:ext cx="5364376" cy="2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760" b="0" dirty="0">
                <a:solidFill>
                  <a:srgbClr val="D7E4F2"/>
                </a:solidFill>
                <a:latin typeface="+mn-lt"/>
              </a:rPr>
              <a:t>При +20 % экономия равна затратам — это безубыточность. Каждые +10 % сверх порога ≈ +3,5 МВт ≈ +400 млн ₽; при доле сервиса ≈6 % (≈20 млн ₽) порог снижается до ≈+6 %.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371364" y="6215000"/>
            <a:ext cx="11448752" cy="23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700" b="0" dirty="0">
                <a:solidFill>
                  <a:schemeClr val="bg2"/>
                </a:solidFill>
                <a:latin typeface="+mn-lt"/>
              </a:rPr>
              <a:t>Источники: Birkisson S.F., Hole H., EGC 2007; Finger J., Blankenship D., Sandia 2010; SAND-81-0036C; Buñing et al., SGW 1997; UNU-GTP SC-26. Расчёт ориентировочный (аналог МГеоЭС-1), без БРД разведочных скважин.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Риски и допущения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/>
              <a:t>Как управляются риски БРД и на чём основаны оценки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10"/>
          </p:nvPr>
        </p:nvSpPr>
        <p:spPr/>
        <p:txBody>
          <a:bodyPr/>
          <a:lstStyle/>
          <a:p>
            <a:r>
              <a:rPr lang="ru-RU" dirty="0"/>
              <a:t>Новые технологии бурения геотермальных скважин · Мутновское месторождение</a:t>
            </a:r>
          </a:p>
        </p:txBody>
      </p:sp>
      <p:sp>
        <p:nvSpPr>
          <p:cNvPr id="11" name="Фигура 11"/>
          <p:cNvSpPr/>
          <p:nvPr/>
        </p:nvSpPr>
        <p:spPr>
          <a:xfrm>
            <a:off x="371364" y="1500000"/>
            <a:ext cx="11448752" cy="33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2" name="TextBox 12"/>
          <p:cNvSpPr txBox="1"/>
          <p:nvPr/>
        </p:nvSpPr>
        <p:spPr>
          <a:xfrm>
            <a:off x="461364" y="1500000"/>
            <a:ext cx="2160000" cy="33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Риск / допущение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761364" y="1500000"/>
            <a:ext cx="4310000" cy="33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Данные мировой практики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211364" y="1500000"/>
            <a:ext cx="4608752" cy="33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Позиция проекта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61364" y="1870000"/>
            <a:ext cx="2160000" cy="6114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00326E"/>
                </a:solidFill>
                <a:latin typeface="+mn-lt"/>
              </a:rPr>
              <a:t>Стоимость сервиса БРД</a:t>
            </a:r>
          </a:p>
          <a:p>
            <a:pPr algn="l">
              <a:spcBef>
                <a:spcPts val="100"/>
              </a:spcBef>
              <a:buNone/>
            </a:pPr>
            <a:r>
              <a:rPr lang="ru-RU" sz="750" b="1" dirty="0">
                <a:solidFill>
                  <a:srgbClr val="D98A00"/>
                </a:solidFill>
                <a:latin typeface="+mn-lt"/>
              </a:rPr>
              <a:t>Допущение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761364" y="1870000"/>
            <a:ext cx="4250000" cy="6114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Международная практика — ≈6 % стоимости скважины ($150–250 тыс.); Новая Зеландия — 5,49 % (2 600 м, 38 сут).</a:t>
            </a:r>
          </a:p>
        </p:txBody>
      </p:sp>
      <p:sp>
        <p:nvSpPr>
          <p:cNvPr id="17" name="Фигура 17"/>
          <p:cNvSpPr/>
          <p:nvPr/>
        </p:nvSpPr>
        <p:spPr>
          <a:xfrm>
            <a:off x="7121364" y="1895000"/>
            <a:ext cx="4698752" cy="561428"/>
          </a:xfrm>
          <a:prstGeom prst="rect">
            <a:avLst/>
          </a:prstGeom>
          <a:solidFill>
            <a:srgbClr val="E8F3E6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8" name="TextBox 18"/>
          <p:cNvSpPr txBox="1"/>
          <p:nvPr/>
        </p:nvSpPr>
        <p:spPr>
          <a:xfrm>
            <a:off x="7211364" y="1870000"/>
            <a:ext cx="4518752" cy="6114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rgbClr val="0A5A1E"/>
                </a:solidFill>
                <a:latin typeface="+mn-lt"/>
              </a:rPr>
              <a:t>В расчёте принято ≈20 % (65 млн ₽) — консервативно. Для разведки доля выше (мобилизация), для 12 скважин — ниже; резерв для переговоров с подрядчиком.</a:t>
            </a:r>
          </a:p>
        </p:txBody>
      </p:sp>
      <p:cxnSp>
        <p:nvCxnSpPr>
          <p:cNvPr id="19" name="Линия 19"/>
          <p:cNvCxnSpPr/>
          <p:nvPr/>
        </p:nvCxnSpPr>
        <p:spPr>
          <a:xfrm>
            <a:off x="371364" y="2481428"/>
            <a:ext cx="11448752" cy="0"/>
          </a:xfrm>
          <a:prstGeom prst="line">
            <a:avLst/>
          </a:prstGeom>
          <a:ln w="9525">
            <a:solidFill>
              <a:srgbClr val="D0D7E1"/>
            </a:solidFill>
          </a:ln>
        </p:spPr>
      </p:cxnSp>
      <p:sp>
        <p:nvSpPr>
          <p:cNvPr id="20" name="TextBox 20"/>
          <p:cNvSpPr txBox="1"/>
          <p:nvPr/>
        </p:nvSpPr>
        <p:spPr>
          <a:xfrm>
            <a:off x="461364" y="2481428"/>
            <a:ext cx="2160000" cy="6114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00326E"/>
                </a:solidFill>
                <a:latin typeface="+mn-lt"/>
              </a:rPr>
              <a:t>Прихват инструмента</a:t>
            </a:r>
          </a:p>
          <a:p>
            <a:pPr algn="l">
              <a:spcBef>
                <a:spcPts val="100"/>
              </a:spcBef>
              <a:buNone/>
            </a:pPr>
            <a:r>
              <a:rPr lang="ru-RU" sz="750" b="1" dirty="0">
                <a:solidFill>
                  <a:srgbClr val="C00000"/>
                </a:solidFill>
                <a:latin typeface="+mn-lt"/>
              </a:rPr>
              <a:t>Риск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761364" y="2481428"/>
            <a:ext cx="4250000" cy="6114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Olkaria: 65 % прихватов (54 случая, 2014–2019) — при аэрированной жидкости и пене; в Индонезии причина — неоптимальный режим аэрации.</a:t>
            </a:r>
          </a:p>
        </p:txBody>
      </p:sp>
      <p:sp>
        <p:nvSpPr>
          <p:cNvPr id="22" name="Фигура 22"/>
          <p:cNvSpPr/>
          <p:nvPr/>
        </p:nvSpPr>
        <p:spPr>
          <a:xfrm>
            <a:off x="7121364" y="2506428"/>
            <a:ext cx="4698752" cy="561428"/>
          </a:xfrm>
          <a:prstGeom prst="rect">
            <a:avLst/>
          </a:prstGeom>
          <a:solidFill>
            <a:srgbClr val="E8F3E6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3" name="TextBox 23"/>
          <p:cNvSpPr txBox="1"/>
          <p:nvPr/>
        </p:nvSpPr>
        <p:spPr>
          <a:xfrm>
            <a:off x="7211364" y="2481428"/>
            <a:ext cx="4518752" cy="6114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rgbClr val="0A5A1E"/>
                </a:solidFill>
                <a:latin typeface="+mn-lt"/>
              </a:rPr>
              <a:t>Инженерный расчёт режима циркуляции (гидравлическая модель), контроль выноса шлама, отработка режима на разведочных скважинах.</a:t>
            </a:r>
          </a:p>
        </p:txBody>
      </p:sp>
      <p:cxnSp>
        <p:nvCxnSpPr>
          <p:cNvPr id="24" name="Линия 24"/>
          <p:cNvCxnSpPr/>
          <p:nvPr/>
        </p:nvCxnSpPr>
        <p:spPr>
          <a:xfrm>
            <a:off x="371364" y="3092857"/>
            <a:ext cx="11448752" cy="0"/>
          </a:xfrm>
          <a:prstGeom prst="line">
            <a:avLst/>
          </a:prstGeom>
          <a:ln w="9525">
            <a:solidFill>
              <a:srgbClr val="D0D7E1"/>
            </a:solidFill>
          </a:ln>
        </p:spPr>
      </p:cxnSp>
      <p:sp>
        <p:nvSpPr>
          <p:cNvPr id="25" name="TextBox 25"/>
          <p:cNvSpPr txBox="1"/>
          <p:nvPr/>
        </p:nvSpPr>
        <p:spPr>
          <a:xfrm>
            <a:off x="461364" y="3092857"/>
            <a:ext cx="2160000" cy="6114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00326E"/>
                </a:solidFill>
                <a:latin typeface="+mn-lt"/>
              </a:rPr>
              <a:t>Газопроявление</a:t>
            </a:r>
          </a:p>
          <a:p>
            <a:pPr algn="l">
              <a:spcBef>
                <a:spcPts val="100"/>
              </a:spcBef>
              <a:buNone/>
            </a:pPr>
            <a:r>
              <a:rPr lang="ru-RU" sz="750" b="1" dirty="0">
                <a:solidFill>
                  <a:srgbClr val="C00000"/>
                </a:solidFill>
                <a:latin typeface="+mn-lt"/>
              </a:rPr>
              <a:t>Риск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761364" y="3092857"/>
            <a:ext cx="4250000" cy="6114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При аэрации вероятность проявления выше, чем при бурении с поглощением; неконтролируемых выбросов в источниках не зафиксировано.</a:t>
            </a:r>
          </a:p>
        </p:txBody>
      </p:sp>
      <p:sp>
        <p:nvSpPr>
          <p:cNvPr id="27" name="Фигура 27"/>
          <p:cNvSpPr/>
          <p:nvPr/>
        </p:nvSpPr>
        <p:spPr>
          <a:xfrm>
            <a:off x="7121364" y="3117857"/>
            <a:ext cx="4698752" cy="561428"/>
          </a:xfrm>
          <a:prstGeom prst="rect">
            <a:avLst/>
          </a:prstGeom>
          <a:solidFill>
            <a:srgbClr val="E8F3E6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8" name="TextBox 28"/>
          <p:cNvSpPr txBox="1"/>
          <p:nvPr/>
        </p:nvSpPr>
        <p:spPr>
          <a:xfrm>
            <a:off x="7211364" y="3092857"/>
            <a:ext cx="4518752" cy="6114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rgbClr val="0A5A1E"/>
                </a:solidFill>
                <a:latin typeface="+mn-lt"/>
              </a:rPr>
              <a:t>Управление давлением на устье: РУГ, дроссельный манифольд, сепаратор, план действий при проявлении.</a:t>
            </a:r>
          </a:p>
        </p:txBody>
      </p:sp>
      <p:cxnSp>
        <p:nvCxnSpPr>
          <p:cNvPr id="29" name="Линия 29"/>
          <p:cNvCxnSpPr/>
          <p:nvPr/>
        </p:nvCxnSpPr>
        <p:spPr>
          <a:xfrm>
            <a:off x="371364" y="3704285"/>
            <a:ext cx="11448752" cy="0"/>
          </a:xfrm>
          <a:prstGeom prst="line">
            <a:avLst/>
          </a:prstGeom>
          <a:ln w="9525">
            <a:solidFill>
              <a:srgbClr val="D0D7E1"/>
            </a:solidFill>
          </a:ln>
        </p:spPr>
      </p:cxnSp>
      <p:sp>
        <p:nvSpPr>
          <p:cNvPr id="30" name="TextBox 30"/>
          <p:cNvSpPr txBox="1"/>
          <p:nvPr/>
        </p:nvSpPr>
        <p:spPr>
          <a:xfrm>
            <a:off x="461364" y="3704285"/>
            <a:ext cx="2160000" cy="6114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00326E"/>
                </a:solidFill>
                <a:latin typeface="+mn-lt"/>
              </a:rPr>
              <a:t>Ресурс долот</a:t>
            </a:r>
          </a:p>
          <a:p>
            <a:pPr algn="l">
              <a:spcBef>
                <a:spcPts val="100"/>
              </a:spcBef>
              <a:buNone/>
            </a:pPr>
            <a:r>
              <a:rPr lang="ru-RU" sz="750" b="1" dirty="0">
                <a:solidFill>
                  <a:srgbClr val="C00000"/>
                </a:solidFill>
                <a:latin typeface="+mn-lt"/>
              </a:rPr>
              <a:t>Риск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761364" y="3704285"/>
            <a:ext cx="4250000" cy="6114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При аэрации долота работают в более горячей среде: ресурс опор и уплотнений ниже.</a:t>
            </a:r>
          </a:p>
        </p:txBody>
      </p:sp>
      <p:sp>
        <p:nvSpPr>
          <p:cNvPr id="32" name="Фигура 32"/>
          <p:cNvSpPr/>
          <p:nvPr/>
        </p:nvSpPr>
        <p:spPr>
          <a:xfrm>
            <a:off x="7121364" y="3729285"/>
            <a:ext cx="4698752" cy="561428"/>
          </a:xfrm>
          <a:prstGeom prst="rect">
            <a:avLst/>
          </a:prstGeom>
          <a:solidFill>
            <a:srgbClr val="E8F3E6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3" name="TextBox 33"/>
          <p:cNvSpPr txBox="1"/>
          <p:nvPr/>
        </p:nvSpPr>
        <p:spPr>
          <a:xfrm>
            <a:off x="7211364" y="3704285"/>
            <a:ext cx="4518752" cy="6114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rgbClr val="0A5A1E"/>
                </a:solidFill>
                <a:latin typeface="+mn-lt"/>
              </a:rPr>
              <a:t>Долота PDC и контроль MSE; снижение ресурса компенсируется ростом механической скорости.</a:t>
            </a:r>
          </a:p>
        </p:txBody>
      </p:sp>
      <p:cxnSp>
        <p:nvCxnSpPr>
          <p:cNvPr id="34" name="Линия 34"/>
          <p:cNvCxnSpPr/>
          <p:nvPr/>
        </p:nvCxnSpPr>
        <p:spPr>
          <a:xfrm>
            <a:off x="371364" y="4315714"/>
            <a:ext cx="11448752" cy="0"/>
          </a:xfrm>
          <a:prstGeom prst="line">
            <a:avLst/>
          </a:prstGeom>
          <a:ln w="9525">
            <a:solidFill>
              <a:srgbClr val="D0D7E1"/>
            </a:solidFill>
          </a:ln>
        </p:spPr>
      </p:cxnSp>
      <p:sp>
        <p:nvSpPr>
          <p:cNvPr id="35" name="TextBox 35"/>
          <p:cNvSpPr txBox="1"/>
          <p:nvPr/>
        </p:nvSpPr>
        <p:spPr>
          <a:xfrm>
            <a:off x="461364" y="4315714"/>
            <a:ext cx="2160000" cy="6114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00326E"/>
                </a:solidFill>
                <a:latin typeface="+mn-lt"/>
              </a:rPr>
              <a:t>Повреждение коллектора</a:t>
            </a:r>
          </a:p>
          <a:p>
            <a:pPr algn="l">
              <a:spcBef>
                <a:spcPts val="100"/>
              </a:spcBef>
              <a:buNone/>
            </a:pPr>
            <a:r>
              <a:rPr lang="ru-RU" sz="750" b="1" dirty="0">
                <a:solidFill>
                  <a:srgbClr val="D98A00"/>
                </a:solidFill>
                <a:latin typeface="+mn-lt"/>
              </a:rPr>
              <a:t>Допущение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2761364" y="4315714"/>
            <a:ext cx="4250000" cy="6114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SK-2D (Филиппины): скин +27, предположительно от бурения; после перфорации и кислотной обработки — 4,3 МВт.</a:t>
            </a:r>
          </a:p>
        </p:txBody>
      </p:sp>
      <p:sp>
        <p:nvSpPr>
          <p:cNvPr id="37" name="Фигура 37"/>
          <p:cNvSpPr/>
          <p:nvPr/>
        </p:nvSpPr>
        <p:spPr>
          <a:xfrm>
            <a:off x="7121364" y="4340714"/>
            <a:ext cx="4698752" cy="561428"/>
          </a:xfrm>
          <a:prstGeom prst="rect">
            <a:avLst/>
          </a:prstGeom>
          <a:solidFill>
            <a:srgbClr val="E8F3E6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8" name="TextBox 38"/>
          <p:cNvSpPr txBox="1"/>
          <p:nvPr/>
        </p:nvSpPr>
        <p:spPr>
          <a:xfrm>
            <a:off x="7211364" y="4315714"/>
            <a:ext cx="4518752" cy="6114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rgbClr val="0A5A1E"/>
                </a:solidFill>
                <a:latin typeface="+mn-lt"/>
              </a:rPr>
              <a:t>Международные примеры — ориентир; эффект для Мутновского подтверждается испытаниями разведочных скважин.</a:t>
            </a:r>
          </a:p>
        </p:txBody>
      </p:sp>
      <p:cxnSp>
        <p:nvCxnSpPr>
          <p:cNvPr id="39" name="Линия 39"/>
          <p:cNvCxnSpPr/>
          <p:nvPr/>
        </p:nvCxnSpPr>
        <p:spPr>
          <a:xfrm>
            <a:off x="371364" y="4927142"/>
            <a:ext cx="11448752" cy="0"/>
          </a:xfrm>
          <a:prstGeom prst="line">
            <a:avLst/>
          </a:prstGeom>
          <a:ln w="9525">
            <a:solidFill>
              <a:srgbClr val="D0D7E1"/>
            </a:solidFill>
          </a:ln>
        </p:spPr>
      </p:cxnSp>
      <p:sp>
        <p:nvSpPr>
          <p:cNvPr id="40" name="TextBox 40"/>
          <p:cNvSpPr txBox="1"/>
          <p:nvPr/>
        </p:nvSpPr>
        <p:spPr>
          <a:xfrm>
            <a:off x="461364" y="4927142"/>
            <a:ext cx="2160000" cy="6114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00326E"/>
                </a:solidFill>
                <a:latin typeface="+mn-lt"/>
              </a:rPr>
              <a:t>Падение дебита</a:t>
            </a:r>
          </a:p>
          <a:p>
            <a:pPr algn="l">
              <a:spcBef>
                <a:spcPts val="100"/>
              </a:spcBef>
              <a:buNone/>
            </a:pPr>
            <a:r>
              <a:rPr lang="ru-RU" sz="750" b="1" dirty="0">
                <a:solidFill>
                  <a:srgbClr val="D98A00"/>
                </a:solidFill>
                <a:latin typeface="+mn-lt"/>
              </a:rPr>
              <a:t>Допущение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2761364" y="4927142"/>
            <a:ext cx="4250000" cy="6114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Sandia: падение дебита до 50 % за 20 лет эквивалентно росту стоимости скважины на 26 %; прямой связи с БРД в источнике нет.</a:t>
            </a:r>
          </a:p>
        </p:txBody>
      </p:sp>
      <p:sp>
        <p:nvSpPr>
          <p:cNvPr id="42" name="Фигура 42"/>
          <p:cNvSpPr/>
          <p:nvPr/>
        </p:nvSpPr>
        <p:spPr>
          <a:xfrm>
            <a:off x="7121364" y="4952142"/>
            <a:ext cx="4698752" cy="561428"/>
          </a:xfrm>
          <a:prstGeom prst="rect">
            <a:avLst/>
          </a:prstGeom>
          <a:solidFill>
            <a:srgbClr val="E8F3E6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43" name="TextBox 43"/>
          <p:cNvSpPr txBox="1"/>
          <p:nvPr/>
        </p:nvSpPr>
        <p:spPr>
          <a:xfrm>
            <a:off x="7211364" y="4927142"/>
            <a:ext cx="4518752" cy="6114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rgbClr val="0A5A1E"/>
                </a:solidFill>
                <a:latin typeface="+mn-lt"/>
              </a:rPr>
              <a:t>Продление жизненного цикла скважин — потенциальный эффект; в расчёт окупаемости не включён.</a:t>
            </a:r>
          </a:p>
        </p:txBody>
      </p:sp>
      <p:cxnSp>
        <p:nvCxnSpPr>
          <p:cNvPr id="44" name="Линия 44"/>
          <p:cNvCxnSpPr/>
          <p:nvPr/>
        </p:nvCxnSpPr>
        <p:spPr>
          <a:xfrm>
            <a:off x="371364" y="5538571"/>
            <a:ext cx="11448752" cy="0"/>
          </a:xfrm>
          <a:prstGeom prst="line">
            <a:avLst/>
          </a:prstGeom>
          <a:ln w="9525">
            <a:solidFill>
              <a:srgbClr val="D0D7E1"/>
            </a:solidFill>
          </a:ln>
        </p:spPr>
      </p:cxnSp>
      <p:sp>
        <p:nvSpPr>
          <p:cNvPr id="45" name="TextBox 45"/>
          <p:cNvSpPr txBox="1"/>
          <p:nvPr/>
        </p:nvSpPr>
        <p:spPr>
          <a:xfrm>
            <a:off x="461364" y="5538571"/>
            <a:ext cx="2160000" cy="6114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00326E"/>
                </a:solidFill>
                <a:latin typeface="+mn-lt"/>
              </a:rPr>
              <a:t>База расчёта</a:t>
            </a:r>
          </a:p>
          <a:p>
            <a:pPr algn="l">
              <a:spcBef>
                <a:spcPts val="100"/>
              </a:spcBef>
              <a:buNone/>
            </a:pPr>
            <a:r>
              <a:rPr lang="ru-RU" sz="750" b="1" dirty="0">
                <a:solidFill>
                  <a:srgbClr val="D98A00"/>
                </a:solidFill>
                <a:latin typeface="+mn-lt"/>
              </a:rPr>
              <a:t>Допущение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2761364" y="5538571"/>
            <a:ext cx="4250000" cy="6114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Расчёт на слайдах 3–4 выполнен по МГеоЭС-1 (участок Дачный, 16 скважин).</a:t>
            </a:r>
          </a:p>
        </p:txBody>
      </p:sp>
      <p:sp>
        <p:nvSpPr>
          <p:cNvPr id="47" name="Фигура 47"/>
          <p:cNvSpPr/>
          <p:nvPr/>
        </p:nvSpPr>
        <p:spPr>
          <a:xfrm>
            <a:off x="7121364" y="5563571"/>
            <a:ext cx="4698752" cy="561428"/>
          </a:xfrm>
          <a:prstGeom prst="rect">
            <a:avLst/>
          </a:prstGeom>
          <a:solidFill>
            <a:srgbClr val="E8F3E6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48" name="TextBox 48"/>
          <p:cNvSpPr txBox="1"/>
          <p:nvPr/>
        </p:nvSpPr>
        <p:spPr>
          <a:xfrm>
            <a:off x="7211364" y="5538571"/>
            <a:ext cx="4518752" cy="6114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rgbClr val="0A5A1E"/>
                </a:solidFill>
                <a:latin typeface="+mn-lt"/>
              </a:rPr>
              <a:t>Показатели — аналог; уточняются по результатам бурения 3 разведочных скважин МГеоЭС-2.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371364" y="6215000"/>
            <a:ext cx="11448752" cy="23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700" b="0" dirty="0">
                <a:solidFill>
                  <a:schemeClr val="bg2"/>
                </a:solidFill>
                <a:latin typeface="+mn-lt"/>
              </a:rPr>
              <a:t>Источники: Birkisson S.F., Hole H., EGC 2007; Mati et al., WGC 2021; Astra et al., JEEEST 2018; Buñing et al., SGW 1997; SAND82-0261C; Finger, Blankenship, Sandia 2010.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Доп. технологии: бурение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/>
              <a:t>Что усиливает эффект БРД при строительстве скважин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10"/>
          </p:nvPr>
        </p:nvSpPr>
        <p:spPr/>
        <p:txBody>
          <a:bodyPr/>
          <a:lstStyle/>
          <a:p>
            <a:r>
              <a:rPr lang="ru-RU" dirty="0"/>
              <a:t>Новые технологии бурения геотермальных скважин · Мутновское месторождение</a:t>
            </a:r>
          </a:p>
        </p:txBody>
      </p:sp>
      <p:sp>
        <p:nvSpPr>
          <p:cNvPr id="11" name="Фигура 11"/>
          <p:cNvSpPr/>
          <p:nvPr/>
        </p:nvSpPr>
        <p:spPr>
          <a:xfrm>
            <a:off x="371364" y="1500000"/>
            <a:ext cx="2749688" cy="465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2" name="Фигура 12"/>
          <p:cNvSpPr/>
          <p:nvPr/>
        </p:nvSpPr>
        <p:spPr>
          <a:xfrm>
            <a:off x="371364" y="1431000"/>
            <a:ext cx="2749688" cy="7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pic>
        <p:nvPicPr>
          <p:cNvPr id="13" name="Иконка 13" descr="TbTarget_4BAF4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364" y="1590000"/>
            <a:ext cx="330000" cy="3300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871364" y="1540000"/>
            <a:ext cx="2189688" cy="4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Долота PDC + контроль MSE в реальном времени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91364" y="2060000"/>
            <a:ext cx="2509688" cy="26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4BAF46"/>
                </a:solidFill>
                <a:latin typeface="+mn-lt"/>
              </a:rPr>
              <a:t>Мировой опыт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91364" y="2280000"/>
            <a:ext cx="2549688" cy="18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Utah FORGE: −56…63 % суток бурения, −62 % часов на забое</a:t>
            </a:r>
          </a:p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The Geysers: скорость проходки +400 % (17½″) и +700 % (12¼″)</a:t>
            </a:r>
          </a:p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Fervo: стоимость скважины $9,4 → 4,8 млн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91364" y="3500000"/>
            <a:ext cx="2509688" cy="26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4BAF46"/>
                </a:solidFill>
                <a:latin typeface="+mn-lt"/>
              </a:rPr>
              <a:t>Для Мутновского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91364" y="3720000"/>
            <a:ext cx="2549688" cy="7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Оценка: −30…50 % суток в интервалах под колонны; подбор нагрузки и оборотов по MSE.</a:t>
            </a:r>
          </a:p>
        </p:txBody>
      </p:sp>
      <p:sp>
        <p:nvSpPr>
          <p:cNvPr id="19" name="Фигура 19"/>
          <p:cNvSpPr/>
          <p:nvPr/>
        </p:nvSpPr>
        <p:spPr>
          <a:xfrm>
            <a:off x="371364" y="4500000"/>
            <a:ext cx="2749688" cy="13200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0" name="TextBox 20"/>
          <p:cNvSpPr txBox="1"/>
          <p:nvPr/>
        </p:nvSpPr>
        <p:spPr>
          <a:xfrm>
            <a:off x="491364" y="4530000"/>
            <a:ext cx="2509688" cy="12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00" b="1" dirty="0">
                <a:solidFill>
                  <a:srgbClr val="8CD17D"/>
                </a:solidFill>
                <a:latin typeface="+mn-lt"/>
              </a:rPr>
              <a:t>Синергия с БРД</a:t>
            </a:r>
          </a:p>
          <a:p>
            <a:pPr algn="l">
              <a:spcBef>
                <a:spcPts val="250"/>
              </a:spcBef>
              <a:buNone/>
            </a:pPr>
            <a:r>
              <a:rPr lang="ru-RU" sz="900" b="0" dirty="0">
                <a:solidFill>
                  <a:srgbClr val="FFFFFF"/>
                </a:solidFill>
                <a:latin typeface="+mn-lt"/>
              </a:rPr>
              <a:t>При бурении на азоте PDC подвержены ударным нагрузкам (Geysers, воздух: ≈60 м против ≈90 м у шарошки) — MSE отслеживает вибрации.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91364" y="5830000"/>
            <a:ext cx="2509688" cy="3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00326E"/>
                </a:solidFill>
                <a:latin typeface="+mn-lt"/>
              </a:rPr>
              <a:t>Затраты: низкие · 6–12 мес.</a:t>
            </a:r>
          </a:p>
        </p:txBody>
      </p:sp>
      <p:sp>
        <p:nvSpPr>
          <p:cNvPr id="22" name="Фигура 22"/>
          <p:cNvSpPr/>
          <p:nvPr/>
        </p:nvSpPr>
        <p:spPr>
          <a:xfrm>
            <a:off x="3271052" y="1500000"/>
            <a:ext cx="2749688" cy="465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3" name="Фигура 23"/>
          <p:cNvSpPr/>
          <p:nvPr/>
        </p:nvSpPr>
        <p:spPr>
          <a:xfrm>
            <a:off x="3271052" y="1431000"/>
            <a:ext cx="2749688" cy="7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pic>
        <p:nvPicPr>
          <p:cNvPr id="24" name="Иконка 24" descr="TbSnowflake_4BAF4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1052" y="1590000"/>
            <a:ext cx="330000" cy="330000"/>
          </a:xfrm>
          <a:prstGeom prst="rect">
            <a:avLst/>
          </a:prstGeom>
        </p:spPr>
      </p:pic>
      <p:sp>
        <p:nvSpPr>
          <p:cNvPr id="25" name="TextBox 25"/>
          <p:cNvSpPr txBox="1"/>
          <p:nvPr/>
        </p:nvSpPr>
        <p:spPr>
          <a:xfrm>
            <a:off x="3771052" y="1540000"/>
            <a:ext cx="2189688" cy="4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Охладители раствора и теплоизолированные трубы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391052" y="2060000"/>
            <a:ext cx="2509688" cy="26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4BAF46"/>
                </a:solidFill>
                <a:latin typeface="+mn-lt"/>
              </a:rPr>
              <a:t>Мировой опыт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3391052" y="2280000"/>
            <a:ext cx="2549688" cy="18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Охладитель: −14…19 °C на поверхности</a:t>
            </a:r>
          </a:p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FORGE 16B: температура у MWD 107 → 65 °C</a:t>
            </a:r>
          </a:p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Eagle Ford: отказы по температуре 2 → 0, скважина на 2 сут быстрее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3391052" y="3500000"/>
            <a:ext cx="2509688" cy="26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4BAF46"/>
                </a:solidFill>
                <a:latin typeface="+mn-lt"/>
              </a:rPr>
              <a:t>Для Мутновского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3391052" y="3720000"/>
            <a:ext cx="2549688" cy="7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Ресурс телеметрии и ВЗД, меньше рейсов и коррозии; условие для наклонного бурения.</a:t>
            </a:r>
          </a:p>
        </p:txBody>
      </p:sp>
      <p:sp>
        <p:nvSpPr>
          <p:cNvPr id="30" name="Фигура 30"/>
          <p:cNvSpPr/>
          <p:nvPr/>
        </p:nvSpPr>
        <p:spPr>
          <a:xfrm>
            <a:off x="3271052" y="4500000"/>
            <a:ext cx="2749688" cy="13200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1" name="TextBox 31"/>
          <p:cNvSpPr txBox="1"/>
          <p:nvPr/>
        </p:nvSpPr>
        <p:spPr>
          <a:xfrm>
            <a:off x="3391052" y="4530000"/>
            <a:ext cx="2509688" cy="12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00" b="1" dirty="0">
                <a:solidFill>
                  <a:srgbClr val="8CD17D"/>
                </a:solidFill>
                <a:latin typeface="+mn-lt"/>
              </a:rPr>
              <a:t>Синергия с БРД</a:t>
            </a:r>
          </a:p>
          <a:p>
            <a:pPr algn="l">
              <a:spcBef>
                <a:spcPts val="250"/>
              </a:spcBef>
              <a:buNone/>
            </a:pPr>
            <a:r>
              <a:rPr lang="ru-RU" sz="900" b="0" dirty="0">
                <a:solidFill>
                  <a:srgbClr val="FFFFFF"/>
                </a:solidFill>
                <a:latin typeface="+mn-lt"/>
              </a:rPr>
              <a:t>Аэрированная жидкость хуже охлаждает забой — охладитель становится обязательным элементом комплекта БРД.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3391052" y="5830000"/>
            <a:ext cx="2509688" cy="3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00326E"/>
                </a:solidFill>
                <a:latin typeface="+mn-lt"/>
              </a:rPr>
              <a:t>Затраты: низкие–средние · 6–12 мес.</a:t>
            </a:r>
          </a:p>
        </p:txBody>
      </p:sp>
      <p:sp>
        <p:nvSpPr>
          <p:cNvPr id="33" name="Фигура 33"/>
          <p:cNvSpPr/>
          <p:nvPr/>
        </p:nvSpPr>
        <p:spPr>
          <a:xfrm>
            <a:off x="6170740" y="1500000"/>
            <a:ext cx="2749688" cy="465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4" name="Фигура 34"/>
          <p:cNvSpPr/>
          <p:nvPr/>
        </p:nvSpPr>
        <p:spPr>
          <a:xfrm>
            <a:off x="6170740" y="1431000"/>
            <a:ext cx="2749688" cy="7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pic>
        <p:nvPicPr>
          <p:cNvPr id="35" name="Иконка 35" descr="TbPlugConnected_4BAF4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0740" y="1590000"/>
            <a:ext cx="330000" cy="330000"/>
          </a:xfrm>
          <a:prstGeom prst="rect">
            <a:avLst/>
          </a:prstGeom>
        </p:spPr>
      </p:pic>
      <p:sp>
        <p:nvSpPr>
          <p:cNvPr id="36" name="TextBox 36"/>
          <p:cNvSpPr txBox="1"/>
          <p:nvPr/>
        </p:nvSpPr>
        <p:spPr>
          <a:xfrm>
            <a:off x="6670740" y="1540000"/>
            <a:ext cx="2189688" cy="4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Буровая на электроэнергии вместо дизеля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290740" y="2060000"/>
            <a:ext cx="2509688" cy="26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4BAF46"/>
                </a:solidFill>
                <a:latin typeface="+mn-lt"/>
              </a:rPr>
              <a:t>Мировой опыт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6290740" y="2280000"/>
            <a:ext cx="2549688" cy="18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KenGen: ≈350 тыс. л ДТ на скважину (≈$427 тыс.)</a:t>
            </a:r>
          </a:p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Тейстарейкир (Исландия): буровая 3–4 МВт от ГеоЭС</a:t>
            </a:r>
          </a:p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ON Power: экономия &gt;2 млн л ДТ на 8 скважинах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6290740" y="3500000"/>
            <a:ext cx="2509688" cy="26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4BAF46"/>
                </a:solidFill>
                <a:latin typeface="+mn-lt"/>
              </a:rPr>
              <a:t>Для Мутновского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290740" y="3720000"/>
            <a:ext cx="2549688" cy="7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ЛЭП ГеоЭС-1 рядом; уходят завоз ДТ по снегу и риск роста цен на топливо.</a:t>
            </a:r>
          </a:p>
        </p:txBody>
      </p:sp>
      <p:sp>
        <p:nvSpPr>
          <p:cNvPr id="41" name="Фигура 41"/>
          <p:cNvSpPr/>
          <p:nvPr/>
        </p:nvSpPr>
        <p:spPr>
          <a:xfrm>
            <a:off x="6170740" y="4500000"/>
            <a:ext cx="2749688" cy="13200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42" name="TextBox 42"/>
          <p:cNvSpPr txBox="1"/>
          <p:nvPr/>
        </p:nvSpPr>
        <p:spPr>
          <a:xfrm>
            <a:off x="6290740" y="4530000"/>
            <a:ext cx="2509688" cy="12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00" b="1" dirty="0">
                <a:solidFill>
                  <a:srgbClr val="8CD17D"/>
                </a:solidFill>
                <a:latin typeface="+mn-lt"/>
              </a:rPr>
              <a:t>Синергия с БРД</a:t>
            </a:r>
          </a:p>
          <a:p>
            <a:pPr algn="l">
              <a:spcBef>
                <a:spcPts val="250"/>
              </a:spcBef>
              <a:buNone/>
            </a:pPr>
            <a:r>
              <a:rPr lang="ru-RU" sz="900" b="0" dirty="0">
                <a:solidFill>
                  <a:srgbClr val="FFFFFF"/>
                </a:solidFill>
                <a:latin typeface="+mn-lt"/>
              </a:rPr>
              <a:t>Азотные компрессоры — крупный потребитель энергии; их электропривод снижает расход ДТ на БРД (оценка).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290740" y="5830000"/>
            <a:ext cx="2509688" cy="3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00326E"/>
                </a:solidFill>
                <a:latin typeface="+mn-lt"/>
              </a:rPr>
              <a:t>Затраты: средние · ≈1 год</a:t>
            </a:r>
          </a:p>
        </p:txBody>
      </p:sp>
      <p:sp>
        <p:nvSpPr>
          <p:cNvPr id="44" name="Фигура 44"/>
          <p:cNvSpPr/>
          <p:nvPr/>
        </p:nvSpPr>
        <p:spPr>
          <a:xfrm>
            <a:off x="9070428" y="1500000"/>
            <a:ext cx="2749688" cy="465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45" name="Фигура 45"/>
          <p:cNvSpPr/>
          <p:nvPr/>
        </p:nvSpPr>
        <p:spPr>
          <a:xfrm>
            <a:off x="9070428" y="1431000"/>
            <a:ext cx="2749688" cy="7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pic>
        <p:nvPicPr>
          <p:cNvPr id="46" name="Иконка 46" descr="TbRoute_4BAF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0428" y="1590000"/>
            <a:ext cx="330000" cy="330000"/>
          </a:xfrm>
          <a:prstGeom prst="rect">
            <a:avLst/>
          </a:prstGeom>
        </p:spPr>
      </p:pic>
      <p:sp>
        <p:nvSpPr>
          <p:cNvPr id="47" name="TextBox 47"/>
          <p:cNvSpPr txBox="1"/>
          <p:nvPr/>
        </p:nvSpPr>
        <p:spPr>
          <a:xfrm>
            <a:off x="9570428" y="1540000"/>
            <a:ext cx="2189688" cy="4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Наклонные и многоствольные скважины на разломы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190428" y="2060000"/>
            <a:ext cx="2509688" cy="26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4BAF46"/>
                </a:solidFill>
                <a:latin typeface="+mn-lt"/>
              </a:rPr>
              <a:t>Мировой опыт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9190428" y="2280000"/>
            <a:ext cx="2549688" cy="18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Olkaria Domes: 37 из 53 скважин наклонные</a:t>
            </a:r>
          </a:p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Максимум 24,7 МВт против 16 МВт у вертикальных</a:t>
            </a:r>
          </a:p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Бурение дороже на 22–41 %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190428" y="3500000"/>
            <a:ext cx="2509688" cy="26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4BAF46"/>
                </a:solidFill>
                <a:latin typeface="+mn-lt"/>
              </a:rPr>
              <a:t>Для Мутновского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9190428" y="3720000"/>
            <a:ext cx="2549688" cy="7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Траектории поперёк разломов; несколько стволов с одной площадки — меньше дорог и работ в снегу.</a:t>
            </a:r>
          </a:p>
        </p:txBody>
      </p:sp>
      <p:sp>
        <p:nvSpPr>
          <p:cNvPr id="52" name="Фигура 52"/>
          <p:cNvSpPr/>
          <p:nvPr/>
        </p:nvSpPr>
        <p:spPr>
          <a:xfrm>
            <a:off x="9070428" y="4500000"/>
            <a:ext cx="2749688" cy="13200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53" name="TextBox 53"/>
          <p:cNvSpPr txBox="1"/>
          <p:nvPr/>
        </p:nvSpPr>
        <p:spPr>
          <a:xfrm>
            <a:off x="9190428" y="4530000"/>
            <a:ext cx="2509688" cy="12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00" b="1" dirty="0">
                <a:solidFill>
                  <a:srgbClr val="8CD17D"/>
                </a:solidFill>
                <a:latin typeface="+mn-lt"/>
              </a:rPr>
              <a:t>Синергия с БРД</a:t>
            </a:r>
          </a:p>
          <a:p>
            <a:pPr algn="l">
              <a:spcBef>
                <a:spcPts val="250"/>
              </a:spcBef>
              <a:buNone/>
            </a:pPr>
            <a:r>
              <a:rPr lang="ru-RU" sz="900" b="0" dirty="0">
                <a:solidFill>
                  <a:srgbClr val="FFFFFF"/>
                </a:solidFill>
                <a:latin typeface="+mn-lt"/>
              </a:rPr>
              <a:t>БРД сохраняет проницаемость пересечённых трещин — наклонный ствол реализует свой потенциал.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9190428" y="5830000"/>
            <a:ext cx="2509688" cy="3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00326E"/>
                </a:solidFill>
                <a:latin typeface="+mn-lt"/>
              </a:rPr>
              <a:t>Затраты: средние · 1–2 года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371364" y="6215000"/>
            <a:ext cx="11448752" cy="23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700" b="0" dirty="0">
                <a:solidFill>
                  <a:schemeClr val="bg2"/>
                </a:solidFill>
                <a:latin typeface="+mn-lt"/>
              </a:rPr>
              <a:t>Источники: Samuel et al., SGW 2022; Su et al., SGW 2024; Fervo Energy, 12.02.2024; Eavor/FORGE 2023; SPE 2020 (mud chillers); NOV; KenGen; ON Power 2024; Ngugi, UNU-GTP 2002. Оценки для Мутновского — экспертные.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Доп. технологии: скважина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/>
              <a:t>Сохранение дебита действующего фонда и рост выработки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10"/>
          </p:nvPr>
        </p:nvSpPr>
        <p:spPr/>
        <p:txBody>
          <a:bodyPr/>
          <a:lstStyle/>
          <a:p>
            <a:r>
              <a:rPr lang="ru-RU" dirty="0"/>
              <a:t>Новые технологии бурения геотермальных скважин · Мутновское месторождение</a:t>
            </a:r>
          </a:p>
        </p:txBody>
      </p:sp>
      <p:sp>
        <p:nvSpPr>
          <p:cNvPr id="11" name="Фигура 11"/>
          <p:cNvSpPr/>
          <p:nvPr/>
        </p:nvSpPr>
        <p:spPr>
          <a:xfrm>
            <a:off x="371364" y="1500000"/>
            <a:ext cx="2749688" cy="465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2" name="Фигура 12"/>
          <p:cNvSpPr/>
          <p:nvPr/>
        </p:nvSpPr>
        <p:spPr>
          <a:xfrm>
            <a:off x="371364" y="1431000"/>
            <a:ext cx="2749688" cy="7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pic>
        <p:nvPicPr>
          <p:cNvPr id="13" name="Иконка 13" descr="TbFlask_4BAF4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364" y="1590000"/>
            <a:ext cx="330000" cy="3300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871364" y="1540000"/>
            <a:ext cx="2189688" cy="4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Кислотная обработка HCl–HF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91364" y="2060000"/>
            <a:ext cx="2509688" cy="26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4BAF46"/>
                </a:solidFill>
                <a:latin typeface="+mn-lt"/>
              </a:rPr>
              <a:t>Мировой опыт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91364" y="2280000"/>
            <a:ext cx="2549688" cy="18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PNOC-EDC (Филиппины): 9 из 10 скважин +60…911 %; 110D: 4,1 → 12,4 МВт</a:t>
            </a:r>
          </a:p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Мексика: 15 из 17 обработок успешны, в среднем +176 %, окупаемость &lt;1 года</a:t>
            </a:r>
          </a:p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Стоимость $0,08–1,3 млн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91364" y="3500000"/>
            <a:ext cx="2509688" cy="26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4BAF46"/>
                </a:solidFill>
                <a:latin typeface="+mn-lt"/>
              </a:rPr>
              <a:t>Для Мутновского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91364" y="3720000"/>
            <a:ext cx="2549688" cy="7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Оценка: 7–110 млн ₽ (2–30 % цены новой скважины) — для скважин с отложениями SiO₂.</a:t>
            </a:r>
          </a:p>
        </p:txBody>
      </p:sp>
      <p:sp>
        <p:nvSpPr>
          <p:cNvPr id="19" name="Фигура 19"/>
          <p:cNvSpPr/>
          <p:nvPr/>
        </p:nvSpPr>
        <p:spPr>
          <a:xfrm>
            <a:off x="371364" y="4500000"/>
            <a:ext cx="2749688" cy="13200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0" name="TextBox 20"/>
          <p:cNvSpPr txBox="1"/>
          <p:nvPr/>
        </p:nvSpPr>
        <p:spPr>
          <a:xfrm>
            <a:off x="491364" y="4530000"/>
            <a:ext cx="2509688" cy="12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00" b="1" dirty="0">
                <a:solidFill>
                  <a:srgbClr val="8CD17D"/>
                </a:solidFill>
                <a:latin typeface="+mn-lt"/>
              </a:rPr>
              <a:t>Синергия с БРД</a:t>
            </a:r>
          </a:p>
          <a:p>
            <a:pPr algn="l">
              <a:spcBef>
                <a:spcPts val="250"/>
              </a:spcBef>
              <a:buNone/>
            </a:pPr>
            <a:r>
              <a:rPr lang="ru-RU" sz="900" b="0" dirty="0">
                <a:solidFill>
                  <a:srgbClr val="FFFFFF"/>
                </a:solidFill>
                <a:latin typeface="+mn-lt"/>
              </a:rPr>
              <a:t>БРД не вносит кольматант в новые скважины, кислота восстанавливает действующий фонд.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91364" y="5830000"/>
            <a:ext cx="2509688" cy="3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00326E"/>
                </a:solidFill>
                <a:latin typeface="+mn-lt"/>
              </a:rPr>
              <a:t>Затраты: низкие–средние · 3–6 мес.</a:t>
            </a:r>
          </a:p>
        </p:txBody>
      </p:sp>
      <p:sp>
        <p:nvSpPr>
          <p:cNvPr id="22" name="Фигура 22"/>
          <p:cNvSpPr/>
          <p:nvPr/>
        </p:nvSpPr>
        <p:spPr>
          <a:xfrm>
            <a:off x="3271052" y="1500000"/>
            <a:ext cx="2749688" cy="465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3" name="Фигура 23"/>
          <p:cNvSpPr/>
          <p:nvPr/>
        </p:nvSpPr>
        <p:spPr>
          <a:xfrm>
            <a:off x="3271052" y="1431000"/>
            <a:ext cx="2749688" cy="7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pic>
        <p:nvPicPr>
          <p:cNvPr id="24" name="Иконка 24" descr="TbDroplet_4BAF4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1052" y="1590000"/>
            <a:ext cx="330000" cy="330000"/>
          </a:xfrm>
          <a:prstGeom prst="rect">
            <a:avLst/>
          </a:prstGeom>
        </p:spPr>
      </p:pic>
      <p:sp>
        <p:nvSpPr>
          <p:cNvPr id="25" name="TextBox 25"/>
          <p:cNvSpPr txBox="1"/>
          <p:nvPr/>
        </p:nvSpPr>
        <p:spPr>
          <a:xfrm>
            <a:off x="3771052" y="1540000"/>
            <a:ext cx="2189688" cy="4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Контроль кремнезёма: понижение pH сепарата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391052" y="2060000"/>
            <a:ext cx="2509688" cy="26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4BAF46"/>
                </a:solidFill>
                <a:latin typeface="+mn-lt"/>
              </a:rPr>
              <a:t>Мировой опыт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3391052" y="2280000"/>
            <a:ext cx="2549688" cy="18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Хатчобару (Япония): SiO₂ 605–722 мг/л — как на Мутновском (606)</a:t>
            </a:r>
          </a:p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Падение приёмистости 30–70 → 10–30 % в год</a:t>
            </a:r>
          </a:p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Срок службы нагнетательных скважин ×3 (модель)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3391052" y="3500000"/>
            <a:ext cx="2509688" cy="26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4BAF46"/>
                </a:solidFill>
                <a:latin typeface="+mn-lt"/>
              </a:rPr>
              <a:t>Для Мутновского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3391052" y="3720000"/>
            <a:ext cx="2549688" cy="7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Защита нагнетательных скважин и шлейфов; нужен мониторинг коррозии.</a:t>
            </a:r>
          </a:p>
        </p:txBody>
      </p:sp>
      <p:sp>
        <p:nvSpPr>
          <p:cNvPr id="30" name="Фигура 30"/>
          <p:cNvSpPr/>
          <p:nvPr/>
        </p:nvSpPr>
        <p:spPr>
          <a:xfrm>
            <a:off x="3271052" y="4500000"/>
            <a:ext cx="2749688" cy="13200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1" name="TextBox 31"/>
          <p:cNvSpPr txBox="1"/>
          <p:nvPr/>
        </p:nvSpPr>
        <p:spPr>
          <a:xfrm>
            <a:off x="3391052" y="4530000"/>
            <a:ext cx="2509688" cy="12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00" b="1" dirty="0">
                <a:solidFill>
                  <a:srgbClr val="8CD17D"/>
                </a:solidFill>
                <a:latin typeface="+mn-lt"/>
              </a:rPr>
              <a:t>Синергия с БРД</a:t>
            </a:r>
          </a:p>
          <a:p>
            <a:pPr algn="l">
              <a:spcBef>
                <a:spcPts val="250"/>
              </a:spcBef>
              <a:buNone/>
            </a:pPr>
            <a:r>
              <a:rPr lang="ru-RU" sz="900" b="0" dirty="0">
                <a:solidFill>
                  <a:srgbClr val="FFFFFF"/>
                </a:solidFill>
                <a:latin typeface="+mn-lt"/>
              </a:rPr>
              <a:t>Меньше перебуривания нагнетательных скважин; проницаемость сохраняется по всей цепочке «добыча — закачка».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3391052" y="5830000"/>
            <a:ext cx="2509688" cy="3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00326E"/>
                </a:solidFill>
                <a:latin typeface="+mn-lt"/>
              </a:rPr>
              <a:t>Затраты: низкие · 6–12 мес.</a:t>
            </a:r>
          </a:p>
        </p:txBody>
      </p:sp>
      <p:sp>
        <p:nvSpPr>
          <p:cNvPr id="33" name="Фигура 33"/>
          <p:cNvSpPr/>
          <p:nvPr/>
        </p:nvSpPr>
        <p:spPr>
          <a:xfrm>
            <a:off x="6170740" y="1500000"/>
            <a:ext cx="2749688" cy="465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4" name="Фигура 34"/>
          <p:cNvSpPr/>
          <p:nvPr/>
        </p:nvSpPr>
        <p:spPr>
          <a:xfrm>
            <a:off x="6170740" y="1431000"/>
            <a:ext cx="2749688" cy="7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pic>
        <p:nvPicPr>
          <p:cNvPr id="35" name="Иконка 35" descr="TbBuildingFactory_4BAF4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0740" y="1590000"/>
            <a:ext cx="330000" cy="330000"/>
          </a:xfrm>
          <a:prstGeom prst="rect">
            <a:avLst/>
          </a:prstGeom>
        </p:spPr>
      </p:pic>
      <p:sp>
        <p:nvSpPr>
          <p:cNvPr id="36" name="TextBox 36"/>
          <p:cNvSpPr txBox="1"/>
          <p:nvPr/>
        </p:nvSpPr>
        <p:spPr>
          <a:xfrm>
            <a:off x="6670740" y="1540000"/>
            <a:ext cx="2189688" cy="4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Бинарный / комбинированный блок на сепарате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290740" y="2060000"/>
            <a:ext cx="2509688" cy="26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4BAF46"/>
                </a:solidFill>
                <a:latin typeface="+mn-lt"/>
              </a:rPr>
              <a:t>Мировой опыт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6290740" y="2280000"/>
            <a:ext cx="2549688" cy="18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Мутновский: до 8 МВт паровых + 5 МВт бинарных = +13 МВт без новых скважин</a:t>
            </a:r>
          </a:p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Повторное вскипание при 0,2 МПа + ORC</a:t>
            </a:r>
          </a:p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КИП теплоносителя +26 %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6290740" y="3500000"/>
            <a:ext cx="2509688" cy="26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4BAF46"/>
                </a:solidFill>
                <a:latin typeface="+mn-lt"/>
              </a:rPr>
              <a:t>Для Мутновского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290740" y="3720000"/>
            <a:ext cx="2549688" cy="7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Рост выработки на существующем фонде скважин.</a:t>
            </a:r>
          </a:p>
        </p:txBody>
      </p:sp>
      <p:sp>
        <p:nvSpPr>
          <p:cNvPr id="41" name="Фигура 41"/>
          <p:cNvSpPr/>
          <p:nvPr/>
        </p:nvSpPr>
        <p:spPr>
          <a:xfrm>
            <a:off x="6170740" y="4500000"/>
            <a:ext cx="2749688" cy="13200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42" name="TextBox 42"/>
          <p:cNvSpPr txBox="1"/>
          <p:nvPr/>
        </p:nvSpPr>
        <p:spPr>
          <a:xfrm>
            <a:off x="6290740" y="4530000"/>
            <a:ext cx="2509688" cy="12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00" b="1" dirty="0">
                <a:solidFill>
                  <a:srgbClr val="8CD17D"/>
                </a:solidFill>
                <a:latin typeface="+mn-lt"/>
              </a:rPr>
              <a:t>Синергия с БРД</a:t>
            </a:r>
          </a:p>
          <a:p>
            <a:pPr algn="l">
              <a:spcBef>
                <a:spcPts val="250"/>
              </a:spcBef>
              <a:buNone/>
            </a:pPr>
            <a:r>
              <a:rPr lang="ru-RU" sz="900" b="0" dirty="0">
                <a:solidFill>
                  <a:srgbClr val="FFFFFF"/>
                </a:solidFill>
                <a:latin typeface="+mn-lt"/>
              </a:rPr>
              <a:t>Не зависит от бурения; охлаждение сепарата усиливает отложения SiO₂ — внедрять вместе с контролем pH.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290740" y="5830000"/>
            <a:ext cx="2509688" cy="3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00326E"/>
                </a:solidFill>
                <a:latin typeface="+mn-lt"/>
              </a:rPr>
              <a:t>Затраты: высокие · 3–4 года</a:t>
            </a:r>
          </a:p>
        </p:txBody>
      </p:sp>
      <p:sp>
        <p:nvSpPr>
          <p:cNvPr id="44" name="Фигура 44"/>
          <p:cNvSpPr/>
          <p:nvPr/>
        </p:nvSpPr>
        <p:spPr>
          <a:xfrm>
            <a:off x="9070428" y="1500000"/>
            <a:ext cx="2749688" cy="465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45" name="Фигура 45"/>
          <p:cNvSpPr/>
          <p:nvPr/>
        </p:nvSpPr>
        <p:spPr>
          <a:xfrm>
            <a:off x="9070428" y="1431000"/>
            <a:ext cx="2749688" cy="7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pic>
        <p:nvPicPr>
          <p:cNvPr id="46" name="Иконка 46" descr="TbBolt_4BAF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0428" y="1590000"/>
            <a:ext cx="330000" cy="330000"/>
          </a:xfrm>
          <a:prstGeom prst="rect">
            <a:avLst/>
          </a:prstGeom>
        </p:spPr>
      </p:pic>
      <p:sp>
        <p:nvSpPr>
          <p:cNvPr id="47" name="TextBox 47"/>
          <p:cNvSpPr txBox="1"/>
          <p:nvPr/>
        </p:nvSpPr>
        <p:spPr>
          <a:xfrm>
            <a:off x="9570428" y="1540000"/>
            <a:ext cx="2189688" cy="4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Модульные устьевые энергоблоки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190428" y="2060000"/>
            <a:ext cx="2509688" cy="26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4BAF46"/>
                </a:solidFill>
                <a:latin typeface="+mn-lt"/>
              </a:rPr>
              <a:t>Мировой опыт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9190428" y="2280000"/>
            <a:ext cx="2549688" cy="18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KenGen: 15 блоков, 81 МВт</a:t>
            </a:r>
          </a:p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Строительство ≈6 мес., окупаемость ≤5 лет</a:t>
            </a:r>
          </a:p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≈$1,6 млн за МВт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190428" y="3500000"/>
            <a:ext cx="2509688" cy="26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4BAF46"/>
                </a:solidFill>
                <a:latin typeface="+mn-lt"/>
              </a:rPr>
              <a:t>Для Мутновского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9190428" y="3720000"/>
            <a:ext cx="2549688" cy="7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Выработка с разведочных и удалённых скважин до ввода ГеоЭС-2; питание буровой.</a:t>
            </a:r>
          </a:p>
        </p:txBody>
      </p:sp>
      <p:sp>
        <p:nvSpPr>
          <p:cNvPr id="52" name="Фигура 52"/>
          <p:cNvSpPr/>
          <p:nvPr/>
        </p:nvSpPr>
        <p:spPr>
          <a:xfrm>
            <a:off x="9070428" y="4500000"/>
            <a:ext cx="2749688" cy="13200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53" name="TextBox 53"/>
          <p:cNvSpPr txBox="1"/>
          <p:nvPr/>
        </p:nvSpPr>
        <p:spPr>
          <a:xfrm>
            <a:off x="9190428" y="4530000"/>
            <a:ext cx="2509688" cy="12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00" b="1" dirty="0">
                <a:solidFill>
                  <a:srgbClr val="8CD17D"/>
                </a:solidFill>
                <a:latin typeface="+mn-lt"/>
              </a:rPr>
              <a:t>Синергия с БРД</a:t>
            </a:r>
          </a:p>
          <a:p>
            <a:pPr algn="l">
              <a:spcBef>
                <a:spcPts val="250"/>
              </a:spcBef>
              <a:buNone/>
            </a:pPr>
            <a:r>
              <a:rPr lang="ru-RU" sz="900" b="0" dirty="0">
                <a:solidFill>
                  <a:srgbClr val="FFFFFF"/>
                </a:solidFill>
                <a:latin typeface="+mn-lt"/>
              </a:rPr>
              <a:t>Скважина после БРД быстро выходит на режим — устьевой блок превращает это в раннюю выручку.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9190428" y="5830000"/>
            <a:ext cx="2509688" cy="3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00326E"/>
                </a:solidFill>
                <a:latin typeface="+mn-lt"/>
              </a:rPr>
              <a:t>Затраты: средние–высокие · 1–2 года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371364" y="6215000"/>
            <a:ext cx="11448752" cy="23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700" b="0" dirty="0">
                <a:solidFill>
                  <a:schemeClr val="bg2"/>
                </a:solidFill>
                <a:latin typeface="+mn-lt"/>
              </a:rPr>
              <a:t>Источники: Buñing et al., WGC 1995; Flores-Armenta, GRC 2010; UNU-GTP 2012; WGC 2000, Kiyota 2011 (Hatchobaru); Tomarov et al., Thermal Engineering 2016, 63(6); KenGen/GEG; ARGeo 2016. Оценки для Мутновского — экспертные.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Пеноцемент + БРД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/>
              <a:t>Облегчённый азотированный цемент: опыт и синергия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10"/>
          </p:nvPr>
        </p:nvSpPr>
        <p:spPr/>
        <p:txBody>
          <a:bodyPr/>
          <a:lstStyle/>
          <a:p>
            <a:r>
              <a:rPr lang="ru-RU" dirty="0"/>
              <a:t>Новые технологии бурения геотермальных скважин · Мутновское месторождение</a:t>
            </a:r>
          </a:p>
        </p:txBody>
      </p:sp>
      <p:sp>
        <p:nvSpPr>
          <p:cNvPr id="11" name="Фигура 11"/>
          <p:cNvSpPr/>
          <p:nvPr/>
        </p:nvSpPr>
        <p:spPr>
          <a:xfrm>
            <a:off x="371364" y="1500000"/>
            <a:ext cx="4250000" cy="465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2" name="Фигура 12"/>
          <p:cNvSpPr/>
          <p:nvPr/>
        </p:nvSpPr>
        <p:spPr>
          <a:xfrm>
            <a:off x="371364" y="1431000"/>
            <a:ext cx="4250000" cy="7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3" name="TextBox 13"/>
          <p:cNvSpPr txBox="1"/>
          <p:nvPr/>
        </p:nvSpPr>
        <p:spPr>
          <a:xfrm>
            <a:off x="501364" y="1540000"/>
            <a:ext cx="3990000" cy="3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100" b="1" dirty="0">
                <a:solidFill>
                  <a:schemeClr val="tx2"/>
                </a:solidFill>
                <a:latin typeface="+mn-lt"/>
              </a:rPr>
              <a:t>Опыт в геотермальных скважинах</a:t>
            </a:r>
          </a:p>
        </p:txBody>
      </p:sp>
      <p:sp>
        <p:nvSpPr>
          <p:cNvPr id="14" name="Фигура 14"/>
          <p:cNvSpPr/>
          <p:nvPr/>
        </p:nvSpPr>
        <p:spPr>
          <a:xfrm>
            <a:off x="501364" y="1940000"/>
            <a:ext cx="50000" cy="842500"/>
          </a:xfrm>
          <a:prstGeom prst="rect">
            <a:avLst/>
          </a:prstGeom>
          <a:solidFill>
            <a:srgbClr val="4BAF46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5" name="TextBox 15"/>
          <p:cNvSpPr txBox="1"/>
          <p:nvPr/>
        </p:nvSpPr>
        <p:spPr>
          <a:xfrm>
            <a:off x="631364" y="1880000"/>
            <a:ext cx="3890000" cy="9625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Puna KS-15, Гавайи (≈2011)</a:t>
            </a:r>
          </a:p>
          <a:p>
            <a:pPr algn="l">
              <a:spcBef>
                <a:spcPts val="15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ЭЦП 1 350 против 1 650 кг/м³ (−4,4 МПа), без поглощений и встречного цементирования, НПВ 0 ч; статическая температура на забое &gt;260 °C.</a:t>
            </a:r>
          </a:p>
        </p:txBody>
      </p:sp>
      <p:sp>
        <p:nvSpPr>
          <p:cNvPr id="16" name="Фигура 16"/>
          <p:cNvSpPr/>
          <p:nvPr/>
        </p:nvSpPr>
        <p:spPr>
          <a:xfrm>
            <a:off x="501364" y="2902500"/>
            <a:ext cx="50000" cy="842500"/>
          </a:xfrm>
          <a:prstGeom prst="rect">
            <a:avLst/>
          </a:prstGeom>
          <a:solidFill>
            <a:srgbClr val="4BAF46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7" name="TextBox 17"/>
          <p:cNvSpPr txBox="1"/>
          <p:nvPr/>
        </p:nvSpPr>
        <p:spPr>
          <a:xfrm>
            <a:off x="631364" y="2842500"/>
            <a:ext cx="3890000" cy="9625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Blue Mountain, Невада (2009)</a:t>
            </a:r>
          </a:p>
          <a:p>
            <a:pPr algn="l">
              <a:spcBef>
                <a:spcPts val="15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Применение пены вместо микросфер в цементе: дешевле в пересчёте на объём, колонна 253 м без доливки.</a:t>
            </a:r>
          </a:p>
        </p:txBody>
      </p:sp>
      <p:sp>
        <p:nvSpPr>
          <p:cNvPr id="18" name="Фигура 18"/>
          <p:cNvSpPr/>
          <p:nvPr/>
        </p:nvSpPr>
        <p:spPr>
          <a:xfrm>
            <a:off x="501364" y="3865000"/>
            <a:ext cx="50000" cy="842500"/>
          </a:xfrm>
          <a:prstGeom prst="rect">
            <a:avLst/>
          </a:prstGeom>
          <a:solidFill>
            <a:srgbClr val="4BAF46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9" name="TextBox 19"/>
          <p:cNvSpPr txBox="1"/>
          <p:nvPr/>
        </p:nvSpPr>
        <p:spPr>
          <a:xfrm>
            <a:off x="631364" y="3805000"/>
            <a:ext cx="3890000" cy="9625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Steamboat 42A-32, Невада (2018)</a:t>
            </a:r>
          </a:p>
          <a:p>
            <a:pPr algn="l">
              <a:spcBef>
                <a:spcPts val="15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ThermaLock с азотом: первичное цементирование неудачно (верх цемента 188 м), после ремонта — 65 м. Нужен контроль качества.</a:t>
            </a:r>
          </a:p>
        </p:txBody>
      </p:sp>
      <p:sp>
        <p:nvSpPr>
          <p:cNvPr id="20" name="Фигура 20"/>
          <p:cNvSpPr/>
          <p:nvPr/>
        </p:nvSpPr>
        <p:spPr>
          <a:xfrm>
            <a:off x="501364" y="4827500"/>
            <a:ext cx="50000" cy="842500"/>
          </a:xfrm>
          <a:prstGeom prst="rect">
            <a:avLst/>
          </a:prstGeom>
          <a:solidFill>
            <a:srgbClr val="4BAF46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1" name="TextBox 21"/>
          <p:cNvSpPr txBox="1"/>
          <p:nvPr/>
        </p:nvSpPr>
        <p:spPr>
          <a:xfrm>
            <a:off x="631364" y="4767500"/>
            <a:ext cx="3890000" cy="9625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Salton Sea, Coso (США)</a:t>
            </a:r>
          </a:p>
          <a:p>
            <a:pPr algn="l">
              <a:spcBef>
                <a:spcPts val="15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CO₂-стойкий пеноцемент на фосфате кальция (стабилен до 371 °C); по моделированию пена лучше переносит термоциклы.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01364" y="5730000"/>
            <a:ext cx="3990000" cy="4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0" dirty="0">
                <a:solidFill>
                  <a:srgbClr val="6B7785"/>
                </a:solidFill>
                <a:latin typeface="+mn-lt"/>
              </a:rPr>
              <a:t>В Индонезии, Филиппинах, Кении, Турции, Исландии и Новой Зеландии опубликованного опыта не найдено.</a:t>
            </a:r>
          </a:p>
        </p:txBody>
      </p:sp>
      <p:sp>
        <p:nvSpPr>
          <p:cNvPr id="23" name="Фигура 23"/>
          <p:cNvSpPr/>
          <p:nvPr/>
        </p:nvSpPr>
        <p:spPr>
          <a:xfrm>
            <a:off x="4801364" y="1500000"/>
            <a:ext cx="2600000" cy="465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4" name="Фигура 24"/>
          <p:cNvSpPr/>
          <p:nvPr/>
        </p:nvSpPr>
        <p:spPr>
          <a:xfrm>
            <a:off x="4801364" y="1431000"/>
            <a:ext cx="2600000" cy="7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5" name="TextBox 25"/>
          <p:cNvSpPr txBox="1"/>
          <p:nvPr/>
        </p:nvSpPr>
        <p:spPr>
          <a:xfrm>
            <a:off x="4931364" y="1540000"/>
            <a:ext cx="2340000" cy="3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100" b="1" dirty="0">
                <a:solidFill>
                  <a:schemeClr val="tx2"/>
                </a:solidFill>
                <a:latin typeface="+mn-lt"/>
              </a:rPr>
              <a:t>Свойства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931364" y="1880000"/>
            <a:ext cx="2340000" cy="10525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350" b="1" dirty="0">
                <a:solidFill>
                  <a:srgbClr val="00326E"/>
                </a:solidFill>
                <a:latin typeface="+mn-lt"/>
              </a:rPr>
              <a:t>1 140–1 440 кг/м³</a:t>
            </a:r>
          </a:p>
          <a:p>
            <a:pPr algn="l">
              <a:spcBef>
                <a:spcPts val="0"/>
              </a:spcBef>
              <a:buNone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плотность (обычный цемент 1 850–1 900 кг/м³)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931364" y="2932500"/>
            <a:ext cx="2340000" cy="10525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350" b="1" dirty="0">
                <a:solidFill>
                  <a:srgbClr val="00326E"/>
                </a:solidFill>
                <a:latin typeface="+mn-lt"/>
              </a:rPr>
              <a:t>0,25–0,5 Вт/(м·К)</a:t>
            </a:r>
          </a:p>
          <a:p>
            <a:pPr algn="l">
              <a:spcBef>
                <a:spcPts val="0"/>
              </a:spcBef>
              <a:buNone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теплопроводность — в 2–10 раз ниже</a:t>
            </a:r>
          </a:p>
        </p:txBody>
      </p:sp>
      <p:cxnSp>
        <p:nvCxnSpPr>
          <p:cNvPr id="28" name="Линия 28"/>
          <p:cNvCxnSpPr/>
          <p:nvPr/>
        </p:nvCxnSpPr>
        <p:spPr>
          <a:xfrm>
            <a:off x="4931364" y="2932500"/>
            <a:ext cx="2340000" cy="0"/>
          </a:xfrm>
          <a:prstGeom prst="line">
            <a:avLst/>
          </a:prstGeom>
          <a:ln w="9525">
            <a:solidFill>
              <a:srgbClr val="C5CEDA"/>
            </a:solidFill>
          </a:ln>
        </p:spPr>
      </p:cxnSp>
      <p:sp>
        <p:nvSpPr>
          <p:cNvPr id="29" name="TextBox 29"/>
          <p:cNvSpPr txBox="1"/>
          <p:nvPr/>
        </p:nvSpPr>
        <p:spPr>
          <a:xfrm>
            <a:off x="4931364" y="3985000"/>
            <a:ext cx="2340000" cy="10525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350" b="1" dirty="0">
                <a:solidFill>
                  <a:srgbClr val="00326E"/>
                </a:solidFill>
                <a:latin typeface="+mn-lt"/>
              </a:rPr>
              <a:t>&lt;5 ГПа</a:t>
            </a:r>
          </a:p>
          <a:p>
            <a:pPr algn="l">
              <a:spcBef>
                <a:spcPts val="0"/>
              </a:spcBef>
              <a:buNone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модуль упругости: устойчив к термоциклам</a:t>
            </a:r>
          </a:p>
        </p:txBody>
      </p:sp>
      <p:cxnSp>
        <p:nvCxnSpPr>
          <p:cNvPr id="30" name="Линия 30"/>
          <p:cNvCxnSpPr/>
          <p:nvPr/>
        </p:nvCxnSpPr>
        <p:spPr>
          <a:xfrm>
            <a:off x="4931364" y="3985000"/>
            <a:ext cx="2340000" cy="0"/>
          </a:xfrm>
          <a:prstGeom prst="line">
            <a:avLst/>
          </a:prstGeom>
          <a:ln w="9525">
            <a:solidFill>
              <a:srgbClr val="C5CEDA"/>
            </a:solidFill>
          </a:ln>
        </p:spPr>
      </p:cxnSp>
      <p:sp>
        <p:nvSpPr>
          <p:cNvPr id="31" name="TextBox 31"/>
          <p:cNvSpPr txBox="1"/>
          <p:nvPr/>
        </p:nvSpPr>
        <p:spPr>
          <a:xfrm>
            <a:off x="4931364" y="5037500"/>
            <a:ext cx="2340000" cy="10525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350" b="1" dirty="0">
                <a:solidFill>
                  <a:srgbClr val="00326E"/>
                </a:solidFill>
                <a:latin typeface="+mn-lt"/>
              </a:rPr>
              <a:t>30–40 %</a:t>
            </a:r>
          </a:p>
          <a:p>
            <a:pPr algn="l">
              <a:spcBef>
                <a:spcPts val="0"/>
              </a:spcBef>
              <a:buNone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кварцевой муки — против потери прочности &gt;110 °C</a:t>
            </a:r>
          </a:p>
        </p:txBody>
      </p:sp>
      <p:cxnSp>
        <p:nvCxnSpPr>
          <p:cNvPr id="32" name="Линия 32"/>
          <p:cNvCxnSpPr/>
          <p:nvPr/>
        </p:nvCxnSpPr>
        <p:spPr>
          <a:xfrm>
            <a:off x="4931364" y="5037500"/>
            <a:ext cx="2340000" cy="0"/>
          </a:xfrm>
          <a:prstGeom prst="line">
            <a:avLst/>
          </a:prstGeom>
          <a:ln w="9525">
            <a:solidFill>
              <a:srgbClr val="C5CEDA"/>
            </a:solidFill>
          </a:ln>
        </p:spPr>
      </p:cxnSp>
      <p:sp>
        <p:nvSpPr>
          <p:cNvPr id="33" name="Фигура 33"/>
          <p:cNvSpPr/>
          <p:nvPr/>
        </p:nvSpPr>
        <p:spPr>
          <a:xfrm>
            <a:off x="7581364" y="1500000"/>
            <a:ext cx="4238752" cy="32500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4" name="TextBox 34"/>
          <p:cNvSpPr txBox="1"/>
          <p:nvPr/>
        </p:nvSpPr>
        <p:spPr>
          <a:xfrm>
            <a:off x="7711364" y="1540000"/>
            <a:ext cx="3978752" cy="3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100" b="1" dirty="0">
                <a:solidFill>
                  <a:srgbClr val="FFFFFF"/>
                </a:solidFill>
                <a:latin typeface="+mn-lt"/>
              </a:rPr>
              <a:t>Синергия с БРД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7711364" y="1860000"/>
            <a:ext cx="3978752" cy="57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20" b="1" dirty="0">
                <a:solidFill>
                  <a:srgbClr val="8CD17D"/>
                </a:solidFill>
                <a:latin typeface="+mn-lt"/>
              </a:rPr>
              <a:t>Один источник азота: </a:t>
            </a:r>
            <a:r>
              <a:rPr lang="ru-RU" sz="820" b="0" dirty="0">
                <a:solidFill>
                  <a:srgbClr val="FFFFFF"/>
                </a:solidFill>
                <a:latin typeface="+mn-lt"/>
              </a:rPr>
              <a:t>установка БРД вспенивает цемент; проверить давление бустера (на 5,5–6,9 МПа выше давления закачки) и чистоту N₂ ≥95 %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711364" y="2430000"/>
            <a:ext cx="3978752" cy="57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20" b="1" dirty="0">
                <a:solidFill>
                  <a:srgbClr val="8CD17D"/>
                </a:solidFill>
                <a:latin typeface="+mn-lt"/>
              </a:rPr>
              <a:t>Цементирование под контролем давления: </a:t>
            </a:r>
            <a:r>
              <a:rPr lang="ru-RU" sz="820" b="0" dirty="0">
                <a:solidFill>
                  <a:srgbClr val="FFFFFF"/>
                </a:solidFill>
                <a:latin typeface="+mn-lt"/>
              </a:rPr>
              <a:t>РУГ и дроссельный манифольд дают противодавление (на Puna ≈1 МПа)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711364" y="3000000"/>
            <a:ext cx="3978752" cy="57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20" b="1" dirty="0">
                <a:solidFill>
                  <a:srgbClr val="8CD17D"/>
                </a:solidFill>
                <a:latin typeface="+mn-lt"/>
              </a:rPr>
              <a:t>Сепаратор: </a:t>
            </a:r>
            <a:r>
              <a:rPr lang="ru-RU" sz="820" b="0" dirty="0">
                <a:solidFill>
                  <a:srgbClr val="FFFFFF"/>
                </a:solidFill>
                <a:latin typeface="+mn-lt"/>
              </a:rPr>
              <a:t>приём вспененных буферов и газа на выходе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711364" y="3570000"/>
            <a:ext cx="3978752" cy="57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20" b="1" dirty="0">
                <a:solidFill>
                  <a:srgbClr val="8CD17D"/>
                </a:solidFill>
                <a:latin typeface="+mn-lt"/>
              </a:rPr>
              <a:t>Сохранение эффекта БРД: </a:t>
            </a:r>
            <a:r>
              <a:rPr lang="ru-RU" sz="820" b="0" dirty="0">
                <a:solidFill>
                  <a:srgbClr val="FFFFFF"/>
                </a:solidFill>
                <a:latin typeface="+mn-lt"/>
              </a:rPr>
              <a:t>ствол на депрессии не выдерживает тяжёлый цемент; лёгкий цемент не уходит в трещины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7711364" y="4140000"/>
            <a:ext cx="3978752" cy="57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20" b="1" dirty="0">
                <a:solidFill>
                  <a:srgbClr val="8CD17D"/>
                </a:solidFill>
                <a:latin typeface="+mn-lt"/>
              </a:rPr>
              <a:t>Одна мобилизация: </a:t>
            </a:r>
            <a:r>
              <a:rPr lang="ru-RU" sz="820" b="0" dirty="0">
                <a:solidFill>
                  <a:srgbClr val="FFFFFF"/>
                </a:solidFill>
                <a:latin typeface="+mn-lt"/>
              </a:rPr>
              <a:t>азот, оборудование и персонал уже на буровой</a:t>
            </a:r>
          </a:p>
        </p:txBody>
      </p:sp>
      <p:sp>
        <p:nvSpPr>
          <p:cNvPr id="40" name="Фигура 40"/>
          <p:cNvSpPr/>
          <p:nvPr/>
        </p:nvSpPr>
        <p:spPr>
          <a:xfrm>
            <a:off x="7581364" y="4880000"/>
            <a:ext cx="4238752" cy="1270000"/>
          </a:xfrm>
          <a:prstGeom prst="rect">
            <a:avLst/>
          </a:prstGeom>
          <a:solidFill>
            <a:srgbClr val="FCE8E8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41" name="TextBox 41"/>
          <p:cNvSpPr txBox="1"/>
          <p:nvPr/>
        </p:nvSpPr>
        <p:spPr>
          <a:xfrm>
            <a:off x="7711364" y="4880000"/>
            <a:ext cx="3978752" cy="127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00" b="1" dirty="0">
                <a:solidFill>
                  <a:srgbClr val="C00000"/>
                </a:solidFill>
                <a:latin typeface="+mn-lt"/>
              </a:rPr>
              <a:t>Ограничения</a:t>
            </a:r>
          </a:p>
          <a:p>
            <a:pPr algn="l">
              <a:spcBef>
                <a:spcPts val="100"/>
              </a:spcBef>
              <a:buNone/>
            </a:pPr>
            <a:r>
              <a:rPr lang="ru-RU" sz="780" b="0" dirty="0">
                <a:solidFill>
                  <a:schemeClr val="bg2"/>
                </a:solidFill>
                <a:latin typeface="+mn-lt"/>
              </a:rPr>
              <a:t>Промысловый опыт — при температуре размещения &lt;121 °C; выше 200 °C не рекомендуется (Heathman, Beck, 2006). При CO₂ и H₂S — фосфатные цементы. Сложнее АКЦ, нужен API RP 10B-4 и спецсервис.</a:t>
            </a:r>
          </a:p>
          <a:p>
            <a:pPr algn="l">
              <a:spcBef>
                <a:spcPts val="100"/>
              </a:spcBef>
              <a:buNone/>
            </a:pPr>
            <a:r>
              <a:rPr lang="ru-RU" sz="780" b="1" dirty="0">
                <a:solidFill>
                  <a:srgbClr val="00326E"/>
                </a:solidFill>
                <a:latin typeface="+mn-lt"/>
              </a:rPr>
              <a:t>Начать с ОПР на кондукторе и технической колонне разведочной скважины.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371364" y="6215000"/>
            <a:ext cx="11448752" cy="23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700" b="0" dirty="0">
                <a:solidFill>
                  <a:schemeClr val="bg2"/>
                </a:solidFill>
                <a:latin typeface="+mn-lt"/>
              </a:rPr>
              <a:t>Источники: GRC 1030556 (Puna KS-15); GRC 1034125 (Steamboat); SPE-120845, SPE-84563; Halliburton/POWER 2024; COMPASS; Heathman, Beck, 2006; US 5749422. Синергия — экспертная оценка по опыту применения азота.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 2013 – 2022">
  <a:themeElements>
    <a:clrScheme name="Зарубежнефть">
      <a:dk1>
        <a:srgbClr val="00326E"/>
      </a:dk1>
      <a:lt1>
        <a:srgbClr val="FFFFFF"/>
      </a:lt1>
      <a:dk2>
        <a:srgbClr val="4BAF46"/>
      </a:dk2>
      <a:lt2>
        <a:srgbClr val="5A5A5A"/>
      </a:lt2>
      <a:accent1>
        <a:srgbClr val="001845"/>
      </a:accent1>
      <a:accent2>
        <a:srgbClr val="005491"/>
      </a:accent2>
      <a:accent3>
        <a:srgbClr val="0078AE"/>
      </a:accent3>
      <a:accent4>
        <a:srgbClr val="0A8F2D"/>
      </a:accent4>
      <a:accent5>
        <a:srgbClr val="4BAF46"/>
      </a:accent5>
      <a:accent6>
        <a:srgbClr val="9AC854"/>
      </a:accent6>
      <a:hlink>
        <a:srgbClr val="CEE1A5"/>
      </a:hlink>
      <a:folHlink>
        <a:srgbClr val="EBF0D6"/>
      </a:folHlink>
    </a:clrScheme>
    <a:fontScheme name="Зарубежнефть">
      <a:majorFont>
        <a:latin typeface="TT Bluescreens Pro Normal Mediu"/>
        <a:ea typeface=""/>
        <a:cs typeface=""/>
      </a:majorFont>
      <a:minorFont>
        <a:latin typeface="TT Bluescreens Pro Expanded Med"/>
        <a:ea typeface=""/>
        <a:cs typeface=""/>
      </a:minorFont>
    </a:fontScheme>
    <a:fmtScheme name="Тема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 2013 – 2022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 2013 – 2022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12533</TotalTime>
  <Words>3093</Words>
  <Application>Microsoft Office PowerPoint</Application>
  <PresentationFormat>Широкоэкранный</PresentationFormat>
  <Paragraphs>313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6" baseType="lpstr">
      <vt:lpstr>TT Bluescreens Pro Normal Mediu</vt:lpstr>
      <vt:lpstr>TT Bluescreens Pro Normal</vt:lpstr>
      <vt:lpstr>Arial</vt:lpstr>
      <vt:lpstr>Wingdings</vt:lpstr>
      <vt:lpstr>TT Bluescreens Pro Expanded Med</vt:lpstr>
      <vt:lpstr>Calibri</vt:lpstr>
      <vt:lpstr>Тема Office 2013 – 2022</vt:lpstr>
      <vt:lpstr>Проблематика</vt:lpstr>
      <vt:lpstr>Технология БРД</vt:lpstr>
      <vt:lpstr>Заключение: эффект БРД</vt:lpstr>
      <vt:lpstr>Мощность и окупаемость</vt:lpstr>
      <vt:lpstr>Анализ: разведка и добыча</vt:lpstr>
      <vt:lpstr>Уточнения аргументации</vt:lpstr>
      <vt:lpstr>Доп. технологии: бурение</vt:lpstr>
      <vt:lpstr>Доп. технологии: скважина</vt:lpstr>
      <vt:lpstr>Пеноцемент + БРД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Microsoft Office User</dc:creator>
  <cp:lastModifiedBy>Золотенков Виктор Вячеславович</cp:lastModifiedBy>
  <cp:revision>235</cp:revision>
  <dcterms:created xsi:type="dcterms:W3CDTF">2026-05-25T10:20:22Z</dcterms:created>
  <dcterms:modified xsi:type="dcterms:W3CDTF">2026-10-07T15:46:49Z</dcterms:modified>
</cp:coreProperties>
</file>