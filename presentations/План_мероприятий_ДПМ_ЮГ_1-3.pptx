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6"/>
  </p:notesMasterIdLst>
  <p:handoutMasterIdLst>
    <p:handoutMasterId r:id="rId7"/>
  </p:handoutMasterIdLst>
  <p:sldIdLst>
    <p:sldId id="273" r:id="rId2"/>
    <p:sldId id="288" r:id="rId3"/>
    <p:sldId id="287" r:id="rId4"/>
    <p:sldId id="286" r:id="rId5"/>
    <p:sldId id="289" r:id="rId20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8"/>
    </p:embeddedFont>
    <p:embeddedFont>
      <p:font typeface="TT Bluescreens Pro Normal" panose="020B0006030000020204" pitchFamily="34" charset="-5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T Bluescreens Pro Expanded Med" panose="020B0006030000020204" pitchFamily="34" charset="-5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89" d="100"/>
          <a:sy n="89" d="100"/>
        </p:scale>
        <p:origin x="108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  <Relationship Id="rId20" Type="http://schemas.openxmlformats.org/officeDocument/2006/relationships/slide" Target="slides/slide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:a16="http://schemas.microsoft.com/office/drawing/2014/main" xmlns="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xmlns="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xmlns="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xmlns="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xmlns="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xmlns="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xmlns="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:a16="http://schemas.microsoft.com/office/drawing/2014/main" xmlns="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xmlns="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:a16="http://schemas.microsoft.com/office/drawing/2014/main" xmlns="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xmlns="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:a16="http://schemas.microsoft.com/office/drawing/2014/main" xmlns="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xmlns="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:a16="http://schemas.microsoft.com/office/drawing/2014/main" xmlns="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xmlns="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xmlns="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:a16="http://schemas.microsoft.com/office/drawing/2014/main" xmlns="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xmlns="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xmlns="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itemap_4BAF46.png"/><Relationship Id="rId11" Type="http://schemas.openxmlformats.org/officeDocument/2006/relationships/image" Target="../media/yug_TbUsers_4BAF46.png"/><Relationship Id="rId12" Type="http://schemas.openxmlformats.org/officeDocument/2006/relationships/image" Target="../media/yug_TbTruck_4BAF46.png"/><Relationship Id="rId13" Type="http://schemas.openxmlformats.org/officeDocument/2006/relationships/image" Target="../media/yug_TbBuildingFactory2_4BAF4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hieldCheck_4BAF46.png"/><Relationship Id="rId11" Type="http://schemas.openxmlformats.org/officeDocument/2006/relationships/image" Target="../media/yug_TbAlertTriangle_4BAF46.png"/><Relationship Id="rId12" Type="http://schemas.openxmlformats.org/officeDocument/2006/relationships/image" Target="../media/yug_TbChecklist_FFFFFF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xmlns="" id="{4DEA05BC-9EDB-797F-154D-06DAF0BF5962}"/>
              </a:ext>
            </a:extLst>
          </p:cNvPr>
          <p:cNvSpPr/>
          <p:nvPr/>
        </p:nvSpPr>
        <p:spPr>
          <a:xfrm>
            <a:off x="371475" y="6141472"/>
            <a:ext cx="1750000" cy="34822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tx1"/>
                </a:solidFill>
                <a:latin typeface="+mj-lt"/>
              </a:rPr>
              <a:t>01.10.2026</a:t>
            </a:r>
            <a:endParaRPr lang="ru-RU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2397A368-0B17-C256-D8F0-BB1C7269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483549"/>
            <a:ext cx="6567710" cy="2254704"/>
          </a:xfrm>
        </p:spPr>
        <p:txBody>
          <a:bodyPr/>
          <a:lstStyle/>
          <a:p>
            <a:r>
              <a:rPr lang="ru-RU" dirty="0"/>
              <a:t>План мероприятий по сокращению сроков ДПМ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37C6F03-DA2D-52A5-1AE3-CE88BBA6B5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4011257"/>
            <a:ext cx="5832475" cy="1073491"/>
          </a:xfrm>
        </p:spPr>
        <p:txBody>
          <a:bodyPr/>
          <a:lstStyle/>
          <a:p>
            <a:r>
              <a:rPr lang="ru-RU" dirty="0"/>
              <a:t>ПЕРЕЕЗД МБУ ZJ-30 СО СКВ. ГЕО-12 НА ПЛОЩАДКУ ЮГ 1-3</a:t>
            </a:r>
          </a:p>
          <a:p>
            <a:r>
              <a:rPr lang="ru-RU" dirty="0"/>
              <a:t>ОДНОВРЕМЕННОЕ БУРЕНИЕ ДВУМЯ МБУ</a:t>
            </a:r>
          </a:p>
          <a:p>
            <a:r>
              <a:rPr lang="ru-RU" dirty="0"/>
              <a:t>Южный участок Мутновского месторождения парогеотерм</a:t>
            </a:r>
          </a:p>
        </p:txBody>
      </p:sp>
    </p:spTree>
    <p:extLst>
      <p:ext uri="{BB962C8B-B14F-4D97-AF65-F5344CB8AC3E}">
        <p14:creationId xmlns:p14="http://schemas.microsoft.com/office/powerpoint/2010/main" val="311215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вехи и график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Цикл ДПМ МБУ ZJ-30 и ввод второй установки МБУ-125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46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Ключевые этапы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677364" y="1500000"/>
            <a:ext cx="2733775" cy="2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3671364" y="1500000"/>
            <a:ext cx="2745775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Октябрь 2026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6423139" y="1500000"/>
            <a:ext cx="2645201" cy="2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6417139" y="1500000"/>
            <a:ext cx="2657201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Ноябрь 2026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9080340" y="1500000"/>
            <a:ext cx="2733775" cy="2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9074340" y="1500000"/>
            <a:ext cx="2745775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Декабрь 2026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371364" y="1840000"/>
            <a:ext cx="11448752" cy="33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451364" y="184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Бурение скв. Гео-12 (МБУ ZJ-30)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3671364" y="1920000"/>
            <a:ext cx="885733" cy="17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TextBox 21"/>
          <p:cNvSpPr txBox="1"/>
          <p:nvPr/>
        </p:nvSpPr>
        <p:spPr>
          <a:xfrm>
            <a:off x="4617097" y="1840000"/>
            <a:ext cx="7203018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до 10.10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364" y="217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Обустройство площадки ЮГ 1-3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3671364" y="2250000"/>
            <a:ext cx="1771467" cy="17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5502831" y="2170000"/>
            <a:ext cx="6317284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до 20.10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371364" y="2500000"/>
            <a:ext cx="11448752" cy="33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451364" y="250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ДПМ МБУ ZJ-30 (Гео-12 → ЮГ 1-3)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4468524" y="2580000"/>
            <a:ext cx="2391481" cy="17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6920006" y="2500000"/>
            <a:ext cx="4900109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10.10–05.11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364" y="283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Монтаж ВЛБ МБУ ZJ-30 на скв. ЮГ-1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4911391" y="2910000"/>
            <a:ext cx="974307" cy="17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5945698" y="2830000"/>
            <a:ext cx="5874417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15.10–25.10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371364" y="3160000"/>
            <a:ext cx="11448752" cy="33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451364" y="316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Бурение скв. ЮГ-1 (МБУ ZJ-30)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5797125" y="3240000"/>
            <a:ext cx="6022990" cy="170000"/>
          </a:xfrm>
          <a:prstGeom prst="homePlat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5897125" y="3160000"/>
            <a:ext cx="582299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FFFFFF"/>
                </a:solidFill>
                <a:latin typeface="+mn-lt"/>
              </a:rPr>
              <a:t>с 25.10 — опережающая забурка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1364" y="349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Аренда и ремонт МБУ-125</a:t>
            </a:r>
          </a:p>
        </p:txBody>
      </p:sp>
      <p:sp>
        <p:nvSpPr>
          <p:cNvPr id="37" name="Фигура 37"/>
          <p:cNvSpPr/>
          <p:nvPr/>
        </p:nvSpPr>
        <p:spPr>
          <a:xfrm>
            <a:off x="7567166" y="3560000"/>
            <a:ext cx="180000" cy="190000"/>
          </a:xfrm>
          <a:prstGeom prst="diamond">
            <a:avLst/>
          </a:prstGeom>
          <a:solidFill>
            <a:srgbClr val="9AC854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5057166" y="3490000"/>
            <a:ext cx="24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готовность к монтажу — 15.11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371364" y="3820000"/>
            <a:ext cx="11448752" cy="33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451364" y="382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Монтаж ВЛБ МБУ-125 на скв. ЮГ-3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8985767" y="3900000"/>
            <a:ext cx="1417174" cy="17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6425767" y="3820000"/>
            <a:ext cx="250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30.11–15.12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364" y="4150000"/>
            <a:ext cx="31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Бурение скв. ЮГ-3 (МБУ-125)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10314368" y="4230000"/>
            <a:ext cx="1505747" cy="170000"/>
          </a:xfrm>
          <a:prstGeom prst="homePlat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TextBox 45"/>
          <p:cNvSpPr txBox="1"/>
          <p:nvPr/>
        </p:nvSpPr>
        <p:spPr>
          <a:xfrm>
            <a:off x="7754368" y="4150000"/>
            <a:ext cx="250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 15.12</a:t>
            </a:r>
          </a:p>
        </p:txBody>
      </p:sp>
      <p:cxnSp>
        <p:nvCxnSpPr>
          <p:cNvPr id="46" name="Линия 46"/>
          <p:cNvCxnSpPr/>
          <p:nvPr/>
        </p:nvCxnSpPr>
        <p:spPr>
          <a:xfrm>
            <a:off x="3671364" y="1790000"/>
            <a:ext cx="0" cy="2690000"/>
          </a:xfrm>
          <a:prstGeom prst="line">
            <a:avLst/>
          </a:prstGeom>
          <a:ln w="28575">
            <a:solidFill>
              <a:srgbClr val="FFC000"/>
            </a:solidFill>
          </a:ln>
        </p:spPr>
      </p:cxnSp>
      <p:sp>
        <p:nvSpPr>
          <p:cNvPr id="47" name="TextBox 47"/>
          <p:cNvSpPr txBox="1"/>
          <p:nvPr/>
        </p:nvSpPr>
        <p:spPr>
          <a:xfrm>
            <a:off x="3711364" y="4490000"/>
            <a:ext cx="1500000" cy="2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▲ 01.10 — текущая дата</a:t>
            </a:r>
          </a:p>
        </p:txBody>
      </p:sp>
      <p:sp>
        <p:nvSpPr>
          <p:cNvPr id="48" name="Фигура 48"/>
          <p:cNvSpPr/>
          <p:nvPr/>
        </p:nvSpPr>
        <p:spPr>
          <a:xfrm>
            <a:off x="371364" y="4800000"/>
            <a:ext cx="3694330" cy="13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Фигура 49"/>
          <p:cNvSpPr/>
          <p:nvPr/>
        </p:nvSpPr>
        <p:spPr>
          <a:xfrm>
            <a:off x="371364" y="4731000"/>
            <a:ext cx="369433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0" name="TextBox 50"/>
          <p:cNvSpPr txBox="1"/>
          <p:nvPr/>
        </p:nvSpPr>
        <p:spPr>
          <a:xfrm>
            <a:off x="571364" y="4800000"/>
            <a:ext cx="1350000" cy="1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2600" b="0" dirty="0">
                <a:solidFill>
                  <a:srgbClr val="00326E"/>
                </a:solidFill>
                <a:latin typeface="+mj-lt"/>
              </a:rPr>
              <a:t>25.10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21364" y="4800000"/>
            <a:ext cx="1994330" cy="1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начало бурения скв. ЮГ-1 — за 11 сут до окончания ДПМ (опережающая забурка)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4248574" y="4800000"/>
            <a:ext cx="3694330" cy="13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Фигура 53"/>
          <p:cNvSpPr/>
          <p:nvPr/>
        </p:nvSpPr>
        <p:spPr>
          <a:xfrm>
            <a:off x="4248574" y="4731000"/>
            <a:ext cx="369433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4" name="TextBox 54"/>
          <p:cNvSpPr txBox="1"/>
          <p:nvPr/>
        </p:nvSpPr>
        <p:spPr>
          <a:xfrm>
            <a:off x="4448574" y="4800000"/>
            <a:ext cx="1350000" cy="1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2600" b="0" dirty="0">
                <a:solidFill>
                  <a:srgbClr val="00326E"/>
                </a:solidFill>
                <a:latin typeface="+mj-lt"/>
              </a:rPr>
              <a:t>05.11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798574" y="4800000"/>
            <a:ext cx="1994330" cy="1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окончание цикла ДПМ МБУ ZJ-30 на площадку скважин ЮГ 1-3</a:t>
            </a:r>
          </a:p>
        </p:txBody>
      </p:sp>
      <p:sp>
        <p:nvSpPr>
          <p:cNvPr id="56" name="Фигура 56"/>
          <p:cNvSpPr/>
          <p:nvPr/>
        </p:nvSpPr>
        <p:spPr>
          <a:xfrm>
            <a:off x="8125785" y="4800000"/>
            <a:ext cx="3694330" cy="13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7" name="Фигура 57"/>
          <p:cNvSpPr/>
          <p:nvPr/>
        </p:nvSpPr>
        <p:spPr>
          <a:xfrm>
            <a:off x="8125785" y="4731000"/>
            <a:ext cx="369433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8" name="TextBox 58"/>
          <p:cNvSpPr txBox="1"/>
          <p:nvPr/>
        </p:nvSpPr>
        <p:spPr>
          <a:xfrm>
            <a:off x="8325785" y="4800000"/>
            <a:ext cx="1350000" cy="1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2600" b="0" dirty="0">
                <a:solidFill>
                  <a:srgbClr val="00326E"/>
                </a:solidFill>
                <a:latin typeface="+mj-lt"/>
              </a:rPr>
              <a:t>2 МБУ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75785" y="4800000"/>
            <a:ext cx="1994330" cy="1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одновременное бурение ЮГ-1 (ZJ-30) и ЮГ-3 (МБУ-125) с 15.12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1. Сокращение сроков ДПМ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Мероприятия 1–14: переезд МБУ ZJ-30 и забурка скв. ЮГ-1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60000"/>
            <a:ext cx="5632936" cy="210356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9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Sitemap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364" y="1680000"/>
            <a:ext cx="340000" cy="34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91364" y="1660000"/>
            <a:ext cx="483293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Организация и управление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51364" y="2190445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551364" y="219044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364" y="212000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Приказ о ДПМ, график ДПМ, оперативный штаб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4300" y="212000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05.10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551364" y="2561335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551364" y="256133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1364" y="249089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Руководитель работ из Службы бурения УФ РМНТК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24300" y="249089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05.10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551364" y="2932225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551364" y="293222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364" y="286178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ППР на ДПМ; схема и очерёдность перевозки (ВЛБ — в первую очередь)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24300" y="286178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08.10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551364" y="3303115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551364" y="330311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1364" y="323267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Суточная сводка ДПМ, еженедельный штаб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24300" y="323267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 05.10</a:t>
            </a:r>
          </a:p>
        </p:txBody>
      </p:sp>
      <p:sp>
        <p:nvSpPr>
          <p:cNvPr id="31" name="Фигура 31"/>
          <p:cNvSpPr/>
          <p:nvPr/>
        </p:nvSpPr>
        <p:spPr>
          <a:xfrm>
            <a:off x="6187180" y="1560000"/>
            <a:ext cx="5632936" cy="210356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Фигура 32"/>
          <p:cNvSpPr/>
          <p:nvPr/>
        </p:nvSpPr>
        <p:spPr>
          <a:xfrm>
            <a:off x="6187180" y="149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3" name="Иконка 33" descr="TbUsers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7180" y="1680000"/>
            <a:ext cx="340000" cy="340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6807180" y="1660000"/>
            <a:ext cx="483293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Персонал</a:t>
            </a:r>
          </a:p>
        </p:txBody>
      </p:sp>
      <p:sp>
        <p:nvSpPr>
          <p:cNvPr id="35" name="Фигура 35"/>
          <p:cNvSpPr/>
          <p:nvPr/>
        </p:nvSpPr>
        <p:spPr>
          <a:xfrm>
            <a:off x="6367180" y="2190445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TextBox 36"/>
          <p:cNvSpPr txBox="1"/>
          <p:nvPr/>
        </p:nvSpPr>
        <p:spPr>
          <a:xfrm>
            <a:off x="6367180" y="219044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67180" y="212000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Доп. персонал УФ РМНТК: газоэлектросварщик, электромонтёр, 2 пом. бурильщика (стропальщики)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40116" y="212000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05.10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367180" y="2561335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367180" y="256133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67180" y="249089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Допуски, аттестация и вводный инструктаж привлекаемого персонала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40116" y="249089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07.10</a:t>
            </a:r>
          </a:p>
        </p:txBody>
      </p:sp>
      <p:sp>
        <p:nvSpPr>
          <p:cNvPr id="43" name="Фигура 43"/>
          <p:cNvSpPr/>
          <p:nvPr/>
        </p:nvSpPr>
        <p:spPr>
          <a:xfrm>
            <a:off x="371364" y="3846440"/>
            <a:ext cx="5632936" cy="210356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Фигура 44"/>
          <p:cNvSpPr/>
          <p:nvPr/>
        </p:nvSpPr>
        <p:spPr>
          <a:xfrm>
            <a:off x="371364" y="377744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5" name="Иконка 45" descr="TbTruck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364" y="3966440"/>
            <a:ext cx="340000" cy="340000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991364" y="3946440"/>
            <a:ext cx="483293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Спецтехника и транспорт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551364" y="4439796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TextBox 48"/>
          <p:cNvSpPr txBox="1"/>
          <p:nvPr/>
        </p:nvSpPr>
        <p:spPr>
          <a:xfrm>
            <a:off x="551364" y="4439796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7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1364" y="4406440"/>
            <a:ext cx="4152936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2 автоплощадки 12 м с тягачами-вездеходами 6×6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024300" y="4406440"/>
            <a:ext cx="800000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06.10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551364" y="4736508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TextBox 52"/>
          <p:cNvSpPr txBox="1"/>
          <p:nvPr/>
        </p:nvSpPr>
        <p:spPr>
          <a:xfrm>
            <a:off x="551364" y="4736508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8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1364" y="4703152"/>
            <a:ext cx="4152936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Бульдозер № 3 для сопровождения техники на подъёме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024300" y="4703152"/>
            <a:ext cx="800000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07.10</a:t>
            </a:r>
          </a:p>
        </p:txBody>
      </p:sp>
      <p:sp>
        <p:nvSpPr>
          <p:cNvPr id="55" name="Фигура 55"/>
          <p:cNvSpPr/>
          <p:nvPr/>
        </p:nvSpPr>
        <p:spPr>
          <a:xfrm>
            <a:off x="551364" y="5033220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6" name="TextBox 56"/>
          <p:cNvSpPr txBox="1"/>
          <p:nvPr/>
        </p:nvSpPr>
        <p:spPr>
          <a:xfrm>
            <a:off x="551364" y="5033220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9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51364" y="4999864"/>
            <a:ext cx="4152936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Автокран № 3 (≥ 25 т) на Гео-12 для демонтажа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024300" y="4999864"/>
            <a:ext cx="800000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08.10</a:t>
            </a:r>
          </a:p>
        </p:txBody>
      </p:sp>
      <p:sp>
        <p:nvSpPr>
          <p:cNvPr id="59" name="Фигура 59"/>
          <p:cNvSpPr/>
          <p:nvPr/>
        </p:nvSpPr>
        <p:spPr>
          <a:xfrm>
            <a:off x="551364" y="5329932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0" name="TextBox 60"/>
          <p:cNvSpPr txBox="1"/>
          <p:nvPr/>
        </p:nvSpPr>
        <p:spPr>
          <a:xfrm>
            <a:off x="551364" y="5329932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51364" y="5296576"/>
            <a:ext cx="4152936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Запас ДТ на площадках на период ДПМ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024300" y="5296576"/>
            <a:ext cx="800000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09.10</a:t>
            </a:r>
          </a:p>
        </p:txBody>
      </p:sp>
      <p:sp>
        <p:nvSpPr>
          <p:cNvPr id="63" name="Фигура 63"/>
          <p:cNvSpPr/>
          <p:nvPr/>
        </p:nvSpPr>
        <p:spPr>
          <a:xfrm>
            <a:off x="551364" y="5626644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4" name="TextBox 64"/>
          <p:cNvSpPr txBox="1"/>
          <p:nvPr/>
        </p:nvSpPr>
        <p:spPr>
          <a:xfrm>
            <a:off x="551364" y="5626644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51364" y="5593288"/>
            <a:ext cx="4152936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Передислокация автокрана № 3 на ЮГ 1-3 для монтажа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024300" y="5593288"/>
            <a:ext cx="800000" cy="2967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13.10</a:t>
            </a:r>
          </a:p>
        </p:txBody>
      </p:sp>
      <p:sp>
        <p:nvSpPr>
          <p:cNvPr id="67" name="Фигура 67"/>
          <p:cNvSpPr/>
          <p:nvPr/>
        </p:nvSpPr>
        <p:spPr>
          <a:xfrm>
            <a:off x="6187180" y="3846440"/>
            <a:ext cx="5632936" cy="210356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8" name="Фигура 68"/>
          <p:cNvSpPr/>
          <p:nvPr/>
        </p:nvSpPr>
        <p:spPr>
          <a:xfrm>
            <a:off x="6187180" y="377744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69" name="Иконка 69" descr="TbBuildingFactory2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7180" y="3966440"/>
            <a:ext cx="340000" cy="340000"/>
          </a:xfrm>
          <a:prstGeom prst="rect">
            <a:avLst/>
          </a:prstGeom>
        </p:spPr>
      </p:pic>
      <p:sp>
        <p:nvSpPr>
          <p:cNvPr id="70" name="TextBox 70"/>
          <p:cNvSpPr txBox="1"/>
          <p:nvPr/>
        </p:nvSpPr>
        <p:spPr>
          <a:xfrm>
            <a:off x="6807180" y="3946440"/>
            <a:ext cx="483293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Площадка ЮГ 1-3 и МБУ ZJ-30</a:t>
            </a:r>
          </a:p>
        </p:txBody>
      </p:sp>
      <p:sp>
        <p:nvSpPr>
          <p:cNvPr id="71" name="Фигура 71"/>
          <p:cNvSpPr/>
          <p:nvPr/>
        </p:nvSpPr>
        <p:spPr>
          <a:xfrm>
            <a:off x="6367180" y="4476885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2" name="TextBox 72"/>
          <p:cNvSpPr txBox="1"/>
          <p:nvPr/>
        </p:nvSpPr>
        <p:spPr>
          <a:xfrm>
            <a:off x="6367180" y="447688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12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667180" y="440644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Основание под ВЛБ: отсыпка, уплотнение, контроль осадки; акт готовности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840116" y="440644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14.10</a:t>
            </a:r>
          </a:p>
        </p:txBody>
      </p:sp>
      <p:sp>
        <p:nvSpPr>
          <p:cNvPr id="75" name="Фигура 75"/>
          <p:cNvSpPr/>
          <p:nvPr/>
        </p:nvSpPr>
        <p:spPr>
          <a:xfrm>
            <a:off x="6367180" y="4847775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6" name="TextBox 76"/>
          <p:cNvSpPr txBox="1"/>
          <p:nvPr/>
        </p:nvSpPr>
        <p:spPr>
          <a:xfrm>
            <a:off x="6367180" y="484777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667180" y="477733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Шламовый амбар, водонакопитель, водовод L = 600 м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840116" y="477733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20.10</a:t>
            </a:r>
          </a:p>
        </p:txBody>
      </p:sp>
      <p:sp>
        <p:nvSpPr>
          <p:cNvPr id="79" name="Фигура 79"/>
          <p:cNvSpPr/>
          <p:nvPr/>
        </p:nvSpPr>
        <p:spPr>
          <a:xfrm>
            <a:off x="6367180" y="5218665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0" name="TextBox 80"/>
          <p:cNvSpPr txBox="1"/>
          <p:nvPr/>
        </p:nvSpPr>
        <p:spPr>
          <a:xfrm>
            <a:off x="6367180" y="521866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14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667180" y="5148220"/>
            <a:ext cx="4152936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0" dirty="0">
                <a:solidFill>
                  <a:schemeClr val="bg2"/>
                </a:solidFill>
                <a:latin typeface="+mn-lt"/>
              </a:rPr>
              <a:t>ППР механизмов ZJ-30 по результатам дефектовки, ЗИП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840116" y="5148220"/>
            <a:ext cx="800000" cy="37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25.10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71364" y="5990000"/>
            <a:ext cx="11448752" cy="2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326E"/>
                </a:solidFill>
                <a:latin typeface="+mn-lt"/>
              </a:rPr>
              <a:t>●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 мероприятие из исходного плана     </a:t>
            </a:r>
            <a:r>
              <a:rPr lang="ru-RU" sz="1000" b="0" dirty="0">
                <a:solidFill>
                  <a:schemeClr val="tx2"/>
                </a:solidFill>
                <a:latin typeface="+mn-lt"/>
              </a:rPr>
              <a:t>●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 дополнительное мероприятие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2. Бурение двумя МБУ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Мероприятия 15–23: ЮГ-1 — МБУ ZJ-30, ЮГ-3 — МБУ-125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60000"/>
            <a:ext cx="3900000" cy="439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91000"/>
            <a:ext cx="39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71364" y="1660000"/>
            <a:ext cx="350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chemeClr val="tx2"/>
                </a:solidFill>
                <a:latin typeface="+mj-lt"/>
              </a:rPr>
              <a:t>Концепция: два МБУ на одной площадке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571364" y="2160000"/>
            <a:ext cx="3500000" cy="1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C8D3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651364" y="2200000"/>
            <a:ext cx="3340000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Площадка скважин ЮГ 1-3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721364" y="2510000"/>
            <a:ext cx="1525000" cy="115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721364" y="2570000"/>
            <a:ext cx="1525000" cy="10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Скв. ЮГ-1</a:t>
            </a:r>
          </a:p>
          <a:p>
            <a:pPr algn="ctr">
              <a:spcBef>
                <a:spcPts val="200"/>
              </a:spcBef>
              <a:buNone/>
            </a:pPr>
            <a:r>
              <a:rPr lang="ru-RU" sz="1200" b="0" dirty="0">
                <a:solidFill>
                  <a:srgbClr val="FFFFFF"/>
                </a:solidFill>
                <a:latin typeface="+mn-lt"/>
              </a:rPr>
              <a:t>МБУ ZJ-30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950" b="0" dirty="0">
                <a:solidFill>
                  <a:srgbClr val="FFFFFF"/>
                </a:solidFill>
                <a:latin typeface="+mn-lt"/>
              </a:rPr>
              <a:t>бурение с 25.10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2396364" y="2510000"/>
            <a:ext cx="1525000" cy="115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2396364" y="2570000"/>
            <a:ext cx="1525000" cy="10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Скв. ЮГ-3</a:t>
            </a:r>
          </a:p>
          <a:p>
            <a:pPr algn="ctr">
              <a:spcBef>
                <a:spcPts val="200"/>
              </a:spcBef>
              <a:buNone/>
            </a:pPr>
            <a:r>
              <a:rPr lang="ru-RU" sz="1200" b="0" dirty="0">
                <a:solidFill>
                  <a:srgbClr val="FFFFFF"/>
                </a:solidFill>
                <a:latin typeface="+mn-lt"/>
              </a:rPr>
              <a:t>МБУ-125</a:t>
            </a:r>
          </a:p>
          <a:p>
            <a:pPr algn="ctr">
              <a:spcBef>
                <a:spcPts val="400"/>
              </a:spcBef>
              <a:buNone/>
            </a:pPr>
            <a:r>
              <a:rPr lang="ru-RU" sz="950" b="0" dirty="0">
                <a:solidFill>
                  <a:srgbClr val="FFFFFF"/>
                </a:solidFill>
                <a:latin typeface="+mn-lt"/>
              </a:rPr>
              <a:t>кондуктор, бурение с 15.12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364" y="3720000"/>
            <a:ext cx="35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БХ, амбар, водо- и энергоснабжение — общие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1364" y="4210000"/>
            <a:ext cx="3500000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Цель</a:t>
            </a:r>
          </a:p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выполнение графика строительства скважин ЮГ 1-3 за счёт параллельного бурения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1364" y="4890000"/>
            <a:ext cx="3500000" cy="6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Ключевые условия</a:t>
            </a:r>
          </a:p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схема расположения, безопасность совмещённых работ, вторая вахта, МТР на две скважины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01364" y="1500000"/>
            <a:ext cx="73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Мероприятия 15–23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4501364" y="1860000"/>
            <a:ext cx="7318752" cy="45444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Фигура 25"/>
          <p:cNvSpPr/>
          <p:nvPr/>
        </p:nvSpPr>
        <p:spPr>
          <a:xfrm>
            <a:off x="4601364" y="1972222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4601364" y="1972222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01364" y="1860000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Схема единовременного расположения двух МБУ и БХ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116" y="1860000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01.11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4601364" y="2426666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4601364" y="2426666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01364" y="2314444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Мероприятия по безопасному ведению совмещённых работ, согласование с Заказчиком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116" y="2314444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10.11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4501364" y="2768888"/>
            <a:ext cx="7318752" cy="45444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4601364" y="2881111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4601364" y="2881111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01364" y="2768888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Программа бурения скв. ЮГ-3 МБУ-125 (интервал под кондуктор)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20116" y="2768888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10.11</a:t>
            </a:r>
          </a:p>
        </p:txBody>
      </p:sp>
      <p:sp>
        <p:nvSpPr>
          <p:cNvPr id="38" name="Фигура 38"/>
          <p:cNvSpPr/>
          <p:nvPr/>
        </p:nvSpPr>
        <p:spPr>
          <a:xfrm>
            <a:off x="4601364" y="3335555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TextBox 39"/>
          <p:cNvSpPr txBox="1"/>
          <p:nvPr/>
        </p:nvSpPr>
        <p:spPr>
          <a:xfrm>
            <a:off x="4601364" y="3335555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01364" y="3223333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Завоз труб обсадных колонн для скв. ЮГ-1 и ЮГ-3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920116" y="3223333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10.11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4501364" y="3677777"/>
            <a:ext cx="7318752" cy="45444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4601364" y="3790000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4601364" y="3790000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19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901364" y="3677777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Аренда и планово-восстановительный ремонт МБУ-125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920116" y="3677777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15.11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4601364" y="4244444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TextBox 48"/>
          <p:cNvSpPr txBox="1"/>
          <p:nvPr/>
        </p:nvSpPr>
        <p:spPr>
          <a:xfrm>
            <a:off x="4601364" y="4244444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20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901364" y="4132222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Доп. вахта буровой бригады из состава бригад КРС УФ РМНТК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20116" y="4132222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15.11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4501364" y="4586666"/>
            <a:ext cx="7318752" cy="45444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Фигура 52"/>
          <p:cNvSpPr/>
          <p:nvPr/>
        </p:nvSpPr>
        <p:spPr>
          <a:xfrm>
            <a:off x="4601364" y="4698888"/>
            <a:ext cx="230000" cy="230000"/>
          </a:xfrm>
          <a:prstGeom prst="ellipse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4601364" y="4698888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21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901364" y="4586666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Тампонажные материалы и оснастка ОК (кондуктор)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920116" y="4586666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15.11</a:t>
            </a:r>
          </a:p>
        </p:txBody>
      </p:sp>
      <p:sp>
        <p:nvSpPr>
          <p:cNvPr id="56" name="Фигура 56"/>
          <p:cNvSpPr/>
          <p:nvPr/>
        </p:nvSpPr>
        <p:spPr>
          <a:xfrm>
            <a:off x="4601364" y="5153333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7" name="TextBox 57"/>
          <p:cNvSpPr txBox="1"/>
          <p:nvPr/>
        </p:nvSpPr>
        <p:spPr>
          <a:xfrm>
            <a:off x="4601364" y="5153333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22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901364" y="5041111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Химреагенты, водо- и энергоснабжение для двух МБУ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920116" y="5041111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20.11</a:t>
            </a:r>
          </a:p>
        </p:txBody>
      </p:sp>
      <p:sp>
        <p:nvSpPr>
          <p:cNvPr id="60" name="Фигура 60"/>
          <p:cNvSpPr/>
          <p:nvPr/>
        </p:nvSpPr>
        <p:spPr>
          <a:xfrm>
            <a:off x="4501364" y="5495555"/>
            <a:ext cx="7318752" cy="45444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1" name="Фигура 61"/>
          <p:cNvSpPr/>
          <p:nvPr/>
        </p:nvSpPr>
        <p:spPr>
          <a:xfrm>
            <a:off x="4601364" y="5607777"/>
            <a:ext cx="230000" cy="23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2" name="TextBox 62"/>
          <p:cNvSpPr txBox="1"/>
          <p:nvPr/>
        </p:nvSpPr>
        <p:spPr>
          <a:xfrm>
            <a:off x="4601364" y="5607777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00" b="1" dirty="0">
                <a:solidFill>
                  <a:srgbClr val="FFFFFF"/>
                </a:solidFill>
                <a:latin typeface="+mn-lt"/>
              </a:rPr>
              <a:t>23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901364" y="5495555"/>
            <a:ext cx="5998752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Подготовка МБУ-125 и площадки к зимнему периоду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920116" y="5495555"/>
            <a:ext cx="800000" cy="454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25.11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71364" y="5990000"/>
            <a:ext cx="11448752" cy="2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326E"/>
                </a:solidFill>
                <a:latin typeface="+mn-lt"/>
              </a:rPr>
              <a:t>●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 мероприятие из исходного плана     </a:t>
            </a:r>
            <a:r>
              <a:rPr lang="ru-RU" sz="1000" b="0" dirty="0">
                <a:solidFill>
                  <a:schemeClr val="tx2"/>
                </a:solidFill>
                <a:latin typeface="+mn-lt"/>
              </a:rPr>
              <a:t>●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 дополнительное мероприятие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реализацией плана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Контроль, риски и решения для утверждения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Площадка скважин ЮГ 1-3 · Южный участок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60000"/>
            <a:ext cx="3694330" cy="46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91000"/>
            <a:ext cx="369433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ShieldCheck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364" y="1710000"/>
            <a:ext cx="380000" cy="38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71364" y="1710000"/>
            <a:ext cx="279433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chemeClr val="tx2"/>
                </a:solidFill>
                <a:latin typeface="+mj-lt"/>
              </a:rPr>
              <a:t>Контроль исполнения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1364" y="2310000"/>
            <a:ext cx="3294330" cy="37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Оперативный штаб ДПМ — руководитель работ на объекте, ответственные по плану;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Суточная сводка: демонтаж, перевозки (т, рейсы), монтаж, готовность площадки;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Еженедельная актуализация графика и отчёт руководству;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Контрольные точки: 10.10, 15.10, 20.10, 25.10, 05.11, 15.11, 30.11, 15.12.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4248574" y="1560000"/>
            <a:ext cx="3694330" cy="46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Фигура 17"/>
          <p:cNvSpPr/>
          <p:nvPr/>
        </p:nvSpPr>
        <p:spPr>
          <a:xfrm>
            <a:off x="4248574" y="1491000"/>
            <a:ext cx="369433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8" name="Иконка 18" descr="TbAlertTriangle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8574" y="1710000"/>
            <a:ext cx="380000" cy="38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948574" y="1710000"/>
            <a:ext cx="279433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chemeClr val="tx2"/>
                </a:solidFill>
                <a:latin typeface="+mj-lt"/>
              </a:rPr>
              <a:t>Ключевые риски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8574" y="2310000"/>
            <a:ext cx="3294330" cy="37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Проходимость подъёма при осадках, дефицит самосвалов и тягачей 6×6;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Осадка основания под ВЛБ на заболоченном грунте;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Зимний период для монтажа и бурения МБУ-125 (снег, низкие температуры);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chemeClr val="bg2"/>
                </a:solidFill>
                <a:latin typeface="+mn-lt"/>
              </a:rPr>
              <a:t>Совмещённые работы двух МБУ на одной площадке — требования ПБ.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8125785" y="1491000"/>
            <a:ext cx="3694330" cy="4689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2" name="Иконка 22" descr="TbChecklist_FFFFF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5785" y="1710000"/>
            <a:ext cx="380000" cy="380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825785" y="1710000"/>
            <a:ext cx="279433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rgbClr val="FFFFFF"/>
                </a:solidFill>
                <a:latin typeface="+mj-lt"/>
              </a:rPr>
              <a:t>Требуемые решения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25785" y="2310000"/>
            <a:ext cx="3294330" cy="37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rgbClr val="FFFFFF"/>
                </a:solidFill>
                <a:latin typeface="+mn-lt"/>
              </a:rPr>
              <a:t>Утвердить план мероприятий и график ДПМ;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rgbClr val="FFFFFF"/>
                </a:solidFill>
                <a:latin typeface="+mn-lt"/>
              </a:rPr>
              <a:t>Одобрить привлечение доп. техники: автокран № 3, бульдозер № 3, 2 автоплощадки;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rgbClr val="FFFFFF"/>
                </a:solidFill>
                <a:latin typeface="+mn-lt"/>
              </a:rPr>
              <a:t>Одобрить аренду и ремонт МБУ-125, формирование второй вахты;</a:t>
            </a:r>
          </a:p>
          <a:p>
            <a:pPr marL="171450" indent="-171450" algn="l">
              <a:spcBef>
                <a:spcPts val="1200"/>
              </a:spcBef>
              <a:buFont typeface="Wingdings" pitchFamily="2" charset="2"/>
              <a:buChar char="v"/>
            </a:pPr>
            <a:r>
              <a:rPr lang="ru-RU" sz="1300" b="0" dirty="0">
                <a:solidFill>
                  <a:srgbClr val="FFFFFF"/>
                </a:solidFill>
                <a:latin typeface="+mn-lt"/>
              </a:rPr>
              <a:t>Согласовать с Заказчиком одновременное бурение ЮГ-1 и ЮГ-3.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12242</TotalTime>
  <Words>708</Words>
  <Application>Microsoft Office PowerPoint</Application>
  <PresentationFormat>Широкоэкранный</PresentationFormat>
  <Paragraphs>98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Wingdings</vt:lpstr>
      <vt:lpstr>TT Bluescreens Pro Normal Mediu</vt:lpstr>
      <vt:lpstr>TT Bluescreens Pro Normal</vt:lpstr>
      <vt:lpstr>Calibri</vt:lpstr>
      <vt:lpstr>TT Bluescreens Pro Expanded Med</vt:lpstr>
      <vt:lpstr>Тема Office 2013 – 2022</vt:lpstr>
      <vt:lpstr>Статус подготовительных работ и переезда МБУ</vt:lpstr>
      <vt:lpstr>Статус подготовки площадки</vt:lpstr>
      <vt:lpstr>Причины отставания и меры</vt:lpstr>
      <vt:lpstr>График и риски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220</cp:revision>
  <dcterms:created xsi:type="dcterms:W3CDTF">2026-05-25T10:20:22Z</dcterms:created>
  <dcterms:modified xsi:type="dcterms:W3CDTF">2026-10-01T11:18:30Z</dcterms:modified>
</cp:coreProperties>
</file>