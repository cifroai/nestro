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44" r:id="rId1"/>
  </p:sldMasterIdLst>
  <p:notesMasterIdLst>
    <p:notesMasterId r:id="rId6"/>
  </p:notesMasterIdLst>
  <p:handoutMasterIdLst>
    <p:handoutMasterId r:id="rId7"/>
  </p:handoutMasterIdLst>
  <p:sldIdLst>
    <p:sldId id="273" r:id="rId2"/>
    <p:sldId id="288" r:id="rId3"/>
    <p:sldId id="287" r:id="rId4"/>
    <p:sldId id="286" r:id="rId5"/>
  </p:sldIdLst>
  <p:sldSz cx="12192000" cy="6858000"/>
  <p:notesSz cx="6858000" cy="9144000"/>
  <p:embeddedFontLst>
    <p:embeddedFont>
      <p:font typeface="TT Bluescreens Pro Normal Mediu" panose="020B0006030000020204" pitchFamily="34" charset="-52"/>
      <p:regular r:id="rId8"/>
    </p:embeddedFont>
    <p:embeddedFont>
      <p:font typeface="TT Bluescreens Pro Normal" panose="020B0006030000020204" pitchFamily="34" charset="-52"/>
      <p:regular r:id="rId9"/>
      <p:bold r:id="rId10"/>
    </p:embeddedFon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TT Bluescreens Pro Expanded Med" panose="020B0006030000020204" pitchFamily="34" charset="-52"/>
      <p:regular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F3DB"/>
    <a:srgbClr val="E5EAF0"/>
    <a:srgbClr val="CEE1A5"/>
    <a:srgbClr val="FF0000"/>
    <a:srgbClr val="0000FF"/>
    <a:srgbClr val="00FFAF"/>
    <a:srgbClr val="000000"/>
    <a:srgbClr val="32AA46"/>
    <a:srgbClr val="EAEEF3"/>
    <a:srgbClr val="0032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18" autoAdjust="0"/>
    <p:restoredTop sz="96327" autoAdjust="0"/>
  </p:normalViewPr>
  <p:slideViewPr>
    <p:cSldViewPr snapToGrid="0" snapToObjects="1">
      <p:cViewPr varScale="1">
        <p:scale>
          <a:sx n="89" d="100"/>
          <a:sy n="89" d="100"/>
        </p:scale>
        <p:origin x="108" y="4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166" d="100"/>
          <a:sy n="166" d="100"/>
        </p:scale>
        <p:origin x="5080" y="192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xmlns="" id="{1061F133-104D-3D94-F33A-98783353F30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F00A57D9-8044-2C66-2784-6B5BC95FCAF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01547F-7F3B-EB49-AFCC-1B3F32A21968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1F9A3C98-0E7A-6FCC-7BFD-F6AD21CDDDF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CAB25081-B125-EDAD-A0C1-AD2C163612F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CE9AF0-57A2-5C44-AF93-8BF26CE660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018514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60AA2C-32D4-F54A-BA97-57DD499C1944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859214-118D-E44B-8EFB-BFB7DF3AD2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3310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xmlns="" id="{6922AB89-AA29-E6B4-C24C-3105ED558C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369395"/>
            <a:ext cx="3351031" cy="51873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1645920"/>
            <a:ext cx="5832475" cy="2254704"/>
          </a:xfrm>
        </p:spPr>
        <p:txBody>
          <a:bodyPr anchor="b"/>
          <a:lstStyle>
            <a:lvl1pPr>
              <a:lnSpc>
                <a:spcPts val="4000"/>
              </a:lnSpc>
              <a:defRPr sz="4000" b="0" i="0">
                <a:latin typeface="+mj-lt"/>
              </a:defRPr>
            </a:lvl1pPr>
          </a:lstStyle>
          <a:p>
            <a:r>
              <a:rPr lang="ru-RU" dirty="0"/>
              <a:t>Текст текст текст текст текст текст текст текст текст текст</a:t>
            </a:r>
            <a:endParaRPr lang="en-US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xmlns="" id="{B6B671CA-0671-1232-A327-62CA7BE9FF6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8465173" y="368300"/>
            <a:ext cx="3354418" cy="376859"/>
          </a:xfrm>
          <a:prstGeom prst="rect">
            <a:avLst/>
          </a:prstGeom>
        </p:spPr>
      </p:pic>
      <p:sp>
        <p:nvSpPr>
          <p:cNvPr id="2" name="Текст 8">
            <a:extLst>
              <a:ext uri="{FF2B5EF4-FFF2-40B4-BE49-F238E27FC236}">
                <a16:creationId xmlns:a16="http://schemas.microsoft.com/office/drawing/2014/main" xmlns="" id="{6252E02D-987C-E453-A947-6D9755CA1B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4011257"/>
            <a:ext cx="5832475" cy="89166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10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ru-RU" sz="2100" dirty="0">
                <a:solidFill>
                  <a:schemeClr val="tx2"/>
                </a:solidFill>
              </a:rPr>
              <a:t>Более </a:t>
            </a:r>
            <a:r>
              <a:rPr lang="ru-RU" sz="2100" dirty="0">
                <a:solidFill>
                  <a:srgbClr val="4BAF46"/>
                </a:solidFill>
              </a:rPr>
              <a:t>длинный</a:t>
            </a:r>
            <a:r>
              <a:rPr lang="ru-RU" sz="2100" dirty="0">
                <a:solidFill>
                  <a:schemeClr val="tx2"/>
                </a:solidFill>
              </a:rPr>
              <a:t> подзаголовок</a:t>
            </a:r>
            <a:r>
              <a:rPr lang="en-US" sz="2100" dirty="0">
                <a:solidFill>
                  <a:schemeClr val="tx2"/>
                </a:solidFill>
              </a:rPr>
              <a:t/>
            </a:r>
            <a:br>
              <a:rPr lang="en-US" sz="2100" dirty="0">
                <a:solidFill>
                  <a:schemeClr val="tx2"/>
                </a:solidFill>
              </a:rPr>
            </a:br>
            <a:r>
              <a:rPr lang="ru-RU" sz="2100" dirty="0">
                <a:solidFill>
                  <a:schemeClr val="tx2"/>
                </a:solidFill>
              </a:rPr>
              <a:t>в несколько строк</a:t>
            </a:r>
            <a:endParaRPr lang="en-US" sz="21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2903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1645920"/>
            <a:ext cx="5832475" cy="2254704"/>
          </a:xfrm>
        </p:spPr>
        <p:txBody>
          <a:bodyPr anchor="b"/>
          <a:lstStyle>
            <a:lvl1pPr>
              <a:lnSpc>
                <a:spcPts val="4000"/>
              </a:lnSpc>
              <a:defRPr sz="4000" b="0" i="0">
                <a:latin typeface="+mj-lt"/>
              </a:defRPr>
            </a:lvl1pPr>
          </a:lstStyle>
          <a:p>
            <a:r>
              <a:rPr lang="ru-RU" dirty="0"/>
              <a:t>Текст текст текст текст текст текст текст текст текст текст</a:t>
            </a:r>
            <a:endParaRPr lang="en-US" dirty="0"/>
          </a:p>
        </p:txBody>
      </p:sp>
      <p:sp>
        <p:nvSpPr>
          <p:cNvPr id="2" name="Текст 8">
            <a:extLst>
              <a:ext uri="{FF2B5EF4-FFF2-40B4-BE49-F238E27FC236}">
                <a16:creationId xmlns:a16="http://schemas.microsoft.com/office/drawing/2014/main" xmlns="" id="{4270179A-37E2-E331-B4DC-A16F9A4803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4011257"/>
            <a:ext cx="5832475" cy="89166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10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ru-RU" sz="2100" dirty="0">
                <a:solidFill>
                  <a:schemeClr val="tx2"/>
                </a:solidFill>
              </a:rPr>
              <a:t>Более </a:t>
            </a:r>
            <a:r>
              <a:rPr lang="ru-RU" sz="2100" dirty="0">
                <a:solidFill>
                  <a:srgbClr val="4BAF46"/>
                </a:solidFill>
              </a:rPr>
              <a:t>длинный</a:t>
            </a:r>
            <a:r>
              <a:rPr lang="ru-RU" sz="2100" dirty="0">
                <a:solidFill>
                  <a:schemeClr val="tx2"/>
                </a:solidFill>
              </a:rPr>
              <a:t> подзаголовок</a:t>
            </a:r>
            <a:r>
              <a:rPr lang="en-US" sz="2100" dirty="0">
                <a:solidFill>
                  <a:schemeClr val="tx2"/>
                </a:solidFill>
              </a:rPr>
              <a:t/>
            </a:r>
            <a:br>
              <a:rPr lang="en-US" sz="2100" dirty="0">
                <a:solidFill>
                  <a:schemeClr val="tx2"/>
                </a:solidFill>
              </a:rPr>
            </a:br>
            <a:r>
              <a:rPr lang="ru-RU" sz="2100" dirty="0">
                <a:solidFill>
                  <a:schemeClr val="tx2"/>
                </a:solidFill>
              </a:rPr>
              <a:t>в несколько строк</a:t>
            </a:r>
            <a:endParaRPr lang="en-US" sz="2100" dirty="0">
              <a:solidFill>
                <a:schemeClr val="tx2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838835CE-8F39-2ED3-6ED0-D2F8CD63D60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369395"/>
            <a:ext cx="3351031" cy="51873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11156186-F16F-0322-F042-B2C44584B6B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8465173" y="368300"/>
            <a:ext cx="3354418" cy="37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822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xmlns="" id="{6922AB89-AA29-E6B4-C24C-3105ED558C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71475" y="689064"/>
            <a:ext cx="3351031" cy="51873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1645920"/>
            <a:ext cx="5832475" cy="2254704"/>
          </a:xfrm>
        </p:spPr>
        <p:txBody>
          <a:bodyPr anchor="b"/>
          <a:lstStyle>
            <a:lvl1pPr>
              <a:lnSpc>
                <a:spcPts val="4000"/>
              </a:lnSpc>
              <a:defRPr sz="4000" b="0" i="0">
                <a:latin typeface="+mj-lt"/>
              </a:defRPr>
            </a:lvl1pPr>
          </a:lstStyle>
          <a:p>
            <a:r>
              <a:rPr lang="ru-RU" dirty="0"/>
              <a:t>Текст текст текст текст текст текст текст текст текст текст</a:t>
            </a:r>
            <a:endParaRPr lang="en-US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xmlns="" id="{B6B671CA-0671-1232-A327-62CA7BE9FF6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67154" y="6112841"/>
            <a:ext cx="3354418" cy="376859"/>
          </a:xfrm>
          <a:prstGeom prst="rect">
            <a:avLst/>
          </a:prstGeom>
        </p:spPr>
      </p:pic>
      <p:sp>
        <p:nvSpPr>
          <p:cNvPr id="7" name="Текст 8">
            <a:extLst>
              <a:ext uri="{FF2B5EF4-FFF2-40B4-BE49-F238E27FC236}">
                <a16:creationId xmlns:a16="http://schemas.microsoft.com/office/drawing/2014/main" xmlns="" id="{F6E5E0A2-3441-DC91-4414-E5C19370FA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4011257"/>
            <a:ext cx="5832475" cy="89166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10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ru-RU" sz="2100" dirty="0">
                <a:solidFill>
                  <a:schemeClr val="tx2"/>
                </a:solidFill>
              </a:rPr>
              <a:t>Более </a:t>
            </a:r>
            <a:r>
              <a:rPr lang="ru-RU" sz="2100" dirty="0">
                <a:solidFill>
                  <a:srgbClr val="4BAF46"/>
                </a:solidFill>
              </a:rPr>
              <a:t>длинный</a:t>
            </a:r>
            <a:r>
              <a:rPr lang="ru-RU" sz="2100" dirty="0">
                <a:solidFill>
                  <a:schemeClr val="tx2"/>
                </a:solidFill>
              </a:rPr>
              <a:t> подзаголовок</a:t>
            </a:r>
            <a:r>
              <a:rPr lang="en-US" sz="2100" dirty="0">
                <a:solidFill>
                  <a:schemeClr val="tx2"/>
                </a:solidFill>
              </a:rPr>
              <a:t/>
            </a:r>
            <a:br>
              <a:rPr lang="en-US" sz="2100" dirty="0">
                <a:solidFill>
                  <a:schemeClr val="tx2"/>
                </a:solidFill>
              </a:rPr>
            </a:br>
            <a:r>
              <a:rPr lang="ru-RU" sz="2100" dirty="0">
                <a:solidFill>
                  <a:schemeClr val="tx2"/>
                </a:solidFill>
              </a:rPr>
              <a:t>в несколько строк</a:t>
            </a:r>
            <a:endParaRPr lang="en-US" sz="2100" dirty="0">
              <a:solidFill>
                <a:schemeClr val="tx2"/>
              </a:solidFill>
            </a:endParaRPr>
          </a:p>
        </p:txBody>
      </p:sp>
      <p:grpSp>
        <p:nvGrpSpPr>
          <p:cNvPr id="33" name="Группа 32">
            <a:extLst>
              <a:ext uri="{FF2B5EF4-FFF2-40B4-BE49-F238E27FC236}">
                <a16:creationId xmlns:a16="http://schemas.microsoft.com/office/drawing/2014/main" xmlns="" id="{866205B0-174B-4CAF-905C-E3D68210279C}"/>
              </a:ext>
            </a:extLst>
          </p:cNvPr>
          <p:cNvGrpSpPr/>
          <p:nvPr userDrawn="1"/>
        </p:nvGrpSpPr>
        <p:grpSpPr>
          <a:xfrm>
            <a:off x="371475" y="368300"/>
            <a:ext cx="11449048" cy="72000"/>
            <a:chOff x="1802606" y="368300"/>
            <a:chExt cx="8586786" cy="92300"/>
          </a:xfrm>
        </p:grpSpPr>
        <p:sp>
          <p:nvSpPr>
            <p:cNvPr id="34" name="Прямоугольник 33">
              <a:extLst>
                <a:ext uri="{FF2B5EF4-FFF2-40B4-BE49-F238E27FC236}">
                  <a16:creationId xmlns:a16="http://schemas.microsoft.com/office/drawing/2014/main" xmlns="" id="{3355CE0C-E45E-DF7E-EA34-3DECC3ED244B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xmlns="" id="{820395B7-7B9A-BF7F-3691-6B270B2F9D85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xmlns="" id="{EBE3B693-EBD0-C916-2406-BA4498DD1898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23E9D015-D921-C70A-2C9A-658BE0AF27FB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5C082D9F-3DA0-B589-51F4-D8C20BB205D7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14445EF4-3108-F6EE-6F1D-820491DEA4F4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618346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1545336"/>
            <a:ext cx="4932045" cy="3008376"/>
          </a:xfrm>
        </p:spPr>
        <p:txBody>
          <a:bodyPr anchor="b"/>
          <a:lstStyle>
            <a:lvl1pPr>
              <a:lnSpc>
                <a:spcPts val="5500"/>
              </a:lnSpc>
              <a:defRPr sz="5500" b="0" i="0">
                <a:latin typeface="+mj-lt"/>
              </a:defRPr>
            </a:lvl1pPr>
          </a:lstStyle>
          <a:p>
            <a:r>
              <a:rPr lang="ru-RU" dirty="0"/>
              <a:t>Титульный слайд </a:t>
            </a:r>
            <a:br>
              <a:rPr lang="ru-RU" dirty="0"/>
            </a:br>
            <a:r>
              <a:rPr lang="ru-RU" dirty="0"/>
              <a:t>с заголовком </a:t>
            </a:r>
            <a:br>
              <a:rPr lang="ru-RU" dirty="0"/>
            </a:br>
            <a:r>
              <a:rPr lang="ru-RU" dirty="0"/>
              <a:t>в три строки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xmlns="" id="{EE97543A-F850-1FD1-D549-DC0511AA8CC8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6203949" y="438150"/>
            <a:ext cx="5616575" cy="6051551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xmlns="" id="{4CCF2A1A-6731-FA67-3E5C-FD8F6AE64842}"/>
              </a:ext>
            </a:extLst>
          </p:cNvPr>
          <p:cNvGrpSpPr/>
          <p:nvPr userDrawn="1"/>
        </p:nvGrpSpPr>
        <p:grpSpPr>
          <a:xfrm>
            <a:off x="6203949" y="368300"/>
            <a:ext cx="5616573" cy="72000"/>
            <a:chOff x="1802606" y="368300"/>
            <a:chExt cx="8586786" cy="92300"/>
          </a:xfrm>
        </p:grpSpPr>
        <p:sp>
          <p:nvSpPr>
            <p:cNvPr id="44" name="Прямоугольник 43">
              <a:extLst>
                <a:ext uri="{FF2B5EF4-FFF2-40B4-BE49-F238E27FC236}">
                  <a16:creationId xmlns:a16="http://schemas.microsoft.com/office/drawing/2014/main" xmlns="" id="{1E9FC09B-02A8-64B4-1349-34EF596C4D42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5" name="Прямоугольник 44">
              <a:extLst>
                <a:ext uri="{FF2B5EF4-FFF2-40B4-BE49-F238E27FC236}">
                  <a16:creationId xmlns:a16="http://schemas.microsoft.com/office/drawing/2014/main" xmlns="" id="{13E10249-934D-0927-49BF-C01331F82BF3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6" name="Прямоугольник 45">
              <a:extLst>
                <a:ext uri="{FF2B5EF4-FFF2-40B4-BE49-F238E27FC236}">
                  <a16:creationId xmlns:a16="http://schemas.microsoft.com/office/drawing/2014/main" xmlns="" id="{060DDCE2-8A3F-D565-C782-77FFFFA156F7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7" name="Прямоугольник 46">
              <a:extLst>
                <a:ext uri="{FF2B5EF4-FFF2-40B4-BE49-F238E27FC236}">
                  <a16:creationId xmlns:a16="http://schemas.microsoft.com/office/drawing/2014/main" xmlns="" id="{201BEC10-9DFE-9871-2DF1-EEBC0B0A4BE8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8" name="Прямоугольник 47">
              <a:extLst>
                <a:ext uri="{FF2B5EF4-FFF2-40B4-BE49-F238E27FC236}">
                  <a16:creationId xmlns:a16="http://schemas.microsoft.com/office/drawing/2014/main" xmlns="" id="{4A79793C-B489-EBEB-945B-22B36A974900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9" name="Прямоугольник 48">
              <a:extLst>
                <a:ext uri="{FF2B5EF4-FFF2-40B4-BE49-F238E27FC236}">
                  <a16:creationId xmlns:a16="http://schemas.microsoft.com/office/drawing/2014/main" xmlns="" id="{3D08D57A-8561-7AD9-BBAD-A6282B11BA2A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C5A9F417-A7B6-8EAF-A768-2C65D05470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71475" y="369395"/>
            <a:ext cx="3351031" cy="51873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7D86BB3B-F8C5-F8DE-E01B-5C61B653B3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67154" y="6112841"/>
            <a:ext cx="3354418" cy="37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646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-разделитель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114032"/>
            <a:ext cx="10477500" cy="1274400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Слайд-разделитель</a:t>
            </a:r>
            <a:endParaRPr lang="en-US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C5D69904-6A27-16CF-3FC2-44B5B550FF5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p:blipFill>
        <p:spPr>
          <a:xfrm>
            <a:off x="371475" y="687969"/>
            <a:ext cx="520926" cy="520926"/>
          </a:xfrm>
          <a:prstGeom prst="rect">
            <a:avLst/>
          </a:prstGeom>
        </p:spPr>
      </p:pic>
      <p:sp>
        <p:nvSpPr>
          <p:cNvPr id="31" name="Text Placeholder 3">
            <a:extLst>
              <a:ext uri="{FF2B5EF4-FFF2-40B4-BE49-F238E27FC236}">
                <a16:creationId xmlns:a16="http://schemas.microsoft.com/office/drawing/2014/main" xmlns="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5353200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второго порядка</a:t>
            </a:r>
          </a:p>
        </p:txBody>
      </p:sp>
      <p:grpSp>
        <p:nvGrpSpPr>
          <p:cNvPr id="46" name="Группа 45">
            <a:extLst>
              <a:ext uri="{FF2B5EF4-FFF2-40B4-BE49-F238E27FC236}">
                <a16:creationId xmlns:a16="http://schemas.microsoft.com/office/drawing/2014/main" xmlns="" id="{01395D1E-FB07-285F-1D40-59855D3B38AD}"/>
              </a:ext>
            </a:extLst>
          </p:cNvPr>
          <p:cNvGrpSpPr/>
          <p:nvPr userDrawn="1"/>
        </p:nvGrpSpPr>
        <p:grpSpPr>
          <a:xfrm>
            <a:off x="371475" y="368300"/>
            <a:ext cx="11449052" cy="72000"/>
            <a:chOff x="1802606" y="368300"/>
            <a:chExt cx="8586786" cy="92300"/>
          </a:xfrm>
        </p:grpSpPr>
        <p:sp>
          <p:nvSpPr>
            <p:cNvPr id="47" name="Прямоугольник 46">
              <a:extLst>
                <a:ext uri="{FF2B5EF4-FFF2-40B4-BE49-F238E27FC236}">
                  <a16:creationId xmlns:a16="http://schemas.microsoft.com/office/drawing/2014/main" xmlns="" id="{1D47909A-3C7E-AB8B-6D6E-ED6113A30AAE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8" name="Прямоугольник 47">
              <a:extLst>
                <a:ext uri="{FF2B5EF4-FFF2-40B4-BE49-F238E27FC236}">
                  <a16:creationId xmlns:a16="http://schemas.microsoft.com/office/drawing/2014/main" xmlns="" id="{74DD34AC-CF2B-445D-D397-067B41BFCA90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9" name="Прямоугольник 48">
              <a:extLst>
                <a:ext uri="{FF2B5EF4-FFF2-40B4-BE49-F238E27FC236}">
                  <a16:creationId xmlns:a16="http://schemas.microsoft.com/office/drawing/2014/main" xmlns="" id="{0E34296B-7C26-56A8-F167-4EC91F1BCA6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0" name="Прямоугольник 49">
              <a:extLst>
                <a:ext uri="{FF2B5EF4-FFF2-40B4-BE49-F238E27FC236}">
                  <a16:creationId xmlns:a16="http://schemas.microsoft.com/office/drawing/2014/main" xmlns="" id="{432D1DB9-B2BB-CE00-F0FD-463BD5EC19CE}"/>
                </a:ext>
              </a:extLst>
            </p:cNvPr>
            <p:cNvSpPr/>
            <p:nvPr userDrawn="1"/>
          </p:nvSpPr>
          <p:spPr>
            <a:xfrm>
              <a:off x="6095998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1" name="Прямоугольник 50">
              <a:extLst>
                <a:ext uri="{FF2B5EF4-FFF2-40B4-BE49-F238E27FC236}">
                  <a16:creationId xmlns:a16="http://schemas.microsoft.com/office/drawing/2014/main" xmlns="" id="{3A1E06DE-819F-930F-5FF2-CBB7D0DC3B62}"/>
                </a:ext>
              </a:extLst>
            </p:cNvPr>
            <p:cNvSpPr/>
            <p:nvPr userDrawn="1"/>
          </p:nvSpPr>
          <p:spPr>
            <a:xfrm>
              <a:off x="7527128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2" name="Прямоугольник 51">
              <a:extLst>
                <a:ext uri="{FF2B5EF4-FFF2-40B4-BE49-F238E27FC236}">
                  <a16:creationId xmlns:a16="http://schemas.microsoft.com/office/drawing/2014/main" xmlns="" id="{2CCAF0B2-5F1D-FB59-CD96-6ED080F4528E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4037272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лайд-разделител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Группа 33">
            <a:extLst>
              <a:ext uri="{FF2B5EF4-FFF2-40B4-BE49-F238E27FC236}">
                <a16:creationId xmlns:a16="http://schemas.microsoft.com/office/drawing/2014/main" xmlns="" id="{3EC3F9AE-8D23-6FCA-72D5-1B441FFBD0B4}"/>
              </a:ext>
            </a:extLst>
          </p:cNvPr>
          <p:cNvGrpSpPr/>
          <p:nvPr userDrawn="1"/>
        </p:nvGrpSpPr>
        <p:grpSpPr>
          <a:xfrm>
            <a:off x="371475" y="368300"/>
            <a:ext cx="11449048" cy="72000"/>
            <a:chOff x="1802606" y="368300"/>
            <a:chExt cx="8586786" cy="92300"/>
          </a:xfrm>
        </p:grpSpPr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xmlns="" id="{E563AF0F-5955-6170-29EE-2CEF391C7B33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xmlns="" id="{3DFA4962-8A3A-FE64-7AB8-26FB403DD16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655616F9-0BAC-F10B-65BB-355B8DC64F1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A75E6AEB-D8CE-CBCA-C692-CA1F14F9F229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3926591C-B1B3-AD42-68F7-7277238E8CE3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D206590C-4368-7913-FE77-86BEC5207B5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43" name="Рисунок 42">
            <a:extLst>
              <a:ext uri="{FF2B5EF4-FFF2-40B4-BE49-F238E27FC236}">
                <a16:creationId xmlns:a16="http://schemas.microsoft.com/office/drawing/2014/main" xmlns="" id="{4E017EDD-44EF-5F1A-A3C4-B1F957BA50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71475" y="685800"/>
            <a:ext cx="523875" cy="52387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xmlns="" id="{5FF432FE-7A92-995A-BBD6-A617211715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114800"/>
            <a:ext cx="10477500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Слайд-разделитель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xmlns="" id="{9249AE30-3894-32A1-A3DA-52ABA244D5C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5353200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второго порядка</a:t>
            </a:r>
          </a:p>
        </p:txBody>
      </p:sp>
    </p:spTree>
    <p:extLst>
      <p:ext uri="{BB962C8B-B14F-4D97-AF65-F5344CB8AC3E}">
        <p14:creationId xmlns:p14="http://schemas.microsoft.com/office/powerpoint/2010/main" val="3115436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Слайд-разделител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06020"/>
            <a:ext cx="10477500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Слайд-разделитель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xmlns="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3443956"/>
            <a:ext cx="10477500" cy="939201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второго порядка</a:t>
            </a:r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xmlns="" id="{3EC3F9AE-8D23-6FCA-72D5-1B441FFBD0B4}"/>
              </a:ext>
            </a:extLst>
          </p:cNvPr>
          <p:cNvGrpSpPr/>
          <p:nvPr userDrawn="1"/>
        </p:nvGrpSpPr>
        <p:grpSpPr>
          <a:xfrm>
            <a:off x="371475" y="368300"/>
            <a:ext cx="11449048" cy="72000"/>
            <a:chOff x="1802606" y="368300"/>
            <a:chExt cx="8586786" cy="92300"/>
          </a:xfrm>
        </p:grpSpPr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xmlns="" id="{E563AF0F-5955-6170-29EE-2CEF391C7B33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xmlns="" id="{3DFA4962-8A3A-FE64-7AB8-26FB403DD16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655616F9-0BAC-F10B-65BB-355B8DC64F1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A75E6AEB-D8CE-CBCA-C692-CA1F14F9F229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3926591C-B1B3-AD42-68F7-7277238E8CE3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D206590C-4368-7913-FE77-86BEC5207B5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27458E88-25AF-C3F5-687F-DEDEFEBE382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685800"/>
            <a:ext cx="523875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352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Слайд-разделител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06020"/>
            <a:ext cx="10477500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Слайд-разделитель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xmlns="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3443956"/>
            <a:ext cx="10477500" cy="939201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второго порядка</a:t>
            </a:r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xmlns="" id="{3EC3F9AE-8D23-6FCA-72D5-1B441FFBD0B4}"/>
              </a:ext>
            </a:extLst>
          </p:cNvPr>
          <p:cNvGrpSpPr/>
          <p:nvPr userDrawn="1"/>
        </p:nvGrpSpPr>
        <p:grpSpPr>
          <a:xfrm>
            <a:off x="371475" y="368300"/>
            <a:ext cx="11449048" cy="72000"/>
            <a:chOff x="1802606" y="368300"/>
            <a:chExt cx="8586786" cy="92300"/>
          </a:xfrm>
        </p:grpSpPr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xmlns="" id="{E563AF0F-5955-6170-29EE-2CEF391C7B33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xmlns="" id="{3DFA4962-8A3A-FE64-7AB8-26FB403DD16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655616F9-0BAC-F10B-65BB-355B8DC64F1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A75E6AEB-D8CE-CBCA-C692-CA1F14F9F229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3926591C-B1B3-AD42-68F7-7277238E8CE3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D206590C-4368-7913-FE77-86BEC5207B5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676C78BA-F5AA-488E-F088-74C3FC9C366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685800"/>
            <a:ext cx="523875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000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Слайд-разделител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06020"/>
            <a:ext cx="10477500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Слайд-разделитель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xmlns="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3443956"/>
            <a:ext cx="10477500" cy="939201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второго порядка</a:t>
            </a:r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xmlns="" id="{3EC3F9AE-8D23-6FCA-72D5-1B441FFBD0B4}"/>
              </a:ext>
            </a:extLst>
          </p:cNvPr>
          <p:cNvGrpSpPr/>
          <p:nvPr userDrawn="1"/>
        </p:nvGrpSpPr>
        <p:grpSpPr>
          <a:xfrm>
            <a:off x="371475" y="368300"/>
            <a:ext cx="11449048" cy="72000"/>
            <a:chOff x="1802606" y="368300"/>
            <a:chExt cx="8586786" cy="92300"/>
          </a:xfrm>
        </p:grpSpPr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xmlns="" id="{E563AF0F-5955-6170-29EE-2CEF391C7B33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xmlns="" id="{3DFA4962-8A3A-FE64-7AB8-26FB403DD16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655616F9-0BAC-F10B-65BB-355B8DC64F1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A75E6AEB-D8CE-CBCA-C692-CA1F14F9F229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3926591C-B1B3-AD42-68F7-7277238E8CE3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D206590C-4368-7913-FE77-86BEC5207B5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C55F09F5-D920-488E-C8A9-D56BCBA314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685800"/>
            <a:ext cx="523875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514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0477500" cy="591820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Инфографика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xmlns="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966156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3 сектора с текстовыми блоками</a:t>
            </a:r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xmlns="" id="{3EC3F9AE-8D23-6FCA-72D5-1B441FFBD0B4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xmlns="" id="{E563AF0F-5955-6170-29EE-2CEF391C7B33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xmlns="" id="{3DFA4962-8A3A-FE64-7AB8-26FB403DD16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655616F9-0BAC-F10B-65BB-355B8DC64F1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A75E6AEB-D8CE-CBCA-C692-CA1F14F9F229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3926591C-B1B3-AD42-68F7-7277238E8CE3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D206590C-4368-7913-FE77-86BEC5207B5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7" name="Text Placeholder 3">
            <a:extLst>
              <a:ext uri="{FF2B5EF4-FFF2-40B4-BE49-F238E27FC236}">
                <a16:creationId xmlns:a16="http://schemas.microsoft.com/office/drawing/2014/main" xmlns="" id="{BC28F292-393B-7086-806C-79575D774C87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D53C2090-1B14-6CDE-B9DE-A131AAE45928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14748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Заголовок и объект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0477500" cy="591820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Инфографика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xmlns="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966156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3 сектора с текстовыми блоками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xmlns="" id="{E563AF0F-5955-6170-29EE-2CEF391C7B33}"/>
              </a:ext>
            </a:extLst>
          </p:cNvPr>
          <p:cNvSpPr/>
          <p:nvPr userDrawn="1"/>
        </p:nvSpPr>
        <p:spPr>
          <a:xfrm>
            <a:off x="371475" y="6417332"/>
            <a:ext cx="11449050" cy="72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xmlns="" id="{BC28F292-393B-7086-806C-79575D774C87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D53C2090-1B14-6CDE-B9DE-A131AAE45928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solidFill>
                  <a:schemeClr val="bg1"/>
                </a:solidFill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19140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Заголовок и объект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0477500" cy="591820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Инфографика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xmlns="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966156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3 сектора с текстовыми блоками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xmlns="" id="{E563AF0F-5955-6170-29EE-2CEF391C7B33}"/>
              </a:ext>
            </a:extLst>
          </p:cNvPr>
          <p:cNvSpPr/>
          <p:nvPr userDrawn="1"/>
        </p:nvSpPr>
        <p:spPr>
          <a:xfrm>
            <a:off x="371475" y="6417332"/>
            <a:ext cx="11449050" cy="72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xmlns="" id="{BC28F292-393B-7086-806C-79575D774C87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D53C2090-1B14-6CDE-B9DE-A131AAE45928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solidFill>
                  <a:schemeClr val="bg1"/>
                </a:solidFill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990855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6588125" cy="1332508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Длинный заголовок слайда</a:t>
            </a:r>
            <a:r>
              <a:rPr lang="en-US" dirty="0"/>
              <a:t> </a:t>
            </a:r>
            <a:r>
              <a:rPr lang="ru-RU" dirty="0"/>
              <a:t>в две длинных строки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xmlns="" id="{BC28F292-393B-7086-806C-79575D774C87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D53C2090-1B14-6CDE-B9DE-A131AAE45928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solidFill>
                  <a:schemeClr val="bg1"/>
                </a:solidFill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740196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Заголовок и объект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4860925" cy="1332508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Короткий заголовок</a:t>
            </a:r>
            <a:r>
              <a:rPr lang="en-US" dirty="0"/>
              <a:t> </a:t>
            </a:r>
            <a:r>
              <a:rPr lang="ru-RU" dirty="0"/>
              <a:t>в две строки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D53C2090-1B14-6CDE-B9DE-A131AAE45928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solidFill>
                  <a:schemeClr val="bg1"/>
                </a:solidFill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xmlns="" id="{919C9223-AD8F-C722-AC45-C4D730B5F2A5}"/>
              </a:ext>
            </a:extLst>
          </p:cNvPr>
          <p:cNvSpPr/>
          <p:nvPr userDrawn="1"/>
        </p:nvSpPr>
        <p:spPr>
          <a:xfrm>
            <a:off x="371475" y="6417332"/>
            <a:ext cx="11449050" cy="72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xmlns="" id="{9604EAFD-369B-F7DC-144D-DF81CF533AB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71475" y="5007161"/>
            <a:ext cx="2700338" cy="793563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TT Bluescreens Pro Normal" panose="020B0006030000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xmlns="" id="{6EF8147F-EA02-EFC5-EBB5-50A83E9C8002}"/>
              </a:ext>
            </a:extLst>
          </p:cNvPr>
          <p:cNvSpPr>
            <a:spLocks noGrp="1" noChangeAspect="1"/>
          </p:cNvSpPr>
          <p:nvPr>
            <p:ph type="pic" idx="30"/>
          </p:nvPr>
        </p:nvSpPr>
        <p:spPr>
          <a:xfrm>
            <a:off x="3287688" y="5007161"/>
            <a:ext cx="2700338" cy="793563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TT Bluescreens Pro Normal" panose="020B0006030000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5" name="Picture Placeholder 2">
            <a:extLst>
              <a:ext uri="{FF2B5EF4-FFF2-40B4-BE49-F238E27FC236}">
                <a16:creationId xmlns:a16="http://schemas.microsoft.com/office/drawing/2014/main" xmlns="" id="{8B16F172-0838-6C38-C517-E360216122FB}"/>
              </a:ext>
            </a:extLst>
          </p:cNvPr>
          <p:cNvSpPr>
            <a:spLocks noGrp="1" noChangeAspect="1"/>
          </p:cNvSpPr>
          <p:nvPr>
            <p:ph type="pic" idx="34"/>
          </p:nvPr>
        </p:nvSpPr>
        <p:spPr>
          <a:xfrm>
            <a:off x="6204012" y="5007161"/>
            <a:ext cx="2700338" cy="793563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TT Bluescreens Pro Normal" panose="020B0006030000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xmlns="" id="{31882DEF-C11F-62CA-9DDA-104CA2E8ED94}"/>
              </a:ext>
            </a:extLst>
          </p:cNvPr>
          <p:cNvSpPr>
            <a:spLocks noGrp="1" noChangeAspect="1"/>
          </p:cNvSpPr>
          <p:nvPr>
            <p:ph type="pic" idx="38"/>
          </p:nvPr>
        </p:nvSpPr>
        <p:spPr>
          <a:xfrm>
            <a:off x="9120336" y="5007161"/>
            <a:ext cx="2700338" cy="793563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TT Bluescreens Pro Normal" panose="020B0006030000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xmlns="" id="{92B14669-9221-B008-27E9-C35640D47590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</p:spTree>
    <p:extLst>
      <p:ext uri="{BB962C8B-B14F-4D97-AF65-F5344CB8AC3E}">
        <p14:creationId xmlns:p14="http://schemas.microsoft.com/office/powerpoint/2010/main" val="33892160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инный заголовок в две длинных стро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xmlns="" id="{5A4F0FD5-C7B2-6959-38E8-E70DF7F438B7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24270480-FDB6-999A-B209-D679E6C7588A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4B53EFB9-699D-B56A-A5CD-4BF78CA6DD18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F1533A7C-0F57-6C00-384A-1A1BCF7C7294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441332E4-89B9-C73A-A9E5-3CDCF672C7B5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:a16="http://schemas.microsoft.com/office/drawing/2014/main" xmlns="" id="{7AE9B841-3425-C437-EA36-58B6C0DF49D4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:a16="http://schemas.microsoft.com/office/drawing/2014/main" xmlns="" id="{48535271-31C6-3040-90D5-AA206E37D053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3" name="Text Placeholder 3">
            <a:extLst>
              <a:ext uri="{FF2B5EF4-FFF2-40B4-BE49-F238E27FC236}">
                <a16:creationId xmlns:a16="http://schemas.microsoft.com/office/drawing/2014/main" xmlns="" id="{6695BBC4-60DF-CAD6-B7EB-40337F4F7E44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B4BFF065-B45E-2C2E-4733-90FBAE3CC0B2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xmlns="" id="{624E203B-C938-053C-C15B-DAF6F20F5D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6588125" cy="1332508"/>
          </a:xfrm>
        </p:spPr>
        <p:txBody>
          <a:bodyPr anchor="t"/>
          <a:lstStyle>
            <a:lvl1pPr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lnSpc>
                <a:spcPts val="4500"/>
              </a:lnSpc>
            </a:pPr>
            <a:r>
              <a:rPr lang="ru-RU" dirty="0"/>
              <a:t>Длинный заголовок слайда</a:t>
            </a:r>
            <a:r>
              <a:rPr lang="en-US" dirty="0"/>
              <a:t> </a:t>
            </a:r>
            <a:r>
              <a:rPr lang="ru-RU" dirty="0"/>
              <a:t>в две длинных строки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080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роткий заголовок в две стро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4860925" cy="1332508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Короткий заголовок</a:t>
            </a:r>
            <a:r>
              <a:rPr lang="en-US" dirty="0"/>
              <a:t> </a:t>
            </a:r>
            <a:r>
              <a:rPr lang="ru-RU" dirty="0"/>
              <a:t>в две строки</a:t>
            </a:r>
            <a:endParaRPr lang="en-US" dirty="0"/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xmlns="" id="{B44C1137-1FFE-872E-30E6-04630F23C2A0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xmlns="" id="{E12294DD-95F4-0D4A-BA70-F1D0523B76CF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xmlns="" id="{CEE606BE-520D-01A1-5E7D-F592B2F27E9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xmlns="" id="{EE6AAD59-6F39-977E-F2C0-1399569F854F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xmlns="" id="{8035B9B7-7018-4F0F-32DB-CCC25C5F0A0C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xmlns="" id="{53E4C232-AABF-A5CA-FAEB-6C5332A2840F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xmlns="" id="{46A3F353-D8D7-92BF-8E79-2046DE24B6D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1" name="Text Placeholder 3">
            <a:extLst>
              <a:ext uri="{FF2B5EF4-FFF2-40B4-BE49-F238E27FC236}">
                <a16:creationId xmlns:a16="http://schemas.microsoft.com/office/drawing/2014/main" xmlns="" id="{738ECBB0-9878-6131-C71D-FBF9291A8E53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AE0BF120-460A-B440-3B8A-36FEC4DC2F24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05382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инный заголовок в одну строк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Группа 145">
            <a:extLst>
              <a:ext uri="{FF2B5EF4-FFF2-40B4-BE49-F238E27FC236}">
                <a16:creationId xmlns:a16="http://schemas.microsoft.com/office/drawing/2014/main" xmlns="" id="{9D225268-7B9D-4B2C-7C31-9465AB95BFFE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147" name="Прямоугольник 146">
              <a:extLst>
                <a:ext uri="{FF2B5EF4-FFF2-40B4-BE49-F238E27FC236}">
                  <a16:creationId xmlns:a16="http://schemas.microsoft.com/office/drawing/2014/main" xmlns="" id="{10CB4CED-F8F6-0AD9-6E10-B4694C0A259C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Прямоугольник 147">
              <a:extLst>
                <a:ext uri="{FF2B5EF4-FFF2-40B4-BE49-F238E27FC236}">
                  <a16:creationId xmlns:a16="http://schemas.microsoft.com/office/drawing/2014/main" xmlns="" id="{9B65CEF7-A4DB-A02A-BE5C-18EFA6FF0E39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9" name="Прямоугольник 148">
              <a:extLst>
                <a:ext uri="{FF2B5EF4-FFF2-40B4-BE49-F238E27FC236}">
                  <a16:creationId xmlns:a16="http://schemas.microsoft.com/office/drawing/2014/main" xmlns="" id="{3B6E9741-9451-72D4-3A95-A876A70DB66D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Прямоугольник 149">
              <a:extLst>
                <a:ext uri="{FF2B5EF4-FFF2-40B4-BE49-F238E27FC236}">
                  <a16:creationId xmlns:a16="http://schemas.microsoft.com/office/drawing/2014/main" xmlns="" id="{53D9BA04-B5DC-A843-2B77-8F2C26B4EB70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Прямоугольник 150">
              <a:extLst>
                <a:ext uri="{FF2B5EF4-FFF2-40B4-BE49-F238E27FC236}">
                  <a16:creationId xmlns:a16="http://schemas.microsoft.com/office/drawing/2014/main" xmlns="" id="{6D14EA2F-4CA7-C8C2-42B9-A8A9AF67C44F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Прямоугольник 151">
              <a:extLst>
                <a:ext uri="{FF2B5EF4-FFF2-40B4-BE49-F238E27FC236}">
                  <a16:creationId xmlns:a16="http://schemas.microsoft.com/office/drawing/2014/main" xmlns="" id="{CED73EE1-7CB3-4A1F-2D93-69F1104FFF7C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3" name="Text Placeholder 3">
            <a:extLst>
              <a:ext uri="{FF2B5EF4-FFF2-40B4-BE49-F238E27FC236}">
                <a16:creationId xmlns:a16="http://schemas.microsoft.com/office/drawing/2014/main" xmlns="" id="{F611ECAA-BB89-CD58-D1D1-BDA5C3A83335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xmlns="" id="{4B08B4DB-47B6-C49D-D36E-DA034F8D0A5F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234" name="Title 1">
            <a:extLst>
              <a:ext uri="{FF2B5EF4-FFF2-40B4-BE49-F238E27FC236}">
                <a16:creationId xmlns:a16="http://schemas.microsoft.com/office/drawing/2014/main" xmlns="" id="{8BB06054-541E-1D8E-E696-DFEB3B5F2774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71475" y="368300"/>
            <a:ext cx="9435640" cy="700640"/>
          </a:xfrm>
        </p:spPr>
        <p:txBody>
          <a:bodyPr anchor="t"/>
          <a:lstStyle>
            <a:lvl1pPr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lnSpc>
                <a:spcPts val="4500"/>
              </a:lnSpc>
            </a:pPr>
            <a:r>
              <a:rPr lang="ru-RU" dirty="0"/>
              <a:t>Длинный заголовок в одну строку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3369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нфографи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>
            <a:extLst>
              <a:ext uri="{FF2B5EF4-FFF2-40B4-BE49-F238E27FC236}">
                <a16:creationId xmlns:a16="http://schemas.microsoft.com/office/drawing/2014/main" xmlns="" id="{AF885766-BF47-336C-EABF-D266E26BC931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xmlns="" id="{63399F84-600A-9C8F-915F-229C40DE74D2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xmlns="" id="{4406B1A3-B943-DF52-E5D0-0CFB737B4C6A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xmlns="" id="{A7EE2127-F487-6271-667E-188083A4ED12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xmlns="" id="{6F645955-ED6F-CD93-6E14-F85C82FD26B4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xmlns="" id="{657E0A00-847F-016B-BF17-E6A4B45D797A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xmlns="" id="{D874B758-EA50-A3D1-75D1-B772F4D601B3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1" name="Text Placeholder 3">
            <a:extLst>
              <a:ext uri="{FF2B5EF4-FFF2-40B4-BE49-F238E27FC236}">
                <a16:creationId xmlns:a16="http://schemas.microsoft.com/office/drawing/2014/main" xmlns="" id="{0909F1F8-5B0C-775F-5293-AF25912964EB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E30FCDEB-2C79-AE7E-F5C2-5943573F2410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50" name="Title 1">
            <a:extLst>
              <a:ext uri="{FF2B5EF4-FFF2-40B4-BE49-F238E27FC236}">
                <a16:creationId xmlns:a16="http://schemas.microsoft.com/office/drawing/2014/main" xmlns="" id="{05243177-1D49-D31E-C274-33C887625C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0477500" cy="591820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Инфографика</a:t>
            </a:r>
            <a:endParaRPr lang="en-US" dirty="0"/>
          </a:p>
        </p:txBody>
      </p:sp>
      <p:sp>
        <p:nvSpPr>
          <p:cNvPr id="55" name="Text Placeholder 3">
            <a:extLst>
              <a:ext uri="{FF2B5EF4-FFF2-40B4-BE49-F238E27FC236}">
                <a16:creationId xmlns:a16="http://schemas.microsoft.com/office/drawing/2014/main" xmlns="" id="{E8124872-56A3-3F49-C0BE-00008A927A8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966156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4029931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без заголов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Группа 189">
            <a:extLst>
              <a:ext uri="{FF2B5EF4-FFF2-40B4-BE49-F238E27FC236}">
                <a16:creationId xmlns:a16="http://schemas.microsoft.com/office/drawing/2014/main" xmlns="" id="{9E32313D-CB43-1FE0-705C-107BF71D584F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191" name="Прямоугольник 190">
              <a:extLst>
                <a:ext uri="{FF2B5EF4-FFF2-40B4-BE49-F238E27FC236}">
                  <a16:creationId xmlns:a16="http://schemas.microsoft.com/office/drawing/2014/main" xmlns="" id="{CDC9E3DE-4C1D-B2DF-766A-A5AC7843E6A6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2" name="Прямоугольник 191">
              <a:extLst>
                <a:ext uri="{FF2B5EF4-FFF2-40B4-BE49-F238E27FC236}">
                  <a16:creationId xmlns:a16="http://schemas.microsoft.com/office/drawing/2014/main" xmlns="" id="{40803405-0C0F-83EA-C49D-60E284B09B53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3" name="Прямоугольник 192">
              <a:extLst>
                <a:ext uri="{FF2B5EF4-FFF2-40B4-BE49-F238E27FC236}">
                  <a16:creationId xmlns:a16="http://schemas.microsoft.com/office/drawing/2014/main" xmlns="" id="{B41298A7-C3ED-7D4F-246A-BE09DC45B8CD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4" name="Прямоугольник 193">
              <a:extLst>
                <a:ext uri="{FF2B5EF4-FFF2-40B4-BE49-F238E27FC236}">
                  <a16:creationId xmlns:a16="http://schemas.microsoft.com/office/drawing/2014/main" xmlns="" id="{13B1E073-D172-2964-2BE0-EE16FAE38226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5" name="Прямоугольник 194">
              <a:extLst>
                <a:ext uri="{FF2B5EF4-FFF2-40B4-BE49-F238E27FC236}">
                  <a16:creationId xmlns:a16="http://schemas.microsoft.com/office/drawing/2014/main" xmlns="" id="{2A1FB926-1FE2-9AB1-4FEA-62A4FBD2F4F1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6" name="Прямоугольник 195">
              <a:extLst>
                <a:ext uri="{FF2B5EF4-FFF2-40B4-BE49-F238E27FC236}">
                  <a16:creationId xmlns:a16="http://schemas.microsoft.com/office/drawing/2014/main" xmlns="" id="{F81E9289-27AE-6D8D-2275-0E3CDC58C12E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97" name="Text Placeholder 3">
            <a:extLst>
              <a:ext uri="{FF2B5EF4-FFF2-40B4-BE49-F238E27FC236}">
                <a16:creationId xmlns:a16="http://schemas.microsoft.com/office/drawing/2014/main" xmlns="" id="{6D7F6178-F322-8160-B867-FD1DCAC3AC15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xmlns="" id="{4D69CF8D-D494-80C5-4BEB-246B433BCCD4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921760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xmlns="" id="{5A4F0FD5-C7B2-6959-38E8-E70DF7F438B7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24270480-FDB6-999A-B209-D679E6C7588A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4B53EFB9-699D-B56A-A5CD-4BF78CA6DD18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F1533A7C-0F57-6C00-384A-1A1BCF7C7294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441332E4-89B9-C73A-A9E5-3CDCF672C7B5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:a16="http://schemas.microsoft.com/office/drawing/2014/main" xmlns="" id="{7AE9B841-3425-C437-EA36-58B6C0DF49D4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:a16="http://schemas.microsoft.com/office/drawing/2014/main" xmlns="" id="{48535271-31C6-3040-90D5-AA206E37D053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3" name="Text Placeholder 3">
            <a:extLst>
              <a:ext uri="{FF2B5EF4-FFF2-40B4-BE49-F238E27FC236}">
                <a16:creationId xmlns:a16="http://schemas.microsoft.com/office/drawing/2014/main" xmlns="" id="{6695BBC4-60DF-CAD6-B7EB-40337F4F7E44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B4BFF065-B45E-2C2E-4733-90FBAE3CC0B2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xmlns="" id="{1CE73F14-F169-CF86-E3C6-A8AD857EC32F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7175500" y="832482"/>
            <a:ext cx="4645024" cy="5381611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2014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xmlns="" id="{5A4F0FD5-C7B2-6959-38E8-E70DF7F438B7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24270480-FDB6-999A-B209-D679E6C7588A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4B53EFB9-699D-B56A-A5CD-4BF78CA6DD18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F1533A7C-0F57-6C00-384A-1A1BCF7C7294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441332E4-89B9-C73A-A9E5-3CDCF672C7B5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:a16="http://schemas.microsoft.com/office/drawing/2014/main" xmlns="" id="{7AE9B841-3425-C437-EA36-58B6C0DF49D4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:a16="http://schemas.microsoft.com/office/drawing/2014/main" xmlns="" id="{48535271-31C6-3040-90D5-AA206E37D053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3" name="Text Placeholder 3">
            <a:extLst>
              <a:ext uri="{FF2B5EF4-FFF2-40B4-BE49-F238E27FC236}">
                <a16:creationId xmlns:a16="http://schemas.microsoft.com/office/drawing/2014/main" xmlns="" id="{6695BBC4-60DF-CAD6-B7EB-40337F4F7E44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B4BFF065-B45E-2C2E-4733-90FBAE3CC0B2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xmlns="" id="{1CE73F14-F169-CF86-E3C6-A8AD857EC32F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7932738" y="832483"/>
            <a:ext cx="3887786" cy="5376406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4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xmlns="" id="{5A4F0FD5-C7B2-6959-38E8-E70DF7F438B7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24270480-FDB6-999A-B209-D679E6C7588A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4B53EFB9-699D-B56A-A5CD-4BF78CA6DD18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F1533A7C-0F57-6C00-384A-1A1BCF7C7294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441332E4-89B9-C73A-A9E5-3CDCF672C7B5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:a16="http://schemas.microsoft.com/office/drawing/2014/main" xmlns="" id="{7AE9B841-3425-C437-EA36-58B6C0DF49D4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:a16="http://schemas.microsoft.com/office/drawing/2014/main" xmlns="" id="{48535271-31C6-3040-90D5-AA206E37D053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3" name="Text Placeholder 3">
            <a:extLst>
              <a:ext uri="{FF2B5EF4-FFF2-40B4-BE49-F238E27FC236}">
                <a16:creationId xmlns:a16="http://schemas.microsoft.com/office/drawing/2014/main" xmlns="" id="{6695BBC4-60DF-CAD6-B7EB-40337F4F7E44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B4BFF065-B45E-2C2E-4733-90FBAE3CC0B2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xmlns="" id="{1CE73F14-F169-CF86-E3C6-A8AD857EC32F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7175500" y="832483"/>
            <a:ext cx="4645024" cy="5376406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4246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icture Placeholder 2">
            <a:extLst>
              <a:ext uri="{FF2B5EF4-FFF2-40B4-BE49-F238E27FC236}">
                <a16:creationId xmlns:a16="http://schemas.microsoft.com/office/drawing/2014/main" xmlns="" id="{D97FEC2A-285C-0CAD-1B21-40F83338C414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7175502" y="2140091"/>
            <a:ext cx="4645022" cy="963430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  <p:grpSp>
        <p:nvGrpSpPr>
          <p:cNvPr id="146" name="Группа 145">
            <a:extLst>
              <a:ext uri="{FF2B5EF4-FFF2-40B4-BE49-F238E27FC236}">
                <a16:creationId xmlns:a16="http://schemas.microsoft.com/office/drawing/2014/main" xmlns="" id="{9D225268-7B9D-4B2C-7C31-9465AB95BFFE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147" name="Прямоугольник 146">
              <a:extLst>
                <a:ext uri="{FF2B5EF4-FFF2-40B4-BE49-F238E27FC236}">
                  <a16:creationId xmlns:a16="http://schemas.microsoft.com/office/drawing/2014/main" xmlns="" id="{10CB4CED-F8F6-0AD9-6E10-B4694C0A259C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Прямоугольник 147">
              <a:extLst>
                <a:ext uri="{FF2B5EF4-FFF2-40B4-BE49-F238E27FC236}">
                  <a16:creationId xmlns:a16="http://schemas.microsoft.com/office/drawing/2014/main" xmlns="" id="{9B65CEF7-A4DB-A02A-BE5C-18EFA6FF0E39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9" name="Прямоугольник 148">
              <a:extLst>
                <a:ext uri="{FF2B5EF4-FFF2-40B4-BE49-F238E27FC236}">
                  <a16:creationId xmlns:a16="http://schemas.microsoft.com/office/drawing/2014/main" xmlns="" id="{3B6E9741-9451-72D4-3A95-A876A70DB66D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Прямоугольник 149">
              <a:extLst>
                <a:ext uri="{FF2B5EF4-FFF2-40B4-BE49-F238E27FC236}">
                  <a16:creationId xmlns:a16="http://schemas.microsoft.com/office/drawing/2014/main" xmlns="" id="{53D9BA04-B5DC-A843-2B77-8F2C26B4EB70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Прямоугольник 150">
              <a:extLst>
                <a:ext uri="{FF2B5EF4-FFF2-40B4-BE49-F238E27FC236}">
                  <a16:creationId xmlns:a16="http://schemas.microsoft.com/office/drawing/2014/main" xmlns="" id="{6D14EA2F-4CA7-C8C2-42B9-A8A9AF67C44F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Прямоугольник 151">
              <a:extLst>
                <a:ext uri="{FF2B5EF4-FFF2-40B4-BE49-F238E27FC236}">
                  <a16:creationId xmlns:a16="http://schemas.microsoft.com/office/drawing/2014/main" xmlns="" id="{CED73EE1-7CB3-4A1F-2D93-69F1104FFF7C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3" name="Text Placeholder 3">
            <a:extLst>
              <a:ext uri="{FF2B5EF4-FFF2-40B4-BE49-F238E27FC236}">
                <a16:creationId xmlns:a16="http://schemas.microsoft.com/office/drawing/2014/main" xmlns="" id="{F611ECAA-BB89-CD58-D1D1-BDA5C3A83335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xmlns="" id="{2E55CC11-4E35-E326-55BA-D9DEF04D3096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586768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инный заголовок в одну строку+рисунок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Группа 145">
            <a:extLst>
              <a:ext uri="{FF2B5EF4-FFF2-40B4-BE49-F238E27FC236}">
                <a16:creationId xmlns:a16="http://schemas.microsoft.com/office/drawing/2014/main" xmlns="" id="{9D225268-7B9D-4B2C-7C31-9465AB95BFFE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147" name="Прямоугольник 146">
              <a:extLst>
                <a:ext uri="{FF2B5EF4-FFF2-40B4-BE49-F238E27FC236}">
                  <a16:creationId xmlns:a16="http://schemas.microsoft.com/office/drawing/2014/main" xmlns="" id="{10CB4CED-F8F6-0AD9-6E10-B4694C0A259C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Прямоугольник 147">
              <a:extLst>
                <a:ext uri="{FF2B5EF4-FFF2-40B4-BE49-F238E27FC236}">
                  <a16:creationId xmlns:a16="http://schemas.microsoft.com/office/drawing/2014/main" xmlns="" id="{9B65CEF7-A4DB-A02A-BE5C-18EFA6FF0E39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9" name="Прямоугольник 148">
              <a:extLst>
                <a:ext uri="{FF2B5EF4-FFF2-40B4-BE49-F238E27FC236}">
                  <a16:creationId xmlns:a16="http://schemas.microsoft.com/office/drawing/2014/main" xmlns="" id="{3B6E9741-9451-72D4-3A95-A876A70DB66D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Прямоугольник 149">
              <a:extLst>
                <a:ext uri="{FF2B5EF4-FFF2-40B4-BE49-F238E27FC236}">
                  <a16:creationId xmlns:a16="http://schemas.microsoft.com/office/drawing/2014/main" xmlns="" id="{53D9BA04-B5DC-A843-2B77-8F2C26B4EB70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Прямоугольник 150">
              <a:extLst>
                <a:ext uri="{FF2B5EF4-FFF2-40B4-BE49-F238E27FC236}">
                  <a16:creationId xmlns:a16="http://schemas.microsoft.com/office/drawing/2014/main" xmlns="" id="{6D14EA2F-4CA7-C8C2-42B9-A8A9AF67C44F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Прямоугольник 151">
              <a:extLst>
                <a:ext uri="{FF2B5EF4-FFF2-40B4-BE49-F238E27FC236}">
                  <a16:creationId xmlns:a16="http://schemas.microsoft.com/office/drawing/2014/main" xmlns="" id="{CED73EE1-7CB3-4A1F-2D93-69F1104FFF7C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3" name="Text Placeholder 3">
            <a:extLst>
              <a:ext uri="{FF2B5EF4-FFF2-40B4-BE49-F238E27FC236}">
                <a16:creationId xmlns:a16="http://schemas.microsoft.com/office/drawing/2014/main" xmlns="" id="{F611ECAA-BB89-CD58-D1D1-BDA5C3A83335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xmlns="" id="{4B08B4DB-47B6-C49D-D36E-DA034F8D0A5F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234" name="Title 1">
            <a:extLst>
              <a:ext uri="{FF2B5EF4-FFF2-40B4-BE49-F238E27FC236}">
                <a16:creationId xmlns:a16="http://schemas.microsoft.com/office/drawing/2014/main" xmlns="" id="{8BB06054-541E-1D8E-E696-DFEB3B5F2774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71475" y="368300"/>
            <a:ext cx="9435640" cy="700640"/>
          </a:xfrm>
        </p:spPr>
        <p:txBody>
          <a:bodyPr anchor="t"/>
          <a:lstStyle>
            <a:lvl1pPr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lnSpc>
                <a:spcPts val="4500"/>
              </a:lnSpc>
            </a:pPr>
            <a:r>
              <a:rPr lang="ru-RU" dirty="0"/>
              <a:t>Длинный заголовок в одну строку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D7F2D7E8-AD32-FC80-EFB3-F0F8AB3070DB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8146494" y="1497458"/>
            <a:ext cx="3674030" cy="4714878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4195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Группа 145">
            <a:extLst>
              <a:ext uri="{FF2B5EF4-FFF2-40B4-BE49-F238E27FC236}">
                <a16:creationId xmlns:a16="http://schemas.microsoft.com/office/drawing/2014/main" xmlns="" id="{9D225268-7B9D-4B2C-7C31-9465AB95BFFE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147" name="Прямоугольник 146">
              <a:extLst>
                <a:ext uri="{FF2B5EF4-FFF2-40B4-BE49-F238E27FC236}">
                  <a16:creationId xmlns:a16="http://schemas.microsoft.com/office/drawing/2014/main" xmlns="" id="{10CB4CED-F8F6-0AD9-6E10-B4694C0A259C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Прямоугольник 147">
              <a:extLst>
                <a:ext uri="{FF2B5EF4-FFF2-40B4-BE49-F238E27FC236}">
                  <a16:creationId xmlns:a16="http://schemas.microsoft.com/office/drawing/2014/main" xmlns="" id="{9B65CEF7-A4DB-A02A-BE5C-18EFA6FF0E39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9" name="Прямоугольник 148">
              <a:extLst>
                <a:ext uri="{FF2B5EF4-FFF2-40B4-BE49-F238E27FC236}">
                  <a16:creationId xmlns:a16="http://schemas.microsoft.com/office/drawing/2014/main" xmlns="" id="{3B6E9741-9451-72D4-3A95-A876A70DB66D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Прямоугольник 149">
              <a:extLst>
                <a:ext uri="{FF2B5EF4-FFF2-40B4-BE49-F238E27FC236}">
                  <a16:creationId xmlns:a16="http://schemas.microsoft.com/office/drawing/2014/main" xmlns="" id="{53D9BA04-B5DC-A843-2B77-8F2C26B4EB70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Прямоугольник 150">
              <a:extLst>
                <a:ext uri="{FF2B5EF4-FFF2-40B4-BE49-F238E27FC236}">
                  <a16:creationId xmlns:a16="http://schemas.microsoft.com/office/drawing/2014/main" xmlns="" id="{6D14EA2F-4CA7-C8C2-42B9-A8A9AF67C44F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Прямоугольник 151">
              <a:extLst>
                <a:ext uri="{FF2B5EF4-FFF2-40B4-BE49-F238E27FC236}">
                  <a16:creationId xmlns:a16="http://schemas.microsoft.com/office/drawing/2014/main" xmlns="" id="{CED73EE1-7CB3-4A1F-2D93-69F1104FFF7C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3" name="Text Placeholder 3">
            <a:extLst>
              <a:ext uri="{FF2B5EF4-FFF2-40B4-BE49-F238E27FC236}">
                <a16:creationId xmlns:a16="http://schemas.microsoft.com/office/drawing/2014/main" xmlns="" id="{F611ECAA-BB89-CD58-D1D1-BDA5C3A83335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xmlns="" id="{4B08B4DB-47B6-C49D-D36E-DA034F8D0A5F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234" name="Title 1">
            <a:extLst>
              <a:ext uri="{FF2B5EF4-FFF2-40B4-BE49-F238E27FC236}">
                <a16:creationId xmlns:a16="http://schemas.microsoft.com/office/drawing/2014/main" xmlns="" id="{8BB06054-541E-1D8E-E696-DFEB3B5F2774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71475" y="368300"/>
            <a:ext cx="5616575" cy="700640"/>
          </a:xfrm>
        </p:spPr>
        <p:txBody>
          <a:bodyPr anchor="t"/>
          <a:lstStyle>
            <a:lvl1pPr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lnSpc>
                <a:spcPts val="4500"/>
              </a:lnSpc>
            </a:pPr>
            <a:r>
              <a:rPr lang="ru-RU" dirty="0"/>
              <a:t>Текстовый слайд</a:t>
            </a:r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xmlns="" id="{428A841E-64CC-D3AE-6CFA-D9219605DEDD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6203949" y="438151"/>
            <a:ext cx="5616575" cy="5774186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3896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3">
            <a:extLst>
              <a:ext uri="{FF2B5EF4-FFF2-40B4-BE49-F238E27FC236}">
                <a16:creationId xmlns:a16="http://schemas.microsoft.com/office/drawing/2014/main" xmlns="" id="{39DA052C-5539-CC71-490B-A974DAD95350}"/>
              </a:ext>
            </a:extLst>
          </p:cNvPr>
          <p:cNvSpPr>
            <a:spLocks noGrp="1"/>
          </p:cNvSpPr>
          <p:nvPr>
            <p:ph type="body" sz="half" idx="39" hasCustomPrompt="1"/>
          </p:nvPr>
        </p:nvSpPr>
        <p:spPr>
          <a:xfrm>
            <a:off x="617597" y="5853042"/>
            <a:ext cx="1628716" cy="687458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+7 495 748 20 55</a:t>
            </a:r>
          </a:p>
          <a:p>
            <a:pPr lvl="0"/>
            <a:r>
              <a:rPr lang="en-US" dirty="0" err="1"/>
              <a:t>nestro@nestro.ru</a:t>
            </a:r>
            <a:endParaRPr lang="en-US" dirty="0"/>
          </a:p>
          <a:p>
            <a:pPr lvl="0"/>
            <a:r>
              <a:rPr lang="en-US" dirty="0" err="1"/>
              <a:t>zarubezhneft.ru</a:t>
            </a:r>
            <a:endParaRPr lang="ru-RU" dirty="0"/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xmlns="" id="{7BE50F2E-D757-AE0E-7AC4-4F2B5D64D7D1}"/>
              </a:ext>
            </a:extLst>
          </p:cNvPr>
          <p:cNvSpPr>
            <a:spLocks noGrp="1"/>
          </p:cNvSpPr>
          <p:nvPr>
            <p:ph type="body" sz="half" idx="40" hasCustomPrompt="1"/>
          </p:nvPr>
        </p:nvSpPr>
        <p:spPr>
          <a:xfrm>
            <a:off x="2690872" y="5853042"/>
            <a:ext cx="2576452" cy="687458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Армянский пер., д. 9/1/1, стр. 1,</a:t>
            </a:r>
          </a:p>
          <a:p>
            <a:pPr lvl="0"/>
            <a:r>
              <a:rPr lang="ru-RU" dirty="0"/>
              <a:t>Москва, РФ, 101990</a:t>
            </a:r>
          </a:p>
        </p:txBody>
      </p:sp>
      <p:grpSp>
        <p:nvGrpSpPr>
          <p:cNvPr id="43" name="Рисунок 41">
            <a:extLst>
              <a:ext uri="{FF2B5EF4-FFF2-40B4-BE49-F238E27FC236}">
                <a16:creationId xmlns:a16="http://schemas.microsoft.com/office/drawing/2014/main" xmlns="" id="{61C85554-9ED6-C013-0997-4D2FAA593833}"/>
              </a:ext>
            </a:extLst>
          </p:cNvPr>
          <p:cNvGrpSpPr/>
          <p:nvPr/>
        </p:nvGrpSpPr>
        <p:grpSpPr>
          <a:xfrm>
            <a:off x="371475" y="368300"/>
            <a:ext cx="3357028" cy="519621"/>
            <a:chOff x="2376026" y="1816656"/>
            <a:chExt cx="2955030" cy="457397"/>
          </a:xfrm>
          <a:solidFill>
            <a:srgbClr val="FFFFFF"/>
          </a:solidFill>
        </p:grpSpPr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xmlns="" id="{BE307E3B-D676-3223-CA5F-6BD024103CF6}"/>
                </a:ext>
              </a:extLst>
            </p:cNvPr>
            <p:cNvSpPr/>
            <p:nvPr/>
          </p:nvSpPr>
          <p:spPr>
            <a:xfrm>
              <a:off x="2968530" y="1878896"/>
              <a:ext cx="2362526" cy="379916"/>
            </a:xfrm>
            <a:custGeom>
              <a:avLst/>
              <a:gdLst>
                <a:gd name="connsiteX0" fmla="*/ 141887 w 2362526"/>
                <a:gd name="connsiteY0" fmla="*/ 153748 h 379916"/>
                <a:gd name="connsiteX1" fmla="*/ 180425 w 2362526"/>
                <a:gd name="connsiteY1" fmla="*/ 85132 h 379916"/>
                <a:gd name="connsiteX2" fmla="*/ 180425 w 2362526"/>
                <a:gd name="connsiteY2" fmla="*/ 76226 h 379916"/>
                <a:gd name="connsiteX3" fmla="*/ 92742 w 2362526"/>
                <a:gd name="connsiteY3" fmla="*/ 850 h 379916"/>
                <a:gd name="connsiteX4" fmla="*/ 2105 w 2362526"/>
                <a:gd name="connsiteY4" fmla="*/ 78372 h 379916"/>
                <a:gd name="connsiteX5" fmla="*/ 2105 w 2362526"/>
                <a:gd name="connsiteY5" fmla="*/ 94888 h 379916"/>
                <a:gd name="connsiteX6" fmla="*/ 40238 w 2362526"/>
                <a:gd name="connsiteY6" fmla="*/ 94888 h 379916"/>
                <a:gd name="connsiteX7" fmla="*/ 40238 w 2362526"/>
                <a:gd name="connsiteY7" fmla="*/ 76267 h 379916"/>
                <a:gd name="connsiteX8" fmla="*/ 92742 w 2362526"/>
                <a:gd name="connsiteY8" fmla="*/ 33073 h 379916"/>
                <a:gd name="connsiteX9" fmla="*/ 142292 w 2362526"/>
                <a:gd name="connsiteY9" fmla="*/ 77562 h 379916"/>
                <a:gd name="connsiteX10" fmla="*/ 142292 w 2362526"/>
                <a:gd name="connsiteY10" fmla="*/ 87318 h 379916"/>
                <a:gd name="connsiteX11" fmla="*/ 92742 w 2362526"/>
                <a:gd name="connsiteY11" fmla="*/ 138162 h 379916"/>
                <a:gd name="connsiteX12" fmla="*/ 46999 w 2362526"/>
                <a:gd name="connsiteY12" fmla="*/ 138162 h 379916"/>
                <a:gd name="connsiteX13" fmla="*/ 46999 w 2362526"/>
                <a:gd name="connsiteY13" fmla="*/ 170345 h 379916"/>
                <a:gd name="connsiteX14" fmla="*/ 95698 w 2362526"/>
                <a:gd name="connsiteY14" fmla="*/ 170345 h 379916"/>
                <a:gd name="connsiteX15" fmla="*/ 145692 w 2362526"/>
                <a:gd name="connsiteY15" fmla="*/ 221190 h 379916"/>
                <a:gd name="connsiteX16" fmla="*/ 145692 w 2362526"/>
                <a:gd name="connsiteY16" fmla="*/ 230945 h 379916"/>
                <a:gd name="connsiteX17" fmla="*/ 94038 w 2362526"/>
                <a:gd name="connsiteY17" fmla="*/ 277944 h 379916"/>
                <a:gd name="connsiteX18" fmla="*/ 38133 w 2362526"/>
                <a:gd name="connsiteY18" fmla="*/ 228800 h 379916"/>
                <a:gd name="connsiteX19" fmla="*/ 38133 w 2362526"/>
                <a:gd name="connsiteY19" fmla="*/ 210179 h 379916"/>
                <a:gd name="connsiteX20" fmla="*/ 0 w 2362526"/>
                <a:gd name="connsiteY20" fmla="*/ 210179 h 379916"/>
                <a:gd name="connsiteX21" fmla="*/ 0 w 2362526"/>
                <a:gd name="connsiteY21" fmla="*/ 226695 h 379916"/>
                <a:gd name="connsiteX22" fmla="*/ 93593 w 2362526"/>
                <a:gd name="connsiteY22" fmla="*/ 310127 h 379916"/>
                <a:gd name="connsiteX23" fmla="*/ 183825 w 2362526"/>
                <a:gd name="connsiteY23" fmla="*/ 232200 h 379916"/>
                <a:gd name="connsiteX24" fmla="*/ 183825 w 2362526"/>
                <a:gd name="connsiteY24" fmla="*/ 223294 h 379916"/>
                <a:gd name="connsiteX25" fmla="*/ 141887 w 2362526"/>
                <a:gd name="connsiteY25" fmla="*/ 153829 h 379916"/>
                <a:gd name="connsiteX26" fmla="*/ 338464 w 2362526"/>
                <a:gd name="connsiteY26" fmla="*/ 100798 h 379916"/>
                <a:gd name="connsiteX27" fmla="*/ 278309 w 2362526"/>
                <a:gd name="connsiteY27" fmla="*/ 68616 h 379916"/>
                <a:gd name="connsiteX28" fmla="*/ 206293 w 2362526"/>
                <a:gd name="connsiteY28" fmla="*/ 154193 h 379916"/>
                <a:gd name="connsiteX29" fmla="*/ 206293 w 2362526"/>
                <a:gd name="connsiteY29" fmla="*/ 224509 h 379916"/>
                <a:gd name="connsiteX30" fmla="*/ 278309 w 2362526"/>
                <a:gd name="connsiteY30" fmla="*/ 310086 h 379916"/>
                <a:gd name="connsiteX31" fmla="*/ 338464 w 2362526"/>
                <a:gd name="connsiteY31" fmla="*/ 277904 h 379916"/>
                <a:gd name="connsiteX32" fmla="*/ 345669 w 2362526"/>
                <a:gd name="connsiteY32" fmla="*/ 303731 h 379916"/>
                <a:gd name="connsiteX33" fmla="*/ 369391 w 2362526"/>
                <a:gd name="connsiteY33" fmla="*/ 303731 h 379916"/>
                <a:gd name="connsiteX34" fmla="*/ 369391 w 2362526"/>
                <a:gd name="connsiteY34" fmla="*/ 75012 h 379916"/>
                <a:gd name="connsiteX35" fmla="*/ 345669 w 2362526"/>
                <a:gd name="connsiteY35" fmla="*/ 75012 h 379916"/>
                <a:gd name="connsiteX36" fmla="*/ 338464 w 2362526"/>
                <a:gd name="connsiteY36" fmla="*/ 100839 h 379916"/>
                <a:gd name="connsiteX37" fmla="*/ 334213 w 2362526"/>
                <a:gd name="connsiteY37" fmla="*/ 242685 h 379916"/>
                <a:gd name="connsiteX38" fmla="*/ 286769 w 2362526"/>
                <a:gd name="connsiteY38" fmla="*/ 278268 h 379916"/>
                <a:gd name="connsiteX39" fmla="*/ 241430 w 2362526"/>
                <a:gd name="connsiteY39" fmla="*/ 224469 h 379916"/>
                <a:gd name="connsiteX40" fmla="*/ 241430 w 2362526"/>
                <a:gd name="connsiteY40" fmla="*/ 154153 h 379916"/>
                <a:gd name="connsiteX41" fmla="*/ 286769 w 2362526"/>
                <a:gd name="connsiteY41" fmla="*/ 100353 h 379916"/>
                <a:gd name="connsiteX42" fmla="*/ 334213 w 2362526"/>
                <a:gd name="connsiteY42" fmla="*/ 135936 h 379916"/>
                <a:gd name="connsiteX43" fmla="*/ 334213 w 2362526"/>
                <a:gd name="connsiteY43" fmla="*/ 242685 h 379916"/>
                <a:gd name="connsiteX44" fmla="*/ 494155 w 2362526"/>
                <a:gd name="connsiteY44" fmla="*/ 68616 h 379916"/>
                <a:gd name="connsiteX45" fmla="*/ 434000 w 2362526"/>
                <a:gd name="connsiteY45" fmla="*/ 100798 h 379916"/>
                <a:gd name="connsiteX46" fmla="*/ 426794 w 2362526"/>
                <a:gd name="connsiteY46" fmla="*/ 74971 h 379916"/>
                <a:gd name="connsiteX47" fmla="*/ 403072 w 2362526"/>
                <a:gd name="connsiteY47" fmla="*/ 74971 h 379916"/>
                <a:gd name="connsiteX48" fmla="*/ 403072 w 2362526"/>
                <a:gd name="connsiteY48" fmla="*/ 375706 h 379916"/>
                <a:gd name="connsiteX49" fmla="*/ 438210 w 2362526"/>
                <a:gd name="connsiteY49" fmla="*/ 375706 h 379916"/>
                <a:gd name="connsiteX50" fmla="*/ 438210 w 2362526"/>
                <a:gd name="connsiteY50" fmla="*/ 280413 h 379916"/>
                <a:gd name="connsiteX51" fmla="*/ 494114 w 2362526"/>
                <a:gd name="connsiteY51" fmla="*/ 310046 h 379916"/>
                <a:gd name="connsiteX52" fmla="*/ 566130 w 2362526"/>
                <a:gd name="connsiteY52" fmla="*/ 224469 h 379916"/>
                <a:gd name="connsiteX53" fmla="*/ 566130 w 2362526"/>
                <a:gd name="connsiteY53" fmla="*/ 154153 h 379916"/>
                <a:gd name="connsiteX54" fmla="*/ 494114 w 2362526"/>
                <a:gd name="connsiteY54" fmla="*/ 68575 h 379916"/>
                <a:gd name="connsiteX55" fmla="*/ 530993 w 2362526"/>
                <a:gd name="connsiteY55" fmla="*/ 224469 h 379916"/>
                <a:gd name="connsiteX56" fmla="*/ 485654 w 2362526"/>
                <a:gd name="connsiteY56" fmla="*/ 278268 h 379916"/>
                <a:gd name="connsiteX57" fmla="*/ 438210 w 2362526"/>
                <a:gd name="connsiteY57" fmla="*/ 242685 h 379916"/>
                <a:gd name="connsiteX58" fmla="*/ 438210 w 2362526"/>
                <a:gd name="connsiteY58" fmla="*/ 135936 h 379916"/>
                <a:gd name="connsiteX59" fmla="*/ 485654 w 2362526"/>
                <a:gd name="connsiteY59" fmla="*/ 100353 h 379916"/>
                <a:gd name="connsiteX60" fmla="*/ 530993 w 2362526"/>
                <a:gd name="connsiteY60" fmla="*/ 154153 h 379916"/>
                <a:gd name="connsiteX61" fmla="*/ 530993 w 2362526"/>
                <a:gd name="connsiteY61" fmla="*/ 224469 h 379916"/>
                <a:gd name="connsiteX62" fmla="*/ 716113 w 2362526"/>
                <a:gd name="connsiteY62" fmla="*/ 223618 h 379916"/>
                <a:gd name="connsiteX63" fmla="*/ 666969 w 2362526"/>
                <a:gd name="connsiteY63" fmla="*/ 259201 h 379916"/>
                <a:gd name="connsiteX64" fmla="*/ 627581 w 2362526"/>
                <a:gd name="connsiteY64" fmla="*/ 209652 h 379916"/>
                <a:gd name="connsiteX65" fmla="*/ 627581 w 2362526"/>
                <a:gd name="connsiteY65" fmla="*/ 74971 h 379916"/>
                <a:gd name="connsiteX66" fmla="*/ 592443 w 2362526"/>
                <a:gd name="connsiteY66" fmla="*/ 74971 h 379916"/>
                <a:gd name="connsiteX67" fmla="*/ 592443 w 2362526"/>
                <a:gd name="connsiteY67" fmla="*/ 212648 h 379916"/>
                <a:gd name="connsiteX68" fmla="*/ 656808 w 2362526"/>
                <a:gd name="connsiteY68" fmla="*/ 289724 h 379916"/>
                <a:gd name="connsiteX69" fmla="*/ 716113 w 2362526"/>
                <a:gd name="connsiteY69" fmla="*/ 260497 h 379916"/>
                <a:gd name="connsiteX70" fmla="*/ 716113 w 2362526"/>
                <a:gd name="connsiteY70" fmla="*/ 307091 h 379916"/>
                <a:gd name="connsiteX71" fmla="*/ 671624 w 2362526"/>
                <a:gd name="connsiteY71" fmla="*/ 349434 h 379916"/>
                <a:gd name="connsiteX72" fmla="*/ 631386 w 2362526"/>
                <a:gd name="connsiteY72" fmla="*/ 314701 h 379916"/>
                <a:gd name="connsiteX73" fmla="*/ 631386 w 2362526"/>
                <a:gd name="connsiteY73" fmla="*/ 304540 h 379916"/>
                <a:gd name="connsiteX74" fmla="*/ 596248 w 2362526"/>
                <a:gd name="connsiteY74" fmla="*/ 304540 h 379916"/>
                <a:gd name="connsiteX75" fmla="*/ 596248 w 2362526"/>
                <a:gd name="connsiteY75" fmla="*/ 315551 h 379916"/>
                <a:gd name="connsiteX76" fmla="*/ 671624 w 2362526"/>
                <a:gd name="connsiteY76" fmla="*/ 379916 h 379916"/>
                <a:gd name="connsiteX77" fmla="*/ 751251 w 2362526"/>
                <a:gd name="connsiteY77" fmla="*/ 301545 h 379916"/>
                <a:gd name="connsiteX78" fmla="*/ 751251 w 2362526"/>
                <a:gd name="connsiteY78" fmla="*/ 74931 h 379916"/>
                <a:gd name="connsiteX79" fmla="*/ 716113 w 2362526"/>
                <a:gd name="connsiteY79" fmla="*/ 74931 h 379916"/>
                <a:gd name="connsiteX80" fmla="*/ 716113 w 2362526"/>
                <a:gd name="connsiteY80" fmla="*/ 223618 h 379916"/>
                <a:gd name="connsiteX81" fmla="*/ 877269 w 2362526"/>
                <a:gd name="connsiteY81" fmla="*/ 76226 h 379916"/>
                <a:gd name="connsiteX82" fmla="*/ 813309 w 2362526"/>
                <a:gd name="connsiteY82" fmla="*/ 108004 h 379916"/>
                <a:gd name="connsiteX83" fmla="*/ 884475 w 2362526"/>
                <a:gd name="connsiteY83" fmla="*/ 37688 h 379916"/>
                <a:gd name="connsiteX84" fmla="*/ 939529 w 2362526"/>
                <a:gd name="connsiteY84" fmla="*/ 31778 h 379916"/>
                <a:gd name="connsiteX85" fmla="*/ 939529 w 2362526"/>
                <a:gd name="connsiteY85" fmla="*/ 0 h 379916"/>
                <a:gd name="connsiteX86" fmla="*/ 881924 w 2362526"/>
                <a:gd name="connsiteY86" fmla="*/ 5910 h 379916"/>
                <a:gd name="connsiteX87" fmla="*/ 779831 w 2362526"/>
                <a:gd name="connsiteY87" fmla="*/ 122375 h 379916"/>
                <a:gd name="connsiteX88" fmla="*/ 779831 w 2362526"/>
                <a:gd name="connsiteY88" fmla="*/ 219813 h 379916"/>
                <a:gd name="connsiteX89" fmla="*/ 865813 w 2362526"/>
                <a:gd name="connsiteY89" fmla="*/ 310046 h 379916"/>
                <a:gd name="connsiteX90" fmla="*/ 951390 w 2362526"/>
                <a:gd name="connsiteY90" fmla="*/ 219813 h 379916"/>
                <a:gd name="connsiteX91" fmla="*/ 951390 w 2362526"/>
                <a:gd name="connsiteY91" fmla="*/ 166459 h 379916"/>
                <a:gd name="connsiteX92" fmla="*/ 877269 w 2362526"/>
                <a:gd name="connsiteY92" fmla="*/ 76226 h 379916"/>
                <a:gd name="connsiteX93" fmla="*/ 916253 w 2362526"/>
                <a:gd name="connsiteY93" fmla="*/ 221068 h 379916"/>
                <a:gd name="connsiteX94" fmla="*/ 865854 w 2362526"/>
                <a:gd name="connsiteY94" fmla="*/ 278228 h 379916"/>
                <a:gd name="connsiteX95" fmla="*/ 815009 w 2362526"/>
                <a:gd name="connsiteY95" fmla="*/ 221068 h 379916"/>
                <a:gd name="connsiteX96" fmla="*/ 815009 w 2362526"/>
                <a:gd name="connsiteY96" fmla="*/ 156258 h 379916"/>
                <a:gd name="connsiteX97" fmla="*/ 866703 w 2362526"/>
                <a:gd name="connsiteY97" fmla="*/ 106709 h 379916"/>
                <a:gd name="connsiteX98" fmla="*/ 916253 w 2362526"/>
                <a:gd name="connsiteY98" fmla="*/ 165163 h 379916"/>
                <a:gd name="connsiteX99" fmla="*/ 916253 w 2362526"/>
                <a:gd name="connsiteY99" fmla="*/ 221068 h 379916"/>
                <a:gd name="connsiteX100" fmla="*/ 1057330 w 2362526"/>
                <a:gd name="connsiteY100" fmla="*/ 68616 h 379916"/>
                <a:gd name="connsiteX101" fmla="*/ 973453 w 2362526"/>
                <a:gd name="connsiteY101" fmla="*/ 158848 h 379916"/>
                <a:gd name="connsiteX102" fmla="*/ 973453 w 2362526"/>
                <a:gd name="connsiteY102" fmla="*/ 219854 h 379916"/>
                <a:gd name="connsiteX103" fmla="*/ 1059030 w 2362526"/>
                <a:gd name="connsiteY103" fmla="*/ 310086 h 379916"/>
                <a:gd name="connsiteX104" fmla="*/ 1139507 w 2362526"/>
                <a:gd name="connsiteY104" fmla="*/ 236370 h 379916"/>
                <a:gd name="connsiteX105" fmla="*/ 1139507 w 2362526"/>
                <a:gd name="connsiteY105" fmla="*/ 229164 h 379916"/>
                <a:gd name="connsiteX106" fmla="*/ 1104369 w 2362526"/>
                <a:gd name="connsiteY106" fmla="*/ 229164 h 379916"/>
                <a:gd name="connsiteX107" fmla="*/ 1104369 w 2362526"/>
                <a:gd name="connsiteY107" fmla="*/ 237625 h 379916"/>
                <a:gd name="connsiteX108" fmla="*/ 1059071 w 2362526"/>
                <a:gd name="connsiteY108" fmla="*/ 279564 h 379916"/>
                <a:gd name="connsiteX109" fmla="*/ 1008671 w 2362526"/>
                <a:gd name="connsiteY109" fmla="*/ 221109 h 379916"/>
                <a:gd name="connsiteX110" fmla="*/ 1008671 w 2362526"/>
                <a:gd name="connsiteY110" fmla="*/ 201192 h 379916"/>
                <a:gd name="connsiteX111" fmla="*/ 1140802 w 2362526"/>
                <a:gd name="connsiteY111" fmla="*/ 201192 h 379916"/>
                <a:gd name="connsiteX112" fmla="*/ 1140802 w 2362526"/>
                <a:gd name="connsiteY112" fmla="*/ 158848 h 379916"/>
                <a:gd name="connsiteX113" fmla="*/ 1057370 w 2362526"/>
                <a:gd name="connsiteY113" fmla="*/ 68616 h 379916"/>
                <a:gd name="connsiteX114" fmla="*/ 1105624 w 2362526"/>
                <a:gd name="connsiteY114" fmla="*/ 170669 h 379916"/>
                <a:gd name="connsiteX115" fmla="*/ 1008631 w 2362526"/>
                <a:gd name="connsiteY115" fmla="*/ 170669 h 379916"/>
                <a:gd name="connsiteX116" fmla="*/ 1008631 w 2362526"/>
                <a:gd name="connsiteY116" fmla="*/ 157553 h 379916"/>
                <a:gd name="connsiteX117" fmla="*/ 1058180 w 2362526"/>
                <a:gd name="connsiteY117" fmla="*/ 99098 h 379916"/>
                <a:gd name="connsiteX118" fmla="*/ 1105624 w 2362526"/>
                <a:gd name="connsiteY118" fmla="*/ 157553 h 379916"/>
                <a:gd name="connsiteX119" fmla="*/ 1105624 w 2362526"/>
                <a:gd name="connsiteY119" fmla="*/ 170669 h 379916"/>
                <a:gd name="connsiteX120" fmla="*/ 1410084 w 2362526"/>
                <a:gd name="connsiteY120" fmla="*/ 74971 h 379916"/>
                <a:gd name="connsiteX121" fmla="*/ 1371950 w 2362526"/>
                <a:gd name="connsiteY121" fmla="*/ 74971 h 379916"/>
                <a:gd name="connsiteX122" fmla="*/ 1325801 w 2362526"/>
                <a:gd name="connsiteY122" fmla="*/ 172814 h 379916"/>
                <a:gd name="connsiteX123" fmla="*/ 1295319 w 2362526"/>
                <a:gd name="connsiteY123" fmla="*/ 172814 h 379916"/>
                <a:gd name="connsiteX124" fmla="*/ 1295319 w 2362526"/>
                <a:gd name="connsiteY124" fmla="*/ 74971 h 379916"/>
                <a:gd name="connsiteX125" fmla="*/ 1260181 w 2362526"/>
                <a:gd name="connsiteY125" fmla="*/ 74971 h 379916"/>
                <a:gd name="connsiteX126" fmla="*/ 1260181 w 2362526"/>
                <a:gd name="connsiteY126" fmla="*/ 172814 h 379916"/>
                <a:gd name="connsiteX127" fmla="*/ 1229699 w 2362526"/>
                <a:gd name="connsiteY127" fmla="*/ 172814 h 379916"/>
                <a:gd name="connsiteX128" fmla="*/ 1183551 w 2362526"/>
                <a:gd name="connsiteY128" fmla="*/ 74971 h 379916"/>
                <a:gd name="connsiteX129" fmla="*/ 1145417 w 2362526"/>
                <a:gd name="connsiteY129" fmla="*/ 74971 h 379916"/>
                <a:gd name="connsiteX130" fmla="*/ 1202172 w 2362526"/>
                <a:gd name="connsiteY130" fmla="*/ 185930 h 379916"/>
                <a:gd name="connsiteX131" fmla="*/ 1142867 w 2362526"/>
                <a:gd name="connsiteY131" fmla="*/ 303690 h 379916"/>
                <a:gd name="connsiteX132" fmla="*/ 1181405 w 2362526"/>
                <a:gd name="connsiteY132" fmla="*/ 303690 h 379916"/>
                <a:gd name="connsiteX133" fmla="*/ 1230104 w 2362526"/>
                <a:gd name="connsiteY133" fmla="*/ 203297 h 379916"/>
                <a:gd name="connsiteX134" fmla="*/ 1260181 w 2362526"/>
                <a:gd name="connsiteY134" fmla="*/ 203297 h 379916"/>
                <a:gd name="connsiteX135" fmla="*/ 1260181 w 2362526"/>
                <a:gd name="connsiteY135" fmla="*/ 303690 h 379916"/>
                <a:gd name="connsiteX136" fmla="*/ 1295319 w 2362526"/>
                <a:gd name="connsiteY136" fmla="*/ 303690 h 379916"/>
                <a:gd name="connsiteX137" fmla="*/ 1295319 w 2362526"/>
                <a:gd name="connsiteY137" fmla="*/ 203297 h 379916"/>
                <a:gd name="connsiteX138" fmla="*/ 1325397 w 2362526"/>
                <a:gd name="connsiteY138" fmla="*/ 203297 h 379916"/>
                <a:gd name="connsiteX139" fmla="*/ 1374096 w 2362526"/>
                <a:gd name="connsiteY139" fmla="*/ 303690 h 379916"/>
                <a:gd name="connsiteX140" fmla="*/ 1412634 w 2362526"/>
                <a:gd name="connsiteY140" fmla="*/ 303690 h 379916"/>
                <a:gd name="connsiteX141" fmla="*/ 1353329 w 2362526"/>
                <a:gd name="connsiteY141" fmla="*/ 185930 h 379916"/>
                <a:gd name="connsiteX142" fmla="*/ 1410084 w 2362526"/>
                <a:gd name="connsiteY142" fmla="*/ 74971 h 379916"/>
                <a:gd name="connsiteX143" fmla="*/ 1555168 w 2362526"/>
                <a:gd name="connsiteY143" fmla="*/ 172369 h 379916"/>
                <a:gd name="connsiteX144" fmla="*/ 1466636 w 2362526"/>
                <a:gd name="connsiteY144" fmla="*/ 172369 h 379916"/>
                <a:gd name="connsiteX145" fmla="*/ 1466636 w 2362526"/>
                <a:gd name="connsiteY145" fmla="*/ 74931 h 379916"/>
                <a:gd name="connsiteX146" fmla="*/ 1431498 w 2362526"/>
                <a:gd name="connsiteY146" fmla="*/ 74931 h 379916"/>
                <a:gd name="connsiteX147" fmla="*/ 1431498 w 2362526"/>
                <a:gd name="connsiteY147" fmla="*/ 303650 h 379916"/>
                <a:gd name="connsiteX148" fmla="*/ 1466636 w 2362526"/>
                <a:gd name="connsiteY148" fmla="*/ 303650 h 379916"/>
                <a:gd name="connsiteX149" fmla="*/ 1466636 w 2362526"/>
                <a:gd name="connsiteY149" fmla="*/ 204106 h 379916"/>
                <a:gd name="connsiteX150" fmla="*/ 1555168 w 2362526"/>
                <a:gd name="connsiteY150" fmla="*/ 204106 h 379916"/>
                <a:gd name="connsiteX151" fmla="*/ 1555168 w 2362526"/>
                <a:gd name="connsiteY151" fmla="*/ 303650 h 379916"/>
                <a:gd name="connsiteX152" fmla="*/ 1590306 w 2362526"/>
                <a:gd name="connsiteY152" fmla="*/ 303650 h 379916"/>
                <a:gd name="connsiteX153" fmla="*/ 1590306 w 2362526"/>
                <a:gd name="connsiteY153" fmla="*/ 74931 h 379916"/>
                <a:gd name="connsiteX154" fmla="*/ 1555168 w 2362526"/>
                <a:gd name="connsiteY154" fmla="*/ 74931 h 379916"/>
                <a:gd name="connsiteX155" fmla="*/ 1555168 w 2362526"/>
                <a:gd name="connsiteY155" fmla="*/ 172369 h 379916"/>
                <a:gd name="connsiteX156" fmla="*/ 1701751 w 2362526"/>
                <a:gd name="connsiteY156" fmla="*/ 68616 h 379916"/>
                <a:gd name="connsiteX157" fmla="*/ 1617874 w 2362526"/>
                <a:gd name="connsiteY157" fmla="*/ 158848 h 379916"/>
                <a:gd name="connsiteX158" fmla="*/ 1617874 w 2362526"/>
                <a:gd name="connsiteY158" fmla="*/ 219854 h 379916"/>
                <a:gd name="connsiteX159" fmla="*/ 1703451 w 2362526"/>
                <a:gd name="connsiteY159" fmla="*/ 310086 h 379916"/>
                <a:gd name="connsiteX160" fmla="*/ 1783928 w 2362526"/>
                <a:gd name="connsiteY160" fmla="*/ 236370 h 379916"/>
                <a:gd name="connsiteX161" fmla="*/ 1783928 w 2362526"/>
                <a:gd name="connsiteY161" fmla="*/ 229164 h 379916"/>
                <a:gd name="connsiteX162" fmla="*/ 1748750 w 2362526"/>
                <a:gd name="connsiteY162" fmla="*/ 229164 h 379916"/>
                <a:gd name="connsiteX163" fmla="*/ 1748750 w 2362526"/>
                <a:gd name="connsiteY163" fmla="*/ 237625 h 379916"/>
                <a:gd name="connsiteX164" fmla="*/ 1703451 w 2362526"/>
                <a:gd name="connsiteY164" fmla="*/ 279564 h 379916"/>
                <a:gd name="connsiteX165" fmla="*/ 1653052 w 2362526"/>
                <a:gd name="connsiteY165" fmla="*/ 221109 h 379916"/>
                <a:gd name="connsiteX166" fmla="*/ 1653052 w 2362526"/>
                <a:gd name="connsiteY166" fmla="*/ 201192 h 379916"/>
                <a:gd name="connsiteX167" fmla="*/ 1785183 w 2362526"/>
                <a:gd name="connsiteY167" fmla="*/ 201192 h 379916"/>
                <a:gd name="connsiteX168" fmla="*/ 1785183 w 2362526"/>
                <a:gd name="connsiteY168" fmla="*/ 158848 h 379916"/>
                <a:gd name="connsiteX169" fmla="*/ 1701751 w 2362526"/>
                <a:gd name="connsiteY169" fmla="*/ 68616 h 379916"/>
                <a:gd name="connsiteX170" fmla="*/ 1750004 w 2362526"/>
                <a:gd name="connsiteY170" fmla="*/ 170669 h 379916"/>
                <a:gd name="connsiteX171" fmla="*/ 1653012 w 2362526"/>
                <a:gd name="connsiteY171" fmla="*/ 170669 h 379916"/>
                <a:gd name="connsiteX172" fmla="*/ 1653012 w 2362526"/>
                <a:gd name="connsiteY172" fmla="*/ 157553 h 379916"/>
                <a:gd name="connsiteX173" fmla="*/ 1702561 w 2362526"/>
                <a:gd name="connsiteY173" fmla="*/ 99098 h 379916"/>
                <a:gd name="connsiteX174" fmla="*/ 1750004 w 2362526"/>
                <a:gd name="connsiteY174" fmla="*/ 157553 h 379916"/>
                <a:gd name="connsiteX175" fmla="*/ 1750004 w 2362526"/>
                <a:gd name="connsiteY175" fmla="*/ 170669 h 379916"/>
                <a:gd name="connsiteX176" fmla="*/ 1945812 w 2362526"/>
                <a:gd name="connsiteY176" fmla="*/ 69871 h 379916"/>
                <a:gd name="connsiteX177" fmla="*/ 1939457 w 2362526"/>
                <a:gd name="connsiteY177" fmla="*/ 69871 h 379916"/>
                <a:gd name="connsiteX178" fmla="*/ 1939457 w 2362526"/>
                <a:gd name="connsiteY178" fmla="*/ 7165 h 379916"/>
                <a:gd name="connsiteX179" fmla="*/ 1904319 w 2362526"/>
                <a:gd name="connsiteY179" fmla="*/ 7165 h 379916"/>
                <a:gd name="connsiteX180" fmla="*/ 1904319 w 2362526"/>
                <a:gd name="connsiteY180" fmla="*/ 69871 h 379916"/>
                <a:gd name="connsiteX181" fmla="*/ 1897964 w 2362526"/>
                <a:gd name="connsiteY181" fmla="*/ 69871 h 379916"/>
                <a:gd name="connsiteX182" fmla="*/ 1806881 w 2362526"/>
                <a:gd name="connsiteY182" fmla="*/ 161763 h 379916"/>
                <a:gd name="connsiteX183" fmla="*/ 1806881 w 2362526"/>
                <a:gd name="connsiteY183" fmla="*/ 216818 h 379916"/>
                <a:gd name="connsiteX184" fmla="*/ 1897964 w 2362526"/>
                <a:gd name="connsiteY184" fmla="*/ 308710 h 379916"/>
                <a:gd name="connsiteX185" fmla="*/ 1904319 w 2362526"/>
                <a:gd name="connsiteY185" fmla="*/ 308710 h 379916"/>
                <a:gd name="connsiteX186" fmla="*/ 1904319 w 2362526"/>
                <a:gd name="connsiteY186" fmla="*/ 375625 h 379916"/>
                <a:gd name="connsiteX187" fmla="*/ 1939457 w 2362526"/>
                <a:gd name="connsiteY187" fmla="*/ 375625 h 379916"/>
                <a:gd name="connsiteX188" fmla="*/ 1939457 w 2362526"/>
                <a:gd name="connsiteY188" fmla="*/ 308710 h 379916"/>
                <a:gd name="connsiteX189" fmla="*/ 1945812 w 2362526"/>
                <a:gd name="connsiteY189" fmla="*/ 308710 h 379916"/>
                <a:gd name="connsiteX190" fmla="*/ 2036895 w 2362526"/>
                <a:gd name="connsiteY190" fmla="*/ 216818 h 379916"/>
                <a:gd name="connsiteX191" fmla="*/ 2036895 w 2362526"/>
                <a:gd name="connsiteY191" fmla="*/ 161763 h 379916"/>
                <a:gd name="connsiteX192" fmla="*/ 1945812 w 2362526"/>
                <a:gd name="connsiteY192" fmla="*/ 69871 h 379916"/>
                <a:gd name="connsiteX193" fmla="*/ 1904319 w 2362526"/>
                <a:gd name="connsiteY193" fmla="*/ 279118 h 379916"/>
                <a:gd name="connsiteX194" fmla="*/ 1897964 w 2362526"/>
                <a:gd name="connsiteY194" fmla="*/ 279118 h 379916"/>
                <a:gd name="connsiteX195" fmla="*/ 1842059 w 2362526"/>
                <a:gd name="connsiteY195" fmla="*/ 218113 h 379916"/>
                <a:gd name="connsiteX196" fmla="*/ 1842059 w 2362526"/>
                <a:gd name="connsiteY196" fmla="*/ 160508 h 379916"/>
                <a:gd name="connsiteX197" fmla="*/ 1897964 w 2362526"/>
                <a:gd name="connsiteY197" fmla="*/ 99503 h 379916"/>
                <a:gd name="connsiteX198" fmla="*/ 1904319 w 2362526"/>
                <a:gd name="connsiteY198" fmla="*/ 99503 h 379916"/>
                <a:gd name="connsiteX199" fmla="*/ 1904319 w 2362526"/>
                <a:gd name="connsiteY199" fmla="*/ 279078 h 379916"/>
                <a:gd name="connsiteX200" fmla="*/ 2001717 w 2362526"/>
                <a:gd name="connsiteY200" fmla="*/ 218113 h 379916"/>
                <a:gd name="connsiteX201" fmla="*/ 1945812 w 2362526"/>
                <a:gd name="connsiteY201" fmla="*/ 279118 h 379916"/>
                <a:gd name="connsiteX202" fmla="*/ 1939457 w 2362526"/>
                <a:gd name="connsiteY202" fmla="*/ 279118 h 379916"/>
                <a:gd name="connsiteX203" fmla="*/ 1939457 w 2362526"/>
                <a:gd name="connsiteY203" fmla="*/ 99543 h 379916"/>
                <a:gd name="connsiteX204" fmla="*/ 1945812 w 2362526"/>
                <a:gd name="connsiteY204" fmla="*/ 99543 h 379916"/>
                <a:gd name="connsiteX205" fmla="*/ 2001717 w 2362526"/>
                <a:gd name="connsiteY205" fmla="*/ 160549 h 379916"/>
                <a:gd name="connsiteX206" fmla="*/ 2001717 w 2362526"/>
                <a:gd name="connsiteY206" fmla="*/ 218154 h 379916"/>
                <a:gd name="connsiteX207" fmla="*/ 2042725 w 2362526"/>
                <a:gd name="connsiteY207" fmla="*/ 106709 h 379916"/>
                <a:gd name="connsiteX208" fmla="*/ 2100329 w 2362526"/>
                <a:gd name="connsiteY208" fmla="*/ 106709 h 379916"/>
                <a:gd name="connsiteX209" fmla="*/ 2100329 w 2362526"/>
                <a:gd name="connsiteY209" fmla="*/ 303650 h 379916"/>
                <a:gd name="connsiteX210" fmla="*/ 2135467 w 2362526"/>
                <a:gd name="connsiteY210" fmla="*/ 303650 h 379916"/>
                <a:gd name="connsiteX211" fmla="*/ 2135467 w 2362526"/>
                <a:gd name="connsiteY211" fmla="*/ 106709 h 379916"/>
                <a:gd name="connsiteX212" fmla="*/ 2193072 w 2362526"/>
                <a:gd name="connsiteY212" fmla="*/ 106709 h 379916"/>
                <a:gd name="connsiteX213" fmla="*/ 2193072 w 2362526"/>
                <a:gd name="connsiteY213" fmla="*/ 74931 h 379916"/>
                <a:gd name="connsiteX214" fmla="*/ 2042725 w 2362526"/>
                <a:gd name="connsiteY214" fmla="*/ 74931 h 379916"/>
                <a:gd name="connsiteX215" fmla="*/ 2042725 w 2362526"/>
                <a:gd name="connsiteY215" fmla="*/ 106709 h 379916"/>
                <a:gd name="connsiteX216" fmla="*/ 2284114 w 2362526"/>
                <a:gd name="connsiteY216" fmla="*/ 149942 h 379916"/>
                <a:gd name="connsiteX217" fmla="*/ 2247276 w 2362526"/>
                <a:gd name="connsiteY217" fmla="*/ 149942 h 379916"/>
                <a:gd name="connsiteX218" fmla="*/ 2247276 w 2362526"/>
                <a:gd name="connsiteY218" fmla="*/ 74971 h 379916"/>
                <a:gd name="connsiteX219" fmla="*/ 2212139 w 2362526"/>
                <a:gd name="connsiteY219" fmla="*/ 74971 h 379916"/>
                <a:gd name="connsiteX220" fmla="*/ 2212139 w 2362526"/>
                <a:gd name="connsiteY220" fmla="*/ 303690 h 379916"/>
                <a:gd name="connsiteX221" fmla="*/ 2284155 w 2362526"/>
                <a:gd name="connsiteY221" fmla="*/ 303690 h 379916"/>
                <a:gd name="connsiteX222" fmla="*/ 2362527 w 2362526"/>
                <a:gd name="connsiteY222" fmla="*/ 229569 h 379916"/>
                <a:gd name="connsiteX223" fmla="*/ 2362527 w 2362526"/>
                <a:gd name="connsiteY223" fmla="*/ 224064 h 379916"/>
                <a:gd name="connsiteX224" fmla="*/ 2284155 w 2362526"/>
                <a:gd name="connsiteY224" fmla="*/ 149942 h 379916"/>
                <a:gd name="connsiteX225" fmla="*/ 2327308 w 2362526"/>
                <a:gd name="connsiteY225" fmla="*/ 229569 h 379916"/>
                <a:gd name="connsiteX226" fmla="*/ 2282414 w 2362526"/>
                <a:gd name="connsiteY226" fmla="*/ 274058 h 379916"/>
                <a:gd name="connsiteX227" fmla="*/ 2247276 w 2362526"/>
                <a:gd name="connsiteY227" fmla="*/ 274058 h 379916"/>
                <a:gd name="connsiteX228" fmla="*/ 2247276 w 2362526"/>
                <a:gd name="connsiteY228" fmla="*/ 179615 h 379916"/>
                <a:gd name="connsiteX229" fmla="*/ 2282414 w 2362526"/>
                <a:gd name="connsiteY229" fmla="*/ 179615 h 379916"/>
                <a:gd name="connsiteX230" fmla="*/ 2327308 w 2362526"/>
                <a:gd name="connsiteY230" fmla="*/ 224104 h 379916"/>
                <a:gd name="connsiteX231" fmla="*/ 2327308 w 2362526"/>
                <a:gd name="connsiteY231" fmla="*/ 229610 h 379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</a:cxnLst>
              <a:rect l="l" t="t" r="r" b="b"/>
              <a:pathLst>
                <a:path w="2362526" h="379916">
                  <a:moveTo>
                    <a:pt x="141887" y="153748"/>
                  </a:moveTo>
                  <a:cubicBezTo>
                    <a:pt x="166864" y="141482"/>
                    <a:pt x="180425" y="117760"/>
                    <a:pt x="180425" y="85132"/>
                  </a:cubicBezTo>
                  <a:lnTo>
                    <a:pt x="180425" y="76226"/>
                  </a:lnTo>
                  <a:cubicBezTo>
                    <a:pt x="180425" y="34733"/>
                    <a:pt x="147392" y="850"/>
                    <a:pt x="92742" y="850"/>
                  </a:cubicBezTo>
                  <a:cubicBezTo>
                    <a:pt x="33033" y="850"/>
                    <a:pt x="2105" y="34733"/>
                    <a:pt x="2105" y="78372"/>
                  </a:cubicBezTo>
                  <a:lnTo>
                    <a:pt x="2105" y="94888"/>
                  </a:lnTo>
                  <a:lnTo>
                    <a:pt x="40238" y="94888"/>
                  </a:lnTo>
                  <a:lnTo>
                    <a:pt x="40238" y="76267"/>
                  </a:lnTo>
                  <a:cubicBezTo>
                    <a:pt x="40238" y="52545"/>
                    <a:pt x="53354" y="33073"/>
                    <a:pt x="92742" y="33073"/>
                  </a:cubicBezTo>
                  <a:cubicBezTo>
                    <a:pt x="127071" y="33073"/>
                    <a:pt x="142292" y="52545"/>
                    <a:pt x="142292" y="77562"/>
                  </a:cubicBezTo>
                  <a:lnTo>
                    <a:pt x="142292" y="87318"/>
                  </a:lnTo>
                  <a:cubicBezTo>
                    <a:pt x="142292" y="119946"/>
                    <a:pt x="127030" y="138162"/>
                    <a:pt x="92742" y="138162"/>
                  </a:cubicBezTo>
                  <a:lnTo>
                    <a:pt x="46999" y="138162"/>
                  </a:lnTo>
                  <a:lnTo>
                    <a:pt x="46999" y="170345"/>
                  </a:lnTo>
                  <a:lnTo>
                    <a:pt x="95698" y="170345"/>
                  </a:lnTo>
                  <a:cubicBezTo>
                    <a:pt x="131281" y="170345"/>
                    <a:pt x="145692" y="190262"/>
                    <a:pt x="145692" y="221190"/>
                  </a:cubicBezTo>
                  <a:lnTo>
                    <a:pt x="145692" y="230945"/>
                  </a:lnTo>
                  <a:cubicBezTo>
                    <a:pt x="145692" y="261873"/>
                    <a:pt x="131281" y="277944"/>
                    <a:pt x="94038" y="277944"/>
                  </a:cubicBezTo>
                  <a:cubicBezTo>
                    <a:pt x="56795" y="277944"/>
                    <a:pt x="38133" y="261833"/>
                    <a:pt x="38133" y="228800"/>
                  </a:cubicBezTo>
                  <a:lnTo>
                    <a:pt x="38133" y="210179"/>
                  </a:lnTo>
                  <a:lnTo>
                    <a:pt x="0" y="210179"/>
                  </a:lnTo>
                  <a:lnTo>
                    <a:pt x="0" y="226695"/>
                  </a:lnTo>
                  <a:cubicBezTo>
                    <a:pt x="0" y="279644"/>
                    <a:pt x="35583" y="310127"/>
                    <a:pt x="93593" y="310127"/>
                  </a:cubicBezTo>
                  <a:cubicBezTo>
                    <a:pt x="151602" y="310127"/>
                    <a:pt x="183825" y="279644"/>
                    <a:pt x="183825" y="232200"/>
                  </a:cubicBezTo>
                  <a:lnTo>
                    <a:pt x="183825" y="223294"/>
                  </a:lnTo>
                  <a:cubicBezTo>
                    <a:pt x="183825" y="189817"/>
                    <a:pt x="170709" y="165690"/>
                    <a:pt x="141887" y="153829"/>
                  </a:cubicBezTo>
                  <a:close/>
                  <a:moveTo>
                    <a:pt x="338464" y="100798"/>
                  </a:moveTo>
                  <a:cubicBezTo>
                    <a:pt x="324052" y="80881"/>
                    <a:pt x="306281" y="68616"/>
                    <a:pt x="278309" y="68616"/>
                  </a:cubicBezTo>
                  <a:cubicBezTo>
                    <a:pt x="235965" y="68616"/>
                    <a:pt x="206293" y="101648"/>
                    <a:pt x="206293" y="154193"/>
                  </a:cubicBezTo>
                  <a:lnTo>
                    <a:pt x="206293" y="224509"/>
                  </a:lnTo>
                  <a:cubicBezTo>
                    <a:pt x="206293" y="277013"/>
                    <a:pt x="235925" y="310086"/>
                    <a:pt x="278309" y="310086"/>
                  </a:cubicBezTo>
                  <a:cubicBezTo>
                    <a:pt x="306281" y="310086"/>
                    <a:pt x="324052" y="297821"/>
                    <a:pt x="338464" y="277904"/>
                  </a:cubicBezTo>
                  <a:lnTo>
                    <a:pt x="345669" y="303731"/>
                  </a:lnTo>
                  <a:lnTo>
                    <a:pt x="369391" y="303731"/>
                  </a:lnTo>
                  <a:lnTo>
                    <a:pt x="369391" y="75012"/>
                  </a:lnTo>
                  <a:lnTo>
                    <a:pt x="345669" y="75012"/>
                  </a:lnTo>
                  <a:lnTo>
                    <a:pt x="338464" y="100839"/>
                  </a:lnTo>
                  <a:close/>
                  <a:moveTo>
                    <a:pt x="334213" y="242685"/>
                  </a:moveTo>
                  <a:cubicBezTo>
                    <a:pt x="326157" y="263452"/>
                    <a:pt x="309236" y="278268"/>
                    <a:pt x="286769" y="278268"/>
                  </a:cubicBezTo>
                  <a:cubicBezTo>
                    <a:pt x="262642" y="278268"/>
                    <a:pt x="241430" y="264302"/>
                    <a:pt x="241430" y="224469"/>
                  </a:cubicBezTo>
                  <a:lnTo>
                    <a:pt x="241430" y="154153"/>
                  </a:lnTo>
                  <a:cubicBezTo>
                    <a:pt x="241430" y="114319"/>
                    <a:pt x="262602" y="100353"/>
                    <a:pt x="286769" y="100353"/>
                  </a:cubicBezTo>
                  <a:cubicBezTo>
                    <a:pt x="309236" y="100353"/>
                    <a:pt x="326157" y="115169"/>
                    <a:pt x="334213" y="135936"/>
                  </a:cubicBezTo>
                  <a:lnTo>
                    <a:pt x="334213" y="242685"/>
                  </a:lnTo>
                  <a:close/>
                  <a:moveTo>
                    <a:pt x="494155" y="68616"/>
                  </a:moveTo>
                  <a:cubicBezTo>
                    <a:pt x="466182" y="68616"/>
                    <a:pt x="448411" y="80881"/>
                    <a:pt x="434000" y="100798"/>
                  </a:cubicBezTo>
                  <a:lnTo>
                    <a:pt x="426794" y="74971"/>
                  </a:lnTo>
                  <a:lnTo>
                    <a:pt x="403072" y="74971"/>
                  </a:lnTo>
                  <a:lnTo>
                    <a:pt x="403072" y="375706"/>
                  </a:lnTo>
                  <a:lnTo>
                    <a:pt x="438210" y="375706"/>
                  </a:lnTo>
                  <a:lnTo>
                    <a:pt x="438210" y="280413"/>
                  </a:lnTo>
                  <a:cubicBezTo>
                    <a:pt x="450071" y="298185"/>
                    <a:pt x="466182" y="310046"/>
                    <a:pt x="494114" y="310046"/>
                  </a:cubicBezTo>
                  <a:cubicBezTo>
                    <a:pt x="536458" y="310046"/>
                    <a:pt x="566130" y="277013"/>
                    <a:pt x="566130" y="224469"/>
                  </a:cubicBezTo>
                  <a:lnTo>
                    <a:pt x="566130" y="154153"/>
                  </a:lnTo>
                  <a:cubicBezTo>
                    <a:pt x="566130" y="101648"/>
                    <a:pt x="536498" y="68575"/>
                    <a:pt x="494114" y="68575"/>
                  </a:cubicBezTo>
                  <a:close/>
                  <a:moveTo>
                    <a:pt x="530993" y="224469"/>
                  </a:moveTo>
                  <a:cubicBezTo>
                    <a:pt x="530993" y="264302"/>
                    <a:pt x="509821" y="278268"/>
                    <a:pt x="485654" y="278268"/>
                  </a:cubicBezTo>
                  <a:cubicBezTo>
                    <a:pt x="463186" y="278268"/>
                    <a:pt x="446265" y="263452"/>
                    <a:pt x="438210" y="242685"/>
                  </a:cubicBezTo>
                  <a:lnTo>
                    <a:pt x="438210" y="135936"/>
                  </a:lnTo>
                  <a:cubicBezTo>
                    <a:pt x="446265" y="115169"/>
                    <a:pt x="463186" y="100353"/>
                    <a:pt x="485654" y="100353"/>
                  </a:cubicBezTo>
                  <a:cubicBezTo>
                    <a:pt x="509780" y="100353"/>
                    <a:pt x="530993" y="114319"/>
                    <a:pt x="530993" y="154153"/>
                  </a:cubicBezTo>
                  <a:lnTo>
                    <a:pt x="530993" y="224469"/>
                  </a:lnTo>
                  <a:close/>
                  <a:moveTo>
                    <a:pt x="716113" y="223618"/>
                  </a:moveTo>
                  <a:cubicBezTo>
                    <a:pt x="706357" y="244790"/>
                    <a:pt x="688586" y="259201"/>
                    <a:pt x="666969" y="259201"/>
                  </a:cubicBezTo>
                  <a:cubicBezTo>
                    <a:pt x="641992" y="259201"/>
                    <a:pt x="627581" y="244790"/>
                    <a:pt x="627581" y="209652"/>
                  </a:cubicBezTo>
                  <a:lnTo>
                    <a:pt x="627581" y="74971"/>
                  </a:lnTo>
                  <a:lnTo>
                    <a:pt x="592443" y="74971"/>
                  </a:lnTo>
                  <a:lnTo>
                    <a:pt x="592443" y="212648"/>
                  </a:lnTo>
                  <a:cubicBezTo>
                    <a:pt x="592443" y="265597"/>
                    <a:pt x="619120" y="289724"/>
                    <a:pt x="656808" y="289724"/>
                  </a:cubicBezTo>
                  <a:cubicBezTo>
                    <a:pt x="683081" y="289724"/>
                    <a:pt x="702957" y="277863"/>
                    <a:pt x="716113" y="260497"/>
                  </a:cubicBezTo>
                  <a:lnTo>
                    <a:pt x="716113" y="307091"/>
                  </a:lnTo>
                  <a:cubicBezTo>
                    <a:pt x="716113" y="332513"/>
                    <a:pt x="702552" y="349434"/>
                    <a:pt x="671624" y="349434"/>
                  </a:cubicBezTo>
                  <a:cubicBezTo>
                    <a:pt x="644947" y="349434"/>
                    <a:pt x="631386" y="335468"/>
                    <a:pt x="631386" y="314701"/>
                  </a:cubicBezTo>
                  <a:lnTo>
                    <a:pt x="631386" y="304540"/>
                  </a:lnTo>
                  <a:lnTo>
                    <a:pt x="596248" y="304540"/>
                  </a:lnTo>
                  <a:lnTo>
                    <a:pt x="596248" y="315551"/>
                  </a:lnTo>
                  <a:cubicBezTo>
                    <a:pt x="596248" y="355790"/>
                    <a:pt x="624221" y="379916"/>
                    <a:pt x="671624" y="379916"/>
                  </a:cubicBezTo>
                  <a:cubicBezTo>
                    <a:pt x="723319" y="379916"/>
                    <a:pt x="751251" y="351539"/>
                    <a:pt x="751251" y="301545"/>
                  </a:cubicBezTo>
                  <a:lnTo>
                    <a:pt x="751251" y="74931"/>
                  </a:lnTo>
                  <a:lnTo>
                    <a:pt x="716113" y="74931"/>
                  </a:lnTo>
                  <a:lnTo>
                    <a:pt x="716113" y="223618"/>
                  </a:lnTo>
                  <a:close/>
                  <a:moveTo>
                    <a:pt x="877269" y="76226"/>
                  </a:moveTo>
                  <a:cubicBezTo>
                    <a:pt x="848487" y="76226"/>
                    <a:pt x="826020" y="88937"/>
                    <a:pt x="813309" y="108004"/>
                  </a:cubicBezTo>
                  <a:cubicBezTo>
                    <a:pt x="813714" y="63960"/>
                    <a:pt x="831525" y="41088"/>
                    <a:pt x="884475" y="37688"/>
                  </a:cubicBezTo>
                  <a:cubicBezTo>
                    <a:pt x="912448" y="35988"/>
                    <a:pt x="930624" y="34288"/>
                    <a:pt x="939529" y="31778"/>
                  </a:cubicBezTo>
                  <a:lnTo>
                    <a:pt x="939529" y="0"/>
                  </a:lnTo>
                  <a:cubicBezTo>
                    <a:pt x="928114" y="2550"/>
                    <a:pt x="911152" y="3805"/>
                    <a:pt x="881924" y="5910"/>
                  </a:cubicBezTo>
                  <a:cubicBezTo>
                    <a:pt x="812904" y="11011"/>
                    <a:pt x="779831" y="41898"/>
                    <a:pt x="779831" y="122375"/>
                  </a:cubicBezTo>
                  <a:lnTo>
                    <a:pt x="779831" y="219813"/>
                  </a:lnTo>
                  <a:cubicBezTo>
                    <a:pt x="779831" y="279118"/>
                    <a:pt x="815414" y="310046"/>
                    <a:pt x="865813" y="310046"/>
                  </a:cubicBezTo>
                  <a:cubicBezTo>
                    <a:pt x="916212" y="310046"/>
                    <a:pt x="951390" y="278713"/>
                    <a:pt x="951390" y="219813"/>
                  </a:cubicBezTo>
                  <a:lnTo>
                    <a:pt x="951390" y="166459"/>
                  </a:lnTo>
                  <a:cubicBezTo>
                    <a:pt x="951390" y="105049"/>
                    <a:pt x="918358" y="76226"/>
                    <a:pt x="877269" y="76226"/>
                  </a:cubicBezTo>
                  <a:close/>
                  <a:moveTo>
                    <a:pt x="916253" y="221068"/>
                  </a:moveTo>
                  <a:cubicBezTo>
                    <a:pt x="916253" y="259606"/>
                    <a:pt x="895486" y="278228"/>
                    <a:pt x="865854" y="278228"/>
                  </a:cubicBezTo>
                  <a:cubicBezTo>
                    <a:pt x="836221" y="278228"/>
                    <a:pt x="815009" y="259606"/>
                    <a:pt x="815009" y="221068"/>
                  </a:cubicBezTo>
                  <a:lnTo>
                    <a:pt x="815009" y="156258"/>
                  </a:lnTo>
                  <a:cubicBezTo>
                    <a:pt x="816264" y="126180"/>
                    <a:pt x="838286" y="106709"/>
                    <a:pt x="866703" y="106709"/>
                  </a:cubicBezTo>
                  <a:cubicBezTo>
                    <a:pt x="895121" y="106709"/>
                    <a:pt x="916253" y="124075"/>
                    <a:pt x="916253" y="165163"/>
                  </a:cubicBezTo>
                  <a:lnTo>
                    <a:pt x="916253" y="221068"/>
                  </a:lnTo>
                  <a:close/>
                  <a:moveTo>
                    <a:pt x="1057330" y="68616"/>
                  </a:moveTo>
                  <a:cubicBezTo>
                    <a:pt x="1008631" y="68616"/>
                    <a:pt x="973453" y="99948"/>
                    <a:pt x="973453" y="158848"/>
                  </a:cubicBezTo>
                  <a:lnTo>
                    <a:pt x="973453" y="219854"/>
                  </a:lnTo>
                  <a:cubicBezTo>
                    <a:pt x="973453" y="278713"/>
                    <a:pt x="1008590" y="310086"/>
                    <a:pt x="1059030" y="310086"/>
                  </a:cubicBezTo>
                  <a:cubicBezTo>
                    <a:pt x="1109470" y="310086"/>
                    <a:pt x="1139507" y="280859"/>
                    <a:pt x="1139507" y="236370"/>
                  </a:cubicBezTo>
                  <a:lnTo>
                    <a:pt x="1139507" y="229164"/>
                  </a:lnTo>
                  <a:lnTo>
                    <a:pt x="1104369" y="229164"/>
                  </a:lnTo>
                  <a:lnTo>
                    <a:pt x="1104369" y="237625"/>
                  </a:lnTo>
                  <a:cubicBezTo>
                    <a:pt x="1104369" y="263047"/>
                    <a:pt x="1085748" y="279564"/>
                    <a:pt x="1059071" y="279564"/>
                  </a:cubicBezTo>
                  <a:cubicBezTo>
                    <a:pt x="1029438" y="279564"/>
                    <a:pt x="1008671" y="260942"/>
                    <a:pt x="1008671" y="221109"/>
                  </a:cubicBezTo>
                  <a:lnTo>
                    <a:pt x="1008671" y="201192"/>
                  </a:lnTo>
                  <a:lnTo>
                    <a:pt x="1140802" y="201192"/>
                  </a:lnTo>
                  <a:lnTo>
                    <a:pt x="1140802" y="158848"/>
                  </a:lnTo>
                  <a:cubicBezTo>
                    <a:pt x="1140802" y="99989"/>
                    <a:pt x="1107324" y="68616"/>
                    <a:pt x="1057370" y="68616"/>
                  </a:cubicBezTo>
                  <a:close/>
                  <a:moveTo>
                    <a:pt x="1105624" y="170669"/>
                  </a:moveTo>
                  <a:lnTo>
                    <a:pt x="1008631" y="170669"/>
                  </a:lnTo>
                  <a:lnTo>
                    <a:pt x="1008631" y="157553"/>
                  </a:lnTo>
                  <a:cubicBezTo>
                    <a:pt x="1008631" y="117719"/>
                    <a:pt x="1029398" y="99098"/>
                    <a:pt x="1058180" y="99098"/>
                  </a:cubicBezTo>
                  <a:cubicBezTo>
                    <a:pt x="1086962" y="99098"/>
                    <a:pt x="1105624" y="117719"/>
                    <a:pt x="1105624" y="157553"/>
                  </a:cubicBezTo>
                  <a:lnTo>
                    <a:pt x="1105624" y="170669"/>
                  </a:lnTo>
                  <a:close/>
                  <a:moveTo>
                    <a:pt x="1410084" y="74971"/>
                  </a:moveTo>
                  <a:lnTo>
                    <a:pt x="1371950" y="74971"/>
                  </a:lnTo>
                  <a:lnTo>
                    <a:pt x="1325801" y="172814"/>
                  </a:lnTo>
                  <a:lnTo>
                    <a:pt x="1295319" y="172814"/>
                  </a:lnTo>
                  <a:lnTo>
                    <a:pt x="1295319" y="74971"/>
                  </a:lnTo>
                  <a:lnTo>
                    <a:pt x="1260181" y="74971"/>
                  </a:lnTo>
                  <a:lnTo>
                    <a:pt x="1260181" y="172814"/>
                  </a:lnTo>
                  <a:lnTo>
                    <a:pt x="1229699" y="172814"/>
                  </a:lnTo>
                  <a:lnTo>
                    <a:pt x="1183551" y="74971"/>
                  </a:lnTo>
                  <a:lnTo>
                    <a:pt x="1145417" y="74971"/>
                  </a:lnTo>
                  <a:lnTo>
                    <a:pt x="1202172" y="185930"/>
                  </a:lnTo>
                  <a:lnTo>
                    <a:pt x="1142867" y="303690"/>
                  </a:lnTo>
                  <a:lnTo>
                    <a:pt x="1181405" y="303690"/>
                  </a:lnTo>
                  <a:lnTo>
                    <a:pt x="1230104" y="203297"/>
                  </a:lnTo>
                  <a:lnTo>
                    <a:pt x="1260181" y="203297"/>
                  </a:lnTo>
                  <a:lnTo>
                    <a:pt x="1260181" y="303690"/>
                  </a:lnTo>
                  <a:lnTo>
                    <a:pt x="1295319" y="303690"/>
                  </a:lnTo>
                  <a:lnTo>
                    <a:pt x="1295319" y="203297"/>
                  </a:lnTo>
                  <a:lnTo>
                    <a:pt x="1325397" y="203297"/>
                  </a:lnTo>
                  <a:lnTo>
                    <a:pt x="1374096" y="303690"/>
                  </a:lnTo>
                  <a:lnTo>
                    <a:pt x="1412634" y="303690"/>
                  </a:lnTo>
                  <a:lnTo>
                    <a:pt x="1353329" y="185930"/>
                  </a:lnTo>
                  <a:lnTo>
                    <a:pt x="1410084" y="74971"/>
                  </a:lnTo>
                  <a:close/>
                  <a:moveTo>
                    <a:pt x="1555168" y="172369"/>
                  </a:moveTo>
                  <a:lnTo>
                    <a:pt x="1466636" y="172369"/>
                  </a:lnTo>
                  <a:lnTo>
                    <a:pt x="1466636" y="74931"/>
                  </a:lnTo>
                  <a:lnTo>
                    <a:pt x="1431498" y="74931"/>
                  </a:lnTo>
                  <a:lnTo>
                    <a:pt x="1431498" y="303650"/>
                  </a:lnTo>
                  <a:lnTo>
                    <a:pt x="1466636" y="303650"/>
                  </a:lnTo>
                  <a:lnTo>
                    <a:pt x="1466636" y="204106"/>
                  </a:lnTo>
                  <a:lnTo>
                    <a:pt x="1555168" y="204106"/>
                  </a:lnTo>
                  <a:lnTo>
                    <a:pt x="1555168" y="303650"/>
                  </a:lnTo>
                  <a:lnTo>
                    <a:pt x="1590306" y="303650"/>
                  </a:lnTo>
                  <a:lnTo>
                    <a:pt x="1590306" y="74931"/>
                  </a:lnTo>
                  <a:lnTo>
                    <a:pt x="1555168" y="74931"/>
                  </a:lnTo>
                  <a:lnTo>
                    <a:pt x="1555168" y="172369"/>
                  </a:lnTo>
                  <a:close/>
                  <a:moveTo>
                    <a:pt x="1701751" y="68616"/>
                  </a:moveTo>
                  <a:cubicBezTo>
                    <a:pt x="1653052" y="68616"/>
                    <a:pt x="1617874" y="99948"/>
                    <a:pt x="1617874" y="158848"/>
                  </a:cubicBezTo>
                  <a:lnTo>
                    <a:pt x="1617874" y="219854"/>
                  </a:lnTo>
                  <a:cubicBezTo>
                    <a:pt x="1617874" y="278713"/>
                    <a:pt x="1653012" y="310086"/>
                    <a:pt x="1703451" y="310086"/>
                  </a:cubicBezTo>
                  <a:cubicBezTo>
                    <a:pt x="1753890" y="310086"/>
                    <a:pt x="1783928" y="280859"/>
                    <a:pt x="1783928" y="236370"/>
                  </a:cubicBezTo>
                  <a:lnTo>
                    <a:pt x="1783928" y="229164"/>
                  </a:lnTo>
                  <a:lnTo>
                    <a:pt x="1748750" y="229164"/>
                  </a:lnTo>
                  <a:lnTo>
                    <a:pt x="1748750" y="237625"/>
                  </a:lnTo>
                  <a:cubicBezTo>
                    <a:pt x="1748750" y="263047"/>
                    <a:pt x="1730128" y="279564"/>
                    <a:pt x="1703451" y="279564"/>
                  </a:cubicBezTo>
                  <a:cubicBezTo>
                    <a:pt x="1673819" y="279564"/>
                    <a:pt x="1653052" y="260942"/>
                    <a:pt x="1653052" y="221109"/>
                  </a:cubicBezTo>
                  <a:lnTo>
                    <a:pt x="1653052" y="201192"/>
                  </a:lnTo>
                  <a:lnTo>
                    <a:pt x="1785183" y="201192"/>
                  </a:lnTo>
                  <a:lnTo>
                    <a:pt x="1785183" y="158848"/>
                  </a:lnTo>
                  <a:cubicBezTo>
                    <a:pt x="1785183" y="99989"/>
                    <a:pt x="1751705" y="68616"/>
                    <a:pt x="1701751" y="68616"/>
                  </a:cubicBezTo>
                  <a:close/>
                  <a:moveTo>
                    <a:pt x="1750004" y="170669"/>
                  </a:moveTo>
                  <a:lnTo>
                    <a:pt x="1653012" y="170669"/>
                  </a:lnTo>
                  <a:lnTo>
                    <a:pt x="1653012" y="157553"/>
                  </a:lnTo>
                  <a:cubicBezTo>
                    <a:pt x="1653012" y="117719"/>
                    <a:pt x="1673778" y="99098"/>
                    <a:pt x="1702561" y="99098"/>
                  </a:cubicBezTo>
                  <a:cubicBezTo>
                    <a:pt x="1731343" y="99098"/>
                    <a:pt x="1750004" y="117719"/>
                    <a:pt x="1750004" y="157553"/>
                  </a:cubicBezTo>
                  <a:lnTo>
                    <a:pt x="1750004" y="170669"/>
                  </a:lnTo>
                  <a:close/>
                  <a:moveTo>
                    <a:pt x="1945812" y="69871"/>
                  </a:moveTo>
                  <a:lnTo>
                    <a:pt x="1939457" y="69871"/>
                  </a:lnTo>
                  <a:lnTo>
                    <a:pt x="1939457" y="7165"/>
                  </a:lnTo>
                  <a:lnTo>
                    <a:pt x="1904319" y="7165"/>
                  </a:lnTo>
                  <a:lnTo>
                    <a:pt x="1904319" y="69871"/>
                  </a:lnTo>
                  <a:lnTo>
                    <a:pt x="1897964" y="69871"/>
                  </a:lnTo>
                  <a:cubicBezTo>
                    <a:pt x="1844164" y="69871"/>
                    <a:pt x="1806881" y="103349"/>
                    <a:pt x="1806881" y="161763"/>
                  </a:cubicBezTo>
                  <a:lnTo>
                    <a:pt x="1806881" y="216818"/>
                  </a:lnTo>
                  <a:cubicBezTo>
                    <a:pt x="1806881" y="275273"/>
                    <a:pt x="1844164" y="308710"/>
                    <a:pt x="1897964" y="308710"/>
                  </a:cubicBezTo>
                  <a:lnTo>
                    <a:pt x="1904319" y="308710"/>
                  </a:lnTo>
                  <a:lnTo>
                    <a:pt x="1904319" y="375625"/>
                  </a:lnTo>
                  <a:lnTo>
                    <a:pt x="1939457" y="375625"/>
                  </a:lnTo>
                  <a:lnTo>
                    <a:pt x="1939457" y="308710"/>
                  </a:lnTo>
                  <a:lnTo>
                    <a:pt x="1945812" y="308710"/>
                  </a:lnTo>
                  <a:cubicBezTo>
                    <a:pt x="1999612" y="308710"/>
                    <a:pt x="2036895" y="275232"/>
                    <a:pt x="2036895" y="216818"/>
                  </a:cubicBezTo>
                  <a:lnTo>
                    <a:pt x="2036895" y="161763"/>
                  </a:lnTo>
                  <a:cubicBezTo>
                    <a:pt x="2036895" y="103308"/>
                    <a:pt x="1999612" y="69871"/>
                    <a:pt x="1945812" y="69871"/>
                  </a:cubicBezTo>
                  <a:close/>
                  <a:moveTo>
                    <a:pt x="1904319" y="279118"/>
                  </a:moveTo>
                  <a:lnTo>
                    <a:pt x="1897964" y="279118"/>
                  </a:lnTo>
                  <a:cubicBezTo>
                    <a:pt x="1864931" y="279118"/>
                    <a:pt x="1842059" y="258351"/>
                    <a:pt x="1842059" y="218113"/>
                  </a:cubicBezTo>
                  <a:lnTo>
                    <a:pt x="1842059" y="160508"/>
                  </a:lnTo>
                  <a:cubicBezTo>
                    <a:pt x="1842059" y="120270"/>
                    <a:pt x="1864931" y="99503"/>
                    <a:pt x="1897964" y="99503"/>
                  </a:cubicBezTo>
                  <a:lnTo>
                    <a:pt x="1904319" y="99503"/>
                  </a:lnTo>
                  <a:lnTo>
                    <a:pt x="1904319" y="279078"/>
                  </a:lnTo>
                  <a:close/>
                  <a:moveTo>
                    <a:pt x="2001717" y="218113"/>
                  </a:moveTo>
                  <a:cubicBezTo>
                    <a:pt x="2001717" y="258351"/>
                    <a:pt x="1978845" y="279118"/>
                    <a:pt x="1945812" y="279118"/>
                  </a:cubicBezTo>
                  <a:lnTo>
                    <a:pt x="1939457" y="279118"/>
                  </a:lnTo>
                  <a:lnTo>
                    <a:pt x="1939457" y="99543"/>
                  </a:lnTo>
                  <a:lnTo>
                    <a:pt x="1945812" y="99543"/>
                  </a:lnTo>
                  <a:cubicBezTo>
                    <a:pt x="1978845" y="99543"/>
                    <a:pt x="2001717" y="120310"/>
                    <a:pt x="2001717" y="160549"/>
                  </a:cubicBezTo>
                  <a:lnTo>
                    <a:pt x="2001717" y="218154"/>
                  </a:lnTo>
                  <a:close/>
                  <a:moveTo>
                    <a:pt x="2042725" y="106709"/>
                  </a:moveTo>
                  <a:lnTo>
                    <a:pt x="2100329" y="106709"/>
                  </a:lnTo>
                  <a:lnTo>
                    <a:pt x="2100329" y="303650"/>
                  </a:lnTo>
                  <a:lnTo>
                    <a:pt x="2135467" y="303650"/>
                  </a:lnTo>
                  <a:lnTo>
                    <a:pt x="2135467" y="106709"/>
                  </a:lnTo>
                  <a:lnTo>
                    <a:pt x="2193072" y="106709"/>
                  </a:lnTo>
                  <a:lnTo>
                    <a:pt x="2193072" y="74931"/>
                  </a:lnTo>
                  <a:lnTo>
                    <a:pt x="2042725" y="74931"/>
                  </a:lnTo>
                  <a:lnTo>
                    <a:pt x="2042725" y="106709"/>
                  </a:lnTo>
                  <a:close/>
                  <a:moveTo>
                    <a:pt x="2284114" y="149942"/>
                  </a:moveTo>
                  <a:lnTo>
                    <a:pt x="2247276" y="149942"/>
                  </a:lnTo>
                  <a:lnTo>
                    <a:pt x="2247276" y="74971"/>
                  </a:lnTo>
                  <a:lnTo>
                    <a:pt x="2212139" y="74971"/>
                  </a:lnTo>
                  <a:lnTo>
                    <a:pt x="2212139" y="303690"/>
                  </a:lnTo>
                  <a:lnTo>
                    <a:pt x="2284155" y="303690"/>
                  </a:lnTo>
                  <a:cubicBezTo>
                    <a:pt x="2329898" y="303690"/>
                    <a:pt x="2362527" y="281668"/>
                    <a:pt x="2362527" y="229569"/>
                  </a:cubicBezTo>
                  <a:lnTo>
                    <a:pt x="2362527" y="224064"/>
                  </a:lnTo>
                  <a:cubicBezTo>
                    <a:pt x="2362527" y="171964"/>
                    <a:pt x="2329898" y="149942"/>
                    <a:pt x="2284155" y="149942"/>
                  </a:cubicBezTo>
                  <a:close/>
                  <a:moveTo>
                    <a:pt x="2327308" y="229569"/>
                  </a:moveTo>
                  <a:cubicBezTo>
                    <a:pt x="2327308" y="262602"/>
                    <a:pt x="2310791" y="274058"/>
                    <a:pt x="2282414" y="274058"/>
                  </a:cubicBezTo>
                  <a:lnTo>
                    <a:pt x="2247276" y="274058"/>
                  </a:lnTo>
                  <a:lnTo>
                    <a:pt x="2247276" y="179615"/>
                  </a:lnTo>
                  <a:lnTo>
                    <a:pt x="2282414" y="179615"/>
                  </a:lnTo>
                  <a:cubicBezTo>
                    <a:pt x="2310791" y="179615"/>
                    <a:pt x="2327308" y="191031"/>
                    <a:pt x="2327308" y="224104"/>
                  </a:cubicBezTo>
                  <a:lnTo>
                    <a:pt x="2327308" y="229610"/>
                  </a:lnTo>
                  <a:close/>
                </a:path>
              </a:pathLst>
            </a:custGeom>
            <a:solidFill>
              <a:srgbClr val="FFFFFF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xmlns="" id="{D8710856-CB29-3967-6AAD-91D4C4DCC2AB}"/>
                </a:ext>
              </a:extLst>
            </p:cNvPr>
            <p:cNvSpPr/>
            <p:nvPr/>
          </p:nvSpPr>
          <p:spPr>
            <a:xfrm>
              <a:off x="2376026" y="1816656"/>
              <a:ext cx="457397" cy="457397"/>
            </a:xfrm>
            <a:custGeom>
              <a:avLst/>
              <a:gdLst>
                <a:gd name="connsiteX0" fmla="*/ 390422 w 457397"/>
                <a:gd name="connsiteY0" fmla="*/ 66976 h 457397"/>
                <a:gd name="connsiteX1" fmla="*/ 66976 w 457397"/>
                <a:gd name="connsiteY1" fmla="*/ 66976 h 457397"/>
                <a:gd name="connsiteX2" fmla="*/ 66976 w 457397"/>
                <a:gd name="connsiteY2" fmla="*/ 390422 h 457397"/>
                <a:gd name="connsiteX3" fmla="*/ 390422 w 457397"/>
                <a:gd name="connsiteY3" fmla="*/ 390422 h 457397"/>
                <a:gd name="connsiteX4" fmla="*/ 390422 w 457397"/>
                <a:gd name="connsiteY4" fmla="*/ 66976 h 457397"/>
                <a:gd name="connsiteX5" fmla="*/ 406938 w 457397"/>
                <a:gd name="connsiteY5" fmla="*/ 360708 h 457397"/>
                <a:gd name="connsiteX6" fmla="*/ 407504 w 457397"/>
                <a:gd name="connsiteY6" fmla="*/ 358482 h 457397"/>
                <a:gd name="connsiteX7" fmla="*/ 402890 w 457397"/>
                <a:gd name="connsiteY7" fmla="*/ 290068 h 457397"/>
                <a:gd name="connsiteX8" fmla="*/ 447581 w 457397"/>
                <a:gd name="connsiteY8" fmla="*/ 246106 h 457397"/>
                <a:gd name="connsiteX9" fmla="*/ 450091 w 457397"/>
                <a:gd name="connsiteY9" fmla="*/ 239224 h 457397"/>
                <a:gd name="connsiteX10" fmla="*/ 406897 w 457397"/>
                <a:gd name="connsiteY10" fmla="*/ 360668 h 457397"/>
                <a:gd name="connsiteX11" fmla="*/ 370262 w 457397"/>
                <a:gd name="connsiteY11" fmla="*/ 391676 h 457397"/>
                <a:gd name="connsiteX12" fmla="*/ 293104 w 457397"/>
                <a:gd name="connsiteY12" fmla="*/ 392648 h 457397"/>
                <a:gd name="connsiteX13" fmla="*/ 262906 w 457397"/>
                <a:gd name="connsiteY13" fmla="*/ 267682 h 457397"/>
                <a:gd name="connsiteX14" fmla="*/ 378965 w 457397"/>
                <a:gd name="connsiteY14" fmla="*/ 296910 h 457397"/>
                <a:gd name="connsiteX15" fmla="*/ 396129 w 457397"/>
                <a:gd name="connsiteY15" fmla="*/ 292700 h 457397"/>
                <a:gd name="connsiteX16" fmla="*/ 370221 w 457397"/>
                <a:gd name="connsiteY16" fmla="*/ 391636 h 457397"/>
                <a:gd name="connsiteX17" fmla="*/ 222141 w 457397"/>
                <a:gd name="connsiteY17" fmla="*/ 235216 h 457397"/>
                <a:gd name="connsiteX18" fmla="*/ 254202 w 457397"/>
                <a:gd name="connsiteY18" fmla="*/ 261934 h 457397"/>
                <a:gd name="connsiteX19" fmla="*/ 284482 w 457397"/>
                <a:gd name="connsiteY19" fmla="*/ 389855 h 457397"/>
                <a:gd name="connsiteX20" fmla="*/ 154861 w 457397"/>
                <a:gd name="connsiteY20" fmla="*/ 302496 h 457397"/>
                <a:gd name="connsiteX21" fmla="*/ 67503 w 457397"/>
                <a:gd name="connsiteY21" fmla="*/ 172916 h 457397"/>
                <a:gd name="connsiteX22" fmla="*/ 195423 w 457397"/>
                <a:gd name="connsiteY22" fmla="*/ 203155 h 457397"/>
                <a:gd name="connsiteX23" fmla="*/ 222141 w 457397"/>
                <a:gd name="connsiteY23" fmla="*/ 235216 h 457397"/>
                <a:gd name="connsiteX24" fmla="*/ 173523 w 457397"/>
                <a:gd name="connsiteY24" fmla="*/ 80254 h 457397"/>
                <a:gd name="connsiteX25" fmla="*/ 176518 w 457397"/>
                <a:gd name="connsiteY25" fmla="*/ 64831 h 457397"/>
                <a:gd name="connsiteX26" fmla="*/ 307799 w 457397"/>
                <a:gd name="connsiteY26" fmla="*/ 149518 h 457397"/>
                <a:gd name="connsiteX27" fmla="*/ 392486 w 457397"/>
                <a:gd name="connsiteY27" fmla="*/ 280798 h 457397"/>
                <a:gd name="connsiteX28" fmla="*/ 377063 w 457397"/>
                <a:gd name="connsiteY28" fmla="*/ 283834 h 457397"/>
                <a:gd name="connsiteX29" fmla="*/ 173482 w 457397"/>
                <a:gd name="connsiteY29" fmla="*/ 80254 h 457397"/>
                <a:gd name="connsiteX30" fmla="*/ 325368 w 457397"/>
                <a:gd name="connsiteY30" fmla="*/ 36818 h 457397"/>
                <a:gd name="connsiteX31" fmla="*/ 388114 w 457397"/>
                <a:gd name="connsiteY31" fmla="*/ 69243 h 457397"/>
                <a:gd name="connsiteX32" fmla="*/ 420540 w 457397"/>
                <a:gd name="connsiteY32" fmla="*/ 131989 h 457397"/>
                <a:gd name="connsiteX33" fmla="*/ 374755 w 457397"/>
                <a:gd name="connsiteY33" fmla="*/ 147251 h 457397"/>
                <a:gd name="connsiteX34" fmla="*/ 338079 w 457397"/>
                <a:gd name="connsiteY34" fmla="*/ 119238 h 457397"/>
                <a:gd name="connsiteX35" fmla="*/ 310066 w 457397"/>
                <a:gd name="connsiteY35" fmla="*/ 82562 h 457397"/>
                <a:gd name="connsiteX36" fmla="*/ 325328 w 457397"/>
                <a:gd name="connsiteY36" fmla="*/ 36818 h 457397"/>
                <a:gd name="connsiteX37" fmla="*/ 240479 w 457397"/>
                <a:gd name="connsiteY37" fmla="*/ 10505 h 457397"/>
                <a:gd name="connsiteX38" fmla="*/ 260274 w 457397"/>
                <a:gd name="connsiteY38" fmla="*/ 9210 h 457397"/>
                <a:gd name="connsiteX39" fmla="*/ 323992 w 457397"/>
                <a:gd name="connsiteY39" fmla="*/ 28398 h 457397"/>
                <a:gd name="connsiteX40" fmla="*/ 312293 w 457397"/>
                <a:gd name="connsiteY40" fmla="*/ 28762 h 457397"/>
                <a:gd name="connsiteX41" fmla="*/ 289542 w 457397"/>
                <a:gd name="connsiteY41" fmla="*/ 62807 h 457397"/>
                <a:gd name="connsiteX42" fmla="*/ 325085 w 457397"/>
                <a:gd name="connsiteY42" fmla="*/ 132232 h 457397"/>
                <a:gd name="connsiteX43" fmla="*/ 394510 w 457397"/>
                <a:gd name="connsiteY43" fmla="*/ 167775 h 457397"/>
                <a:gd name="connsiteX44" fmla="*/ 428555 w 457397"/>
                <a:gd name="connsiteY44" fmla="*/ 145024 h 457397"/>
                <a:gd name="connsiteX45" fmla="*/ 428919 w 457397"/>
                <a:gd name="connsiteY45" fmla="*/ 133325 h 457397"/>
                <a:gd name="connsiteX46" fmla="*/ 448107 w 457397"/>
                <a:gd name="connsiteY46" fmla="*/ 197123 h 457397"/>
                <a:gd name="connsiteX47" fmla="*/ 446812 w 457397"/>
                <a:gd name="connsiteY47" fmla="*/ 216878 h 457397"/>
                <a:gd name="connsiteX48" fmla="*/ 399044 w 457397"/>
                <a:gd name="connsiteY48" fmla="*/ 278531 h 457397"/>
                <a:gd name="connsiteX49" fmla="*/ 310066 w 457397"/>
                <a:gd name="connsiteY49" fmla="*/ 147251 h 457397"/>
                <a:gd name="connsiteX50" fmla="*/ 178785 w 457397"/>
                <a:gd name="connsiteY50" fmla="*/ 58273 h 457397"/>
                <a:gd name="connsiteX51" fmla="*/ 240439 w 457397"/>
                <a:gd name="connsiteY51" fmla="*/ 10505 h 457397"/>
                <a:gd name="connsiteX52" fmla="*/ 160407 w 457397"/>
                <a:gd name="connsiteY52" fmla="*/ 78392 h 457397"/>
                <a:gd name="connsiteX53" fmla="*/ 189634 w 457397"/>
                <a:gd name="connsiteY53" fmla="*/ 194452 h 457397"/>
                <a:gd name="connsiteX54" fmla="*/ 64669 w 457397"/>
                <a:gd name="connsiteY54" fmla="*/ 164253 h 457397"/>
                <a:gd name="connsiteX55" fmla="*/ 65681 w 457397"/>
                <a:gd name="connsiteY55" fmla="*/ 87095 h 457397"/>
                <a:gd name="connsiteX56" fmla="*/ 164617 w 457397"/>
                <a:gd name="connsiteY56" fmla="*/ 61187 h 457397"/>
                <a:gd name="connsiteX57" fmla="*/ 160407 w 457397"/>
                <a:gd name="connsiteY57" fmla="*/ 78392 h 457397"/>
                <a:gd name="connsiteX58" fmla="*/ 218093 w 457397"/>
                <a:gd name="connsiteY58" fmla="*/ 7226 h 457397"/>
                <a:gd name="connsiteX59" fmla="*/ 211211 w 457397"/>
                <a:gd name="connsiteY59" fmla="*/ 9736 h 457397"/>
                <a:gd name="connsiteX60" fmla="*/ 167248 w 457397"/>
                <a:gd name="connsiteY60" fmla="*/ 54427 h 457397"/>
                <a:gd name="connsiteX61" fmla="*/ 98875 w 457397"/>
                <a:gd name="connsiteY61" fmla="*/ 49853 h 457397"/>
                <a:gd name="connsiteX62" fmla="*/ 96649 w 457397"/>
                <a:gd name="connsiteY62" fmla="*/ 50419 h 457397"/>
                <a:gd name="connsiteX63" fmla="*/ 218093 w 457397"/>
                <a:gd name="connsiteY63" fmla="*/ 7226 h 457397"/>
                <a:gd name="connsiteX64" fmla="*/ 48395 w 457397"/>
                <a:gd name="connsiteY64" fmla="*/ 99483 h 457397"/>
                <a:gd name="connsiteX65" fmla="*/ 45076 w 457397"/>
                <a:gd name="connsiteY65" fmla="*/ 125431 h 457397"/>
                <a:gd name="connsiteX66" fmla="*/ 51229 w 457397"/>
                <a:gd name="connsiteY66" fmla="*/ 168868 h 457397"/>
                <a:gd name="connsiteX67" fmla="*/ 7145 w 457397"/>
                <a:gd name="connsiteY67" fmla="*/ 220360 h 457397"/>
                <a:gd name="connsiteX68" fmla="*/ 48395 w 457397"/>
                <a:gd name="connsiteY68" fmla="*/ 99483 h 457397"/>
                <a:gd name="connsiteX69" fmla="*/ 115837 w 457397"/>
                <a:gd name="connsiteY69" fmla="*/ 405197 h 457397"/>
                <a:gd name="connsiteX70" fmla="*/ 80416 w 457397"/>
                <a:gd name="connsiteY70" fmla="*/ 376982 h 457397"/>
                <a:gd name="connsiteX71" fmla="*/ 52201 w 457397"/>
                <a:gd name="connsiteY71" fmla="*/ 341561 h 457397"/>
                <a:gd name="connsiteX72" fmla="*/ 64102 w 457397"/>
                <a:gd name="connsiteY72" fmla="*/ 299096 h 457397"/>
                <a:gd name="connsiteX73" fmla="*/ 124621 w 457397"/>
                <a:gd name="connsiteY73" fmla="*/ 332776 h 457397"/>
                <a:gd name="connsiteX74" fmla="*/ 158302 w 457397"/>
                <a:gd name="connsiteY74" fmla="*/ 393296 h 457397"/>
                <a:gd name="connsiteX75" fmla="*/ 115837 w 457397"/>
                <a:gd name="connsiteY75" fmla="*/ 405197 h 457397"/>
                <a:gd name="connsiteX76" fmla="*/ 219915 w 457397"/>
                <a:gd name="connsiteY76" fmla="*/ 440294 h 457397"/>
                <a:gd name="connsiteX77" fmla="*/ 149032 w 457397"/>
                <a:gd name="connsiteY77" fmla="*/ 425923 h 457397"/>
                <a:gd name="connsiteX78" fmla="*/ 167329 w 457397"/>
                <a:gd name="connsiteY78" fmla="*/ 405359 h 457397"/>
                <a:gd name="connsiteX79" fmla="*/ 126848 w 457397"/>
                <a:gd name="connsiteY79" fmla="*/ 330509 h 457397"/>
                <a:gd name="connsiteX80" fmla="*/ 51998 w 457397"/>
                <a:gd name="connsiteY80" fmla="*/ 290028 h 457397"/>
                <a:gd name="connsiteX81" fmla="*/ 31434 w 457397"/>
                <a:gd name="connsiteY81" fmla="*/ 308325 h 457397"/>
                <a:gd name="connsiteX82" fmla="*/ 17063 w 457397"/>
                <a:gd name="connsiteY82" fmla="*/ 237443 h 457397"/>
                <a:gd name="connsiteX83" fmla="*/ 53901 w 457397"/>
                <a:gd name="connsiteY83" fmla="*/ 178340 h 457397"/>
                <a:gd name="connsiteX84" fmla="*/ 141826 w 457397"/>
                <a:gd name="connsiteY84" fmla="*/ 315531 h 457397"/>
                <a:gd name="connsiteX85" fmla="*/ 279017 w 457397"/>
                <a:gd name="connsiteY85" fmla="*/ 403456 h 457397"/>
                <a:gd name="connsiteX86" fmla="*/ 219874 w 457397"/>
                <a:gd name="connsiteY86" fmla="*/ 440294 h 457397"/>
                <a:gd name="connsiteX87" fmla="*/ 237038 w 457397"/>
                <a:gd name="connsiteY87" fmla="*/ 450212 h 457397"/>
                <a:gd name="connsiteX88" fmla="*/ 288530 w 457397"/>
                <a:gd name="connsiteY88" fmla="*/ 406128 h 457397"/>
                <a:gd name="connsiteX89" fmla="*/ 332007 w 457397"/>
                <a:gd name="connsiteY89" fmla="*/ 412281 h 457397"/>
                <a:gd name="connsiteX90" fmla="*/ 357915 w 457397"/>
                <a:gd name="connsiteY90" fmla="*/ 408962 h 457397"/>
                <a:gd name="connsiteX91" fmla="*/ 237079 w 457397"/>
                <a:gd name="connsiteY91" fmla="*/ 450212 h 457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457397" h="457397">
                  <a:moveTo>
                    <a:pt x="390422" y="66976"/>
                  </a:moveTo>
                  <a:cubicBezTo>
                    <a:pt x="301120" y="-22325"/>
                    <a:pt x="156278" y="-22325"/>
                    <a:pt x="66976" y="66976"/>
                  </a:cubicBezTo>
                  <a:cubicBezTo>
                    <a:pt x="-22325" y="156278"/>
                    <a:pt x="-22325" y="301120"/>
                    <a:pt x="66976" y="390422"/>
                  </a:cubicBezTo>
                  <a:cubicBezTo>
                    <a:pt x="156278" y="479723"/>
                    <a:pt x="301120" y="479723"/>
                    <a:pt x="390422" y="390422"/>
                  </a:cubicBezTo>
                  <a:cubicBezTo>
                    <a:pt x="479723" y="301120"/>
                    <a:pt x="479723" y="156278"/>
                    <a:pt x="390422" y="66976"/>
                  </a:cubicBezTo>
                  <a:close/>
                  <a:moveTo>
                    <a:pt x="406938" y="360708"/>
                  </a:moveTo>
                  <a:cubicBezTo>
                    <a:pt x="407140" y="359980"/>
                    <a:pt x="407343" y="359251"/>
                    <a:pt x="407504" y="358482"/>
                  </a:cubicBezTo>
                  <a:cubicBezTo>
                    <a:pt x="412362" y="336703"/>
                    <a:pt x="409934" y="313386"/>
                    <a:pt x="402890" y="290068"/>
                  </a:cubicBezTo>
                  <a:cubicBezTo>
                    <a:pt x="422523" y="281446"/>
                    <a:pt x="439161" y="266063"/>
                    <a:pt x="447581" y="246106"/>
                  </a:cubicBezTo>
                  <a:cubicBezTo>
                    <a:pt x="448512" y="243839"/>
                    <a:pt x="449322" y="241531"/>
                    <a:pt x="450091" y="239224"/>
                  </a:cubicBezTo>
                  <a:cubicBezTo>
                    <a:pt x="448067" y="282134"/>
                    <a:pt x="433655" y="324558"/>
                    <a:pt x="406897" y="360668"/>
                  </a:cubicBezTo>
                  <a:close/>
                  <a:moveTo>
                    <a:pt x="370262" y="391676"/>
                  </a:moveTo>
                  <a:cubicBezTo>
                    <a:pt x="347309" y="402404"/>
                    <a:pt x="320389" y="401028"/>
                    <a:pt x="293104" y="392648"/>
                  </a:cubicBezTo>
                  <a:cubicBezTo>
                    <a:pt x="304197" y="350102"/>
                    <a:pt x="288004" y="304965"/>
                    <a:pt x="262906" y="267682"/>
                  </a:cubicBezTo>
                  <a:cubicBezTo>
                    <a:pt x="297476" y="289785"/>
                    <a:pt x="337877" y="302820"/>
                    <a:pt x="378965" y="296910"/>
                  </a:cubicBezTo>
                  <a:cubicBezTo>
                    <a:pt x="384795" y="296100"/>
                    <a:pt x="390583" y="294643"/>
                    <a:pt x="396129" y="292700"/>
                  </a:cubicBezTo>
                  <a:cubicBezTo>
                    <a:pt x="405480" y="326906"/>
                    <a:pt x="405643" y="373055"/>
                    <a:pt x="370221" y="391636"/>
                  </a:cubicBezTo>
                  <a:close/>
                  <a:moveTo>
                    <a:pt x="222141" y="235216"/>
                  </a:moveTo>
                  <a:cubicBezTo>
                    <a:pt x="231856" y="244932"/>
                    <a:pt x="242705" y="253878"/>
                    <a:pt x="254202" y="261934"/>
                  </a:cubicBezTo>
                  <a:cubicBezTo>
                    <a:pt x="280272" y="299582"/>
                    <a:pt x="297476" y="347430"/>
                    <a:pt x="284482" y="389855"/>
                  </a:cubicBezTo>
                  <a:cubicBezTo>
                    <a:pt x="234164" y="371881"/>
                    <a:pt x="184088" y="331724"/>
                    <a:pt x="154861" y="302496"/>
                  </a:cubicBezTo>
                  <a:cubicBezTo>
                    <a:pt x="125634" y="273228"/>
                    <a:pt x="85436" y="223193"/>
                    <a:pt x="67503" y="172916"/>
                  </a:cubicBezTo>
                  <a:cubicBezTo>
                    <a:pt x="109886" y="159921"/>
                    <a:pt x="157776" y="177085"/>
                    <a:pt x="195423" y="203155"/>
                  </a:cubicBezTo>
                  <a:cubicBezTo>
                    <a:pt x="203519" y="214652"/>
                    <a:pt x="212425" y="225501"/>
                    <a:pt x="222141" y="235216"/>
                  </a:cubicBezTo>
                  <a:close/>
                  <a:moveTo>
                    <a:pt x="173523" y="80254"/>
                  </a:moveTo>
                  <a:cubicBezTo>
                    <a:pt x="174049" y="74911"/>
                    <a:pt x="175061" y="69769"/>
                    <a:pt x="176518" y="64831"/>
                  </a:cubicBezTo>
                  <a:cubicBezTo>
                    <a:pt x="226351" y="81307"/>
                    <a:pt x="270880" y="112599"/>
                    <a:pt x="307799" y="149518"/>
                  </a:cubicBezTo>
                  <a:cubicBezTo>
                    <a:pt x="344718" y="186436"/>
                    <a:pt x="376010" y="230966"/>
                    <a:pt x="392486" y="280798"/>
                  </a:cubicBezTo>
                  <a:cubicBezTo>
                    <a:pt x="387547" y="282255"/>
                    <a:pt x="382406" y="283308"/>
                    <a:pt x="377063" y="283834"/>
                  </a:cubicBezTo>
                  <a:cubicBezTo>
                    <a:pt x="279584" y="293752"/>
                    <a:pt x="163564" y="177773"/>
                    <a:pt x="173482" y="80254"/>
                  </a:cubicBezTo>
                  <a:close/>
                  <a:moveTo>
                    <a:pt x="325368" y="36818"/>
                  </a:moveTo>
                  <a:cubicBezTo>
                    <a:pt x="349212" y="38518"/>
                    <a:pt x="371152" y="52727"/>
                    <a:pt x="388114" y="69243"/>
                  </a:cubicBezTo>
                  <a:cubicBezTo>
                    <a:pt x="404630" y="86245"/>
                    <a:pt x="418839" y="108186"/>
                    <a:pt x="420540" y="131989"/>
                  </a:cubicBezTo>
                  <a:cubicBezTo>
                    <a:pt x="421592" y="161662"/>
                    <a:pt x="393660" y="157614"/>
                    <a:pt x="374755" y="147251"/>
                  </a:cubicBezTo>
                  <a:cubicBezTo>
                    <a:pt x="361113" y="140166"/>
                    <a:pt x="348969" y="130127"/>
                    <a:pt x="338079" y="119238"/>
                  </a:cubicBezTo>
                  <a:cubicBezTo>
                    <a:pt x="327190" y="108348"/>
                    <a:pt x="317191" y="96204"/>
                    <a:pt x="310066" y="82562"/>
                  </a:cubicBezTo>
                  <a:cubicBezTo>
                    <a:pt x="299703" y="63657"/>
                    <a:pt x="295695" y="35765"/>
                    <a:pt x="325328" y="36818"/>
                  </a:cubicBezTo>
                  <a:close/>
                  <a:moveTo>
                    <a:pt x="240479" y="10505"/>
                  </a:moveTo>
                  <a:cubicBezTo>
                    <a:pt x="247077" y="9574"/>
                    <a:pt x="253716" y="9169"/>
                    <a:pt x="260274" y="9210"/>
                  </a:cubicBezTo>
                  <a:cubicBezTo>
                    <a:pt x="282175" y="12327"/>
                    <a:pt x="303670" y="18723"/>
                    <a:pt x="323992" y="28398"/>
                  </a:cubicBezTo>
                  <a:cubicBezTo>
                    <a:pt x="320106" y="28074"/>
                    <a:pt x="316179" y="28155"/>
                    <a:pt x="312293" y="28762"/>
                  </a:cubicBezTo>
                  <a:cubicBezTo>
                    <a:pt x="296181" y="31596"/>
                    <a:pt x="288287" y="47707"/>
                    <a:pt x="289542" y="62807"/>
                  </a:cubicBezTo>
                  <a:cubicBezTo>
                    <a:pt x="291566" y="89808"/>
                    <a:pt x="306504" y="113651"/>
                    <a:pt x="325085" y="132232"/>
                  </a:cubicBezTo>
                  <a:cubicBezTo>
                    <a:pt x="343666" y="150813"/>
                    <a:pt x="367550" y="165750"/>
                    <a:pt x="394510" y="167775"/>
                  </a:cubicBezTo>
                  <a:cubicBezTo>
                    <a:pt x="409650" y="169029"/>
                    <a:pt x="425721" y="161095"/>
                    <a:pt x="428555" y="145024"/>
                  </a:cubicBezTo>
                  <a:cubicBezTo>
                    <a:pt x="429162" y="141097"/>
                    <a:pt x="429243" y="137211"/>
                    <a:pt x="428919" y="133325"/>
                  </a:cubicBezTo>
                  <a:cubicBezTo>
                    <a:pt x="438594" y="153687"/>
                    <a:pt x="444990" y="175223"/>
                    <a:pt x="448107" y="197123"/>
                  </a:cubicBezTo>
                  <a:cubicBezTo>
                    <a:pt x="448188" y="203681"/>
                    <a:pt x="447783" y="210280"/>
                    <a:pt x="446812" y="216878"/>
                  </a:cubicBezTo>
                  <a:cubicBezTo>
                    <a:pt x="442683" y="245620"/>
                    <a:pt x="424507" y="268411"/>
                    <a:pt x="399044" y="278531"/>
                  </a:cubicBezTo>
                  <a:cubicBezTo>
                    <a:pt x="380544" y="228051"/>
                    <a:pt x="341925" y="179069"/>
                    <a:pt x="310066" y="147251"/>
                  </a:cubicBezTo>
                  <a:cubicBezTo>
                    <a:pt x="278207" y="115432"/>
                    <a:pt x="229266" y="76773"/>
                    <a:pt x="178785" y="58273"/>
                  </a:cubicBezTo>
                  <a:cubicBezTo>
                    <a:pt x="188906" y="32810"/>
                    <a:pt x="211737" y="14634"/>
                    <a:pt x="240439" y="10505"/>
                  </a:cubicBezTo>
                  <a:close/>
                  <a:moveTo>
                    <a:pt x="160407" y="78392"/>
                  </a:moveTo>
                  <a:cubicBezTo>
                    <a:pt x="154497" y="119480"/>
                    <a:pt x="167532" y="159881"/>
                    <a:pt x="189634" y="194452"/>
                  </a:cubicBezTo>
                  <a:cubicBezTo>
                    <a:pt x="152351" y="169353"/>
                    <a:pt x="107255" y="153120"/>
                    <a:pt x="64669" y="164253"/>
                  </a:cubicBezTo>
                  <a:cubicBezTo>
                    <a:pt x="56330" y="136968"/>
                    <a:pt x="54953" y="110089"/>
                    <a:pt x="65681" y="87095"/>
                  </a:cubicBezTo>
                  <a:cubicBezTo>
                    <a:pt x="84221" y="51674"/>
                    <a:pt x="130410" y="51836"/>
                    <a:pt x="164617" y="61187"/>
                  </a:cubicBezTo>
                  <a:cubicBezTo>
                    <a:pt x="162674" y="66774"/>
                    <a:pt x="161257" y="72522"/>
                    <a:pt x="160407" y="78392"/>
                  </a:cubicBezTo>
                  <a:close/>
                  <a:moveTo>
                    <a:pt x="218093" y="7226"/>
                  </a:moveTo>
                  <a:cubicBezTo>
                    <a:pt x="215785" y="7995"/>
                    <a:pt x="213518" y="8805"/>
                    <a:pt x="211211" y="9736"/>
                  </a:cubicBezTo>
                  <a:cubicBezTo>
                    <a:pt x="191254" y="18156"/>
                    <a:pt x="175871" y="34794"/>
                    <a:pt x="167248" y="54427"/>
                  </a:cubicBezTo>
                  <a:cubicBezTo>
                    <a:pt x="143931" y="47383"/>
                    <a:pt x="120614" y="44954"/>
                    <a:pt x="98875" y="49853"/>
                  </a:cubicBezTo>
                  <a:cubicBezTo>
                    <a:pt x="98106" y="50015"/>
                    <a:pt x="97378" y="50217"/>
                    <a:pt x="96649" y="50419"/>
                  </a:cubicBezTo>
                  <a:cubicBezTo>
                    <a:pt x="132758" y="23661"/>
                    <a:pt x="175183" y="9250"/>
                    <a:pt x="218093" y="7226"/>
                  </a:cubicBezTo>
                  <a:close/>
                  <a:moveTo>
                    <a:pt x="48395" y="99483"/>
                  </a:moveTo>
                  <a:cubicBezTo>
                    <a:pt x="46129" y="107660"/>
                    <a:pt x="44995" y="116404"/>
                    <a:pt x="45076" y="125431"/>
                  </a:cubicBezTo>
                  <a:cubicBezTo>
                    <a:pt x="45278" y="139964"/>
                    <a:pt x="47464" y="154537"/>
                    <a:pt x="51229" y="168868"/>
                  </a:cubicBezTo>
                  <a:cubicBezTo>
                    <a:pt x="29491" y="178421"/>
                    <a:pt x="13905" y="197933"/>
                    <a:pt x="7145" y="220360"/>
                  </a:cubicBezTo>
                  <a:cubicBezTo>
                    <a:pt x="8724" y="177773"/>
                    <a:pt x="22487" y="135592"/>
                    <a:pt x="48395" y="99483"/>
                  </a:cubicBezTo>
                  <a:close/>
                  <a:moveTo>
                    <a:pt x="115837" y="405197"/>
                  </a:moveTo>
                  <a:cubicBezTo>
                    <a:pt x="102762" y="397668"/>
                    <a:pt x="91103" y="387669"/>
                    <a:pt x="80416" y="376982"/>
                  </a:cubicBezTo>
                  <a:cubicBezTo>
                    <a:pt x="69729" y="366295"/>
                    <a:pt x="59730" y="354636"/>
                    <a:pt x="52201" y="341561"/>
                  </a:cubicBezTo>
                  <a:cubicBezTo>
                    <a:pt x="41675" y="324154"/>
                    <a:pt x="34105" y="295736"/>
                    <a:pt x="64102" y="299096"/>
                  </a:cubicBezTo>
                  <a:cubicBezTo>
                    <a:pt x="87136" y="302456"/>
                    <a:pt x="108227" y="316381"/>
                    <a:pt x="124621" y="332776"/>
                  </a:cubicBezTo>
                  <a:cubicBezTo>
                    <a:pt x="141017" y="349171"/>
                    <a:pt x="154982" y="370221"/>
                    <a:pt x="158302" y="393296"/>
                  </a:cubicBezTo>
                  <a:cubicBezTo>
                    <a:pt x="161662" y="423333"/>
                    <a:pt x="133203" y="415722"/>
                    <a:pt x="115837" y="405197"/>
                  </a:cubicBezTo>
                  <a:close/>
                  <a:moveTo>
                    <a:pt x="219915" y="440294"/>
                  </a:moveTo>
                  <a:cubicBezTo>
                    <a:pt x="195261" y="441954"/>
                    <a:pt x="171296" y="436165"/>
                    <a:pt x="149032" y="425923"/>
                  </a:cubicBezTo>
                  <a:cubicBezTo>
                    <a:pt x="158504" y="423373"/>
                    <a:pt x="166196" y="416653"/>
                    <a:pt x="167329" y="405359"/>
                  </a:cubicBezTo>
                  <a:cubicBezTo>
                    <a:pt x="169313" y="377225"/>
                    <a:pt x="145388" y="349050"/>
                    <a:pt x="126848" y="330509"/>
                  </a:cubicBezTo>
                  <a:cubicBezTo>
                    <a:pt x="108308" y="311969"/>
                    <a:pt x="80092" y="288004"/>
                    <a:pt x="51998" y="290028"/>
                  </a:cubicBezTo>
                  <a:cubicBezTo>
                    <a:pt x="40704" y="291202"/>
                    <a:pt x="33984" y="298893"/>
                    <a:pt x="31434" y="308325"/>
                  </a:cubicBezTo>
                  <a:cubicBezTo>
                    <a:pt x="21192" y="286061"/>
                    <a:pt x="15403" y="262096"/>
                    <a:pt x="17063" y="237443"/>
                  </a:cubicBezTo>
                  <a:cubicBezTo>
                    <a:pt x="18723" y="213033"/>
                    <a:pt x="32162" y="189837"/>
                    <a:pt x="53901" y="178340"/>
                  </a:cubicBezTo>
                  <a:cubicBezTo>
                    <a:pt x="70053" y="230197"/>
                    <a:pt x="105636" y="279300"/>
                    <a:pt x="141826" y="315531"/>
                  </a:cubicBezTo>
                  <a:cubicBezTo>
                    <a:pt x="178016" y="351762"/>
                    <a:pt x="227161" y="387304"/>
                    <a:pt x="279017" y="403456"/>
                  </a:cubicBezTo>
                  <a:cubicBezTo>
                    <a:pt x="267521" y="425235"/>
                    <a:pt x="244284" y="438675"/>
                    <a:pt x="219874" y="440294"/>
                  </a:cubicBezTo>
                  <a:close/>
                  <a:moveTo>
                    <a:pt x="237038" y="450212"/>
                  </a:moveTo>
                  <a:cubicBezTo>
                    <a:pt x="259465" y="443411"/>
                    <a:pt x="278977" y="427826"/>
                    <a:pt x="288530" y="406128"/>
                  </a:cubicBezTo>
                  <a:cubicBezTo>
                    <a:pt x="302901" y="409893"/>
                    <a:pt x="317434" y="412119"/>
                    <a:pt x="332007" y="412281"/>
                  </a:cubicBezTo>
                  <a:cubicBezTo>
                    <a:pt x="340994" y="412362"/>
                    <a:pt x="349738" y="411269"/>
                    <a:pt x="357915" y="408962"/>
                  </a:cubicBezTo>
                  <a:cubicBezTo>
                    <a:pt x="321806" y="434870"/>
                    <a:pt x="279624" y="448593"/>
                    <a:pt x="237079" y="450212"/>
                  </a:cubicBezTo>
                  <a:close/>
                </a:path>
              </a:pathLst>
            </a:custGeom>
            <a:solidFill>
              <a:srgbClr val="FFFFFF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50" name="Title 1">
            <a:extLst>
              <a:ext uri="{FF2B5EF4-FFF2-40B4-BE49-F238E27FC236}">
                <a16:creationId xmlns:a16="http://schemas.microsoft.com/office/drawing/2014/main" xmlns="" id="{F7B1E77B-0D57-0CD5-6D9D-E5054C1DB2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06020"/>
            <a:ext cx="4895849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Заключительный</a:t>
            </a:r>
            <a:r>
              <a:rPr lang="en-US" dirty="0"/>
              <a:t> </a:t>
            </a:r>
            <a:r>
              <a:rPr lang="ru-RU" dirty="0"/>
              <a:t>слайд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8117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4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>
            <a:extLst>
              <a:ext uri="{FF2B5EF4-FFF2-40B4-BE49-F238E27FC236}">
                <a16:creationId xmlns:a16="http://schemas.microsoft.com/office/drawing/2014/main" xmlns="" id="{F7B1E77B-0D57-0CD5-6D9D-E5054C1DB2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06020"/>
            <a:ext cx="4895849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Заключительный</a:t>
            </a:r>
            <a:r>
              <a:rPr lang="en-US" dirty="0"/>
              <a:t> </a:t>
            </a:r>
            <a:r>
              <a:rPr lang="ru-RU" dirty="0"/>
              <a:t>слайд</a:t>
            </a:r>
            <a:endParaRPr lang="en-US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C37AF724-7B52-4278-EF40-D4417A4B17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369395"/>
            <a:ext cx="3351031" cy="51873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15F4E7BC-4CC6-9D83-5AF5-DA8FE9F2599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67154" y="6112841"/>
            <a:ext cx="3354418" cy="37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6708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85B1E75-BA47-43C5-A980-92045D445C18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85A003-3EBD-471E-9B26-6A594E9A2E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688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627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98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5" r:id="rId12"/>
    <p:sldLayoutId id="2147483766" r:id="rId13"/>
    <p:sldLayoutId id="2147483767" r:id="rId14"/>
    <p:sldLayoutId id="2147483772" r:id="rId15"/>
    <p:sldLayoutId id="2147483768" r:id="rId16"/>
    <p:sldLayoutId id="2147483794" r:id="rId17"/>
    <p:sldLayoutId id="2147483770" r:id="rId18"/>
    <p:sldLayoutId id="2147483789" r:id="rId19"/>
    <p:sldLayoutId id="2147483783" r:id="rId20"/>
    <p:sldLayoutId id="2147483784" r:id="rId21"/>
    <p:sldLayoutId id="2147483785" r:id="rId22"/>
    <p:sldLayoutId id="2147483786" r:id="rId23"/>
    <p:sldLayoutId id="2147483795" r:id="rId24"/>
    <p:sldLayoutId id="2147483796" r:id="rId25"/>
    <p:sldLayoutId id="2147483797" r:id="rId26"/>
    <p:sldLayoutId id="2147483799" r:id="rId27"/>
    <p:sldLayoutId id="2147483800" r:id="rId28"/>
  </p:sldLayoutIdLst>
  <p:hf hdr="0"/>
  <p:txStyles>
    <p:titleStyle>
      <a:lvl1pPr algn="l" defTabSz="914400" rtl="0" eaLnBrk="1" latinLnBrk="0" hangingPunct="1">
        <a:lnSpc>
          <a:spcPts val="4500"/>
        </a:lnSpc>
        <a:spcBef>
          <a:spcPct val="0"/>
        </a:spcBef>
        <a:buNone/>
        <a:defRPr sz="4500" b="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 userDrawn="1">
          <p15:clr>
            <a:srgbClr val="F26B43"/>
          </p15:clr>
        </p15:guide>
        <p15:guide id="2" pos="7446" userDrawn="1">
          <p15:clr>
            <a:srgbClr val="F26B43"/>
          </p15:clr>
        </p15:guide>
        <p15:guide id="3" orient="horz" pos="232" userDrawn="1">
          <p15:clr>
            <a:srgbClr val="F26B43"/>
          </p15:clr>
        </p15:guide>
        <p15:guide id="4" orient="horz" pos="4088" userDrawn="1">
          <p15:clr>
            <a:srgbClr val="F26B43"/>
          </p15:clr>
        </p15:guide>
        <p15:guide id="5" pos="710" userDrawn="1">
          <p15:clr>
            <a:srgbClr val="F26B43"/>
          </p15:clr>
        </p15:guide>
        <p15:guide id="6" pos="846" userDrawn="1">
          <p15:clr>
            <a:srgbClr val="F26B43"/>
          </p15:clr>
        </p15:guide>
        <p15:guide id="7" pos="1323" userDrawn="1">
          <p15:clr>
            <a:srgbClr val="F26B43"/>
          </p15:clr>
        </p15:guide>
        <p15:guide id="8" pos="1459" userDrawn="1">
          <p15:clr>
            <a:srgbClr val="F26B43"/>
          </p15:clr>
        </p15:guide>
        <p15:guide id="9" pos="1935" userDrawn="1">
          <p15:clr>
            <a:srgbClr val="F26B43"/>
          </p15:clr>
        </p15:guide>
        <p15:guide id="10" pos="2071" userDrawn="1">
          <p15:clr>
            <a:srgbClr val="F26B43"/>
          </p15:clr>
        </p15:guide>
        <p15:guide id="11" pos="2547" userDrawn="1">
          <p15:clr>
            <a:srgbClr val="F26B43"/>
          </p15:clr>
        </p15:guide>
        <p15:guide id="12" pos="2683" userDrawn="1">
          <p15:clr>
            <a:srgbClr val="F26B43"/>
          </p15:clr>
        </p15:guide>
        <p15:guide id="13" pos="3160" userDrawn="1">
          <p15:clr>
            <a:srgbClr val="F26B43"/>
          </p15:clr>
        </p15:guide>
        <p15:guide id="14" pos="3296" userDrawn="1">
          <p15:clr>
            <a:srgbClr val="F26B43"/>
          </p15:clr>
        </p15:guide>
        <p15:guide id="15" pos="3772" userDrawn="1">
          <p15:clr>
            <a:srgbClr val="F26B43"/>
          </p15:clr>
        </p15:guide>
        <p15:guide id="16" pos="3908" userDrawn="1">
          <p15:clr>
            <a:srgbClr val="F26B43"/>
          </p15:clr>
        </p15:guide>
        <p15:guide id="17" pos="4384" userDrawn="1">
          <p15:clr>
            <a:srgbClr val="F26B43"/>
          </p15:clr>
        </p15:guide>
        <p15:guide id="18" pos="4520" userDrawn="1">
          <p15:clr>
            <a:srgbClr val="F26B43"/>
          </p15:clr>
        </p15:guide>
        <p15:guide id="19" pos="4997" userDrawn="1">
          <p15:clr>
            <a:srgbClr val="F26B43"/>
          </p15:clr>
        </p15:guide>
        <p15:guide id="20" pos="5133" userDrawn="1">
          <p15:clr>
            <a:srgbClr val="F26B43"/>
          </p15:clr>
        </p15:guide>
        <p15:guide id="21" pos="5609" userDrawn="1">
          <p15:clr>
            <a:srgbClr val="F26B43"/>
          </p15:clr>
        </p15:guide>
        <p15:guide id="22" pos="5745" userDrawn="1">
          <p15:clr>
            <a:srgbClr val="F26B43"/>
          </p15:clr>
        </p15:guide>
        <p15:guide id="23" pos="6357" userDrawn="1">
          <p15:clr>
            <a:srgbClr val="F26B43"/>
          </p15:clr>
        </p15:guide>
        <p15:guide id="24" pos="6834" userDrawn="1">
          <p15:clr>
            <a:srgbClr val="F26B43"/>
          </p15:clr>
        </p15:guide>
        <p15:guide id="25" pos="6221" userDrawn="1">
          <p15:clr>
            <a:srgbClr val="F26B43"/>
          </p15:clr>
        </p15:guide>
        <p15:guide id="26" pos="697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10" Type="http://schemas.openxmlformats.org/officeDocument/2006/relationships/image" Target="../media/yug_TbSnowflake_4BAF46.png"/><Relationship Id="rId11" Type="http://schemas.openxmlformats.org/officeDocument/2006/relationships/image" Target="../media/yug_TbTool_4BAF46.png"/><Relationship Id="rId12" Type="http://schemas.openxmlformats.org/officeDocument/2006/relationships/image" Target="../media/yug_TbCalendarTime_4BAF46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10" Type="http://schemas.openxmlformats.org/officeDocument/2006/relationships/image" Target="../media/yug_TbStack2_4BAF46.png"/><Relationship Id="rId11" Type="http://schemas.openxmlformats.org/officeDocument/2006/relationships/image" Target="../media/yug_TbMountain_4BAF46.png"/><Relationship Id="rId12" Type="http://schemas.openxmlformats.org/officeDocument/2006/relationships/image" Target="../media/yug_TbDroplet_4BAF46.png"/><Relationship Id="rId13" Type="http://schemas.openxmlformats.org/officeDocument/2006/relationships/image" Target="../media/yug_TbTruck_4BAF46.png"/><Relationship Id="rId14" Type="http://schemas.openxmlformats.org/officeDocument/2006/relationships/image" Target="../media/yug_TbGasStation_4BAF46.png"/><Relationship Id="rId15" Type="http://schemas.openxmlformats.org/officeDocument/2006/relationships/image" Target="../media/yug_TbUsersPlus_FFFFFF.png"/><Relationship Id="rId16" Type="http://schemas.openxmlformats.org/officeDocument/2006/relationships/image" Target="../media/yug_TbTruckDelivery_FFFFFF.png"/><Relationship Id="rId17" Type="http://schemas.openxmlformats.org/officeDocument/2006/relationships/image" Target="../media/yug_TbHammer_FFFFFF.png"/><Relationship Id="rId18" Type="http://schemas.openxmlformats.org/officeDocument/2006/relationships/image" Target="../media/yug_TbArrowDownCircle_FFFFFF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10" Type="http://schemas.openxmlformats.org/officeDocument/2006/relationships/image" Target="../media/yug_TbListCheck_4BAF46.png"/><Relationship Id="rId11" Type="http://schemas.openxmlformats.org/officeDocument/2006/relationships/image" Target="../media/yug_TbAlertTriangle_4BAF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xmlns="" id="{4DEA05BC-9EDB-797F-154D-06DAF0BF5962}"/>
              </a:ext>
            </a:extLst>
          </p:cNvPr>
          <p:cNvSpPr/>
          <p:nvPr/>
        </p:nvSpPr>
        <p:spPr>
          <a:xfrm>
            <a:off x="371475" y="6141472"/>
            <a:ext cx="1750000" cy="348228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 smtClean="0">
                <a:solidFill>
                  <a:schemeClr val="tx1"/>
                </a:solidFill>
                <a:latin typeface="+mj-lt"/>
              </a:rPr>
              <a:t>01.10.2026</a:t>
            </a:r>
            <a:endParaRPr lang="ru-RU" sz="18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xmlns="" id="{2397A368-0B17-C256-D8F0-BB1C7269A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483549"/>
            <a:ext cx="6567710" cy="2254704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ru-RU" dirty="0"/>
              <a:t>Статус подготовительных работ и переезда МБУ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D37C6F03-DA2D-52A5-1AE3-CE88BBA6B5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5" y="4011257"/>
            <a:ext cx="5832475" cy="1073491"/>
          </a:xfrm>
        </p:spPr>
        <p:txBody>
          <a:bodyPr/>
          <a:lstStyle/>
          <a:p>
            <a:r>
              <a:rPr lang="ru-RU" dirty="0"/>
              <a:t>ПЛОЩАДКА СКВАЖИН ЮГ 1-3 ЮЖНОГО УЧАСТКА</a:t>
            </a:r>
          </a:p>
          <a:p>
            <a:r>
              <a:rPr lang="ru-RU" dirty="0" smtClean="0"/>
              <a:t>МУТНОВСКОГО МЕСТОРОЖДЕНИЯ </a:t>
            </a:r>
            <a:r>
              <a:rPr lang="ru-RU" dirty="0"/>
              <a:t>ПАРОГЕОТЕРМ</a:t>
            </a:r>
          </a:p>
          <a:p>
            <a:pPr>
              <a:spcBef>
                <a:spcPts val="1200"/>
              </a:spcBef>
            </a:pPr>
            <a:r>
              <a:rPr lang="ru-RU" dirty="0"/>
              <a:t>Статус по состоянию на 01.10.2026</a:t>
            </a:r>
          </a:p>
        </p:txBody>
      </p:sp>
    </p:spTree>
    <p:extLst>
      <p:ext uri="{BB962C8B-B14F-4D97-AF65-F5344CB8AC3E}">
        <p14:creationId xmlns:p14="http://schemas.microsoft.com/office/powerpoint/2010/main" val="3112152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Статус подготовки площадки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Площадка скважин ЮГ 1-3: выполнение работ на 01.10.2026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Площадка скважин ЮГ 1-3 · Южный участок Мутновского месторождения</a:t>
            </a:r>
          </a:p>
        </p:txBody>
      </p:sp>
      <p:sp>
        <p:nvSpPr>
          <p:cNvPr id="11" name="Фигура 11"/>
          <p:cNvSpPr/>
          <p:nvPr/>
        </p:nvSpPr>
        <p:spPr>
          <a:xfrm>
            <a:off x="371364" y="1560000"/>
            <a:ext cx="3050000" cy="462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2" name="Фигура 12"/>
          <p:cNvSpPr/>
          <p:nvPr/>
        </p:nvSpPr>
        <p:spPr>
          <a:xfrm>
            <a:off x="371364" y="1491000"/>
            <a:ext cx="3050000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3" name="TextBox 13"/>
          <p:cNvSpPr txBox="1"/>
          <p:nvPr/>
        </p:nvSpPr>
        <p:spPr>
          <a:xfrm>
            <a:off x="571364" y="1710000"/>
            <a:ext cx="2650000" cy="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chemeClr val="tx2"/>
                </a:solidFill>
                <a:latin typeface="+mj-lt"/>
              </a:rPr>
              <a:t>Общая готовность площадки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71364" y="1990000"/>
            <a:ext cx="2650000" cy="8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6000" b="0" dirty="0">
                <a:solidFill>
                  <a:srgbClr val="00326E"/>
                </a:solidFill>
                <a:latin typeface="+mj-lt"/>
              </a:rPr>
              <a:t>46 %</a:t>
            </a:r>
          </a:p>
        </p:txBody>
      </p:sp>
      <p:sp>
        <p:nvSpPr>
          <p:cNvPr id="15" name="Фигура 15"/>
          <p:cNvSpPr/>
          <p:nvPr/>
        </p:nvSpPr>
        <p:spPr>
          <a:xfrm>
            <a:off x="571364" y="2860000"/>
            <a:ext cx="2650000" cy="1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6" name="Фигура 16"/>
          <p:cNvSpPr/>
          <p:nvPr/>
        </p:nvSpPr>
        <p:spPr>
          <a:xfrm>
            <a:off x="571364" y="2860000"/>
            <a:ext cx="1219000" cy="11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17" name="Иконка 17" descr="TbSnowflake_4BAF4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364" y="3180000"/>
            <a:ext cx="360000" cy="3600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051364" y="3140000"/>
            <a:ext cx="2170000" cy="3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800" b="0" dirty="0">
                <a:solidFill>
                  <a:srgbClr val="00326E"/>
                </a:solidFill>
                <a:latin typeface="+mj-lt"/>
              </a:rPr>
              <a:t>72 000 м³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51364" y="3470000"/>
            <a:ext cx="2170000" cy="6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0" dirty="0">
                <a:solidFill>
                  <a:schemeClr val="bg2"/>
                </a:solidFill>
                <a:latin typeface="+mn-lt"/>
              </a:rPr>
              <a:t>снега убрано с подъездного пути к площадке ЮГ 1-3 (16.07–14.08, 3 ед. бульдозерной техники)</a:t>
            </a:r>
          </a:p>
        </p:txBody>
      </p:sp>
      <p:pic>
        <p:nvPicPr>
          <p:cNvPr id="20" name="Иконка 20" descr="TbTool_4BAF4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364" y="4190000"/>
            <a:ext cx="360000" cy="3600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051364" y="4150000"/>
            <a:ext cx="2170000" cy="3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800" b="0" dirty="0">
                <a:solidFill>
                  <a:srgbClr val="00326E"/>
                </a:solidFill>
                <a:latin typeface="+mj-lt"/>
              </a:rPr>
              <a:t>4 скважины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51364" y="4480000"/>
            <a:ext cx="2170000" cy="6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0" dirty="0">
                <a:solidFill>
                  <a:schemeClr val="bg2"/>
                </a:solidFill>
                <a:latin typeface="+mn-lt"/>
              </a:rPr>
              <a:t>расконсервированы О1, О4, 8Э, 42 (01.08–07.09); на 8Э — РИР межколонного пространства 324×426 мм</a:t>
            </a:r>
          </a:p>
        </p:txBody>
      </p:sp>
      <p:pic>
        <p:nvPicPr>
          <p:cNvPr id="23" name="Иконка 23" descr="TbCalendarTime_4BAF4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364" y="5200000"/>
            <a:ext cx="360000" cy="3600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051364" y="5160000"/>
            <a:ext cx="2170000" cy="3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800" b="0" dirty="0">
                <a:solidFill>
                  <a:srgbClr val="00326E"/>
                </a:solidFill>
                <a:latin typeface="+mj-lt"/>
              </a:rPr>
              <a:t>до 10.10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51364" y="5490000"/>
            <a:ext cx="2170000" cy="6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0" dirty="0">
                <a:solidFill>
                  <a:schemeClr val="bg2"/>
                </a:solidFill>
                <a:latin typeface="+mn-lt"/>
              </a:rPr>
              <a:t>поставка задвижки устьевого оборудования для скв. № 42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651364" y="1500000"/>
            <a:ext cx="8168752" cy="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400" b="0" dirty="0">
                <a:solidFill>
                  <a:schemeClr val="tx2"/>
                </a:solidFill>
                <a:latin typeface="+mj-lt"/>
              </a:rPr>
              <a:t>Готовность по видам работ (табл. 1 докладной записки)</a:t>
            </a:r>
          </a:p>
        </p:txBody>
      </p:sp>
      <p:sp>
        <p:nvSpPr>
          <p:cNvPr id="27" name="Фигура 27"/>
          <p:cNvSpPr/>
          <p:nvPr/>
        </p:nvSpPr>
        <p:spPr>
          <a:xfrm>
            <a:off x="3651364" y="1890000"/>
            <a:ext cx="8168752" cy="47666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8" name="TextBox 28"/>
          <p:cNvSpPr txBox="1"/>
          <p:nvPr/>
        </p:nvSpPr>
        <p:spPr>
          <a:xfrm>
            <a:off x="3751364" y="1890000"/>
            <a:ext cx="5030000" cy="47666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buNone/>
            </a:pPr>
            <a:r>
              <a:rPr lang="ru-RU" sz="1100" b="1" dirty="0">
                <a:solidFill>
                  <a:schemeClr val="tx2"/>
                </a:solidFill>
                <a:latin typeface="+mn-lt"/>
              </a:rPr>
              <a:t>1. </a:t>
            </a:r>
            <a:r>
              <a:rPr lang="ru-RU" sz="1100" b="0" dirty="0">
                <a:solidFill>
                  <a:srgbClr val="00326E"/>
                </a:solidFill>
                <a:latin typeface="+mn-lt"/>
              </a:rPr>
              <a:t>Расчистка территории площадки под планировку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выполнено</a:t>
            </a:r>
          </a:p>
        </p:txBody>
      </p:sp>
      <p:sp>
        <p:nvSpPr>
          <p:cNvPr id="29" name="Фигура 29"/>
          <p:cNvSpPr/>
          <p:nvPr/>
        </p:nvSpPr>
        <p:spPr>
          <a:xfrm>
            <a:off x="8901364" y="2053333"/>
            <a:ext cx="2098752" cy="1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0" name="Фигура 30"/>
          <p:cNvSpPr/>
          <p:nvPr/>
        </p:nvSpPr>
        <p:spPr>
          <a:xfrm>
            <a:off x="8901364" y="2053333"/>
            <a:ext cx="2098752" cy="15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1" name="TextBox 31"/>
          <p:cNvSpPr txBox="1"/>
          <p:nvPr/>
        </p:nvSpPr>
        <p:spPr>
          <a:xfrm>
            <a:off x="11020116" y="1890000"/>
            <a:ext cx="800000" cy="476666"/>
          </a:xfrm>
          <a:prstGeom prst="rect">
            <a:avLst/>
          </a:prstGeom>
          <a:noFill/>
        </p:spPr>
        <p:txBody>
          <a:bodyPr wrap="square" lIns="0" tIns="0" rIns="60000" bIns="0" rtlCol="0" anchor="ctr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1300" b="1" dirty="0">
                <a:solidFill>
                  <a:srgbClr val="00326E"/>
                </a:solidFill>
                <a:latin typeface="+mn-lt"/>
              </a:rPr>
              <a:t>100 %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751364" y="2366666"/>
            <a:ext cx="5030000" cy="47666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buNone/>
            </a:pPr>
            <a:r>
              <a:rPr lang="ru-RU" sz="1100" b="1" dirty="0">
                <a:solidFill>
                  <a:schemeClr val="tx2"/>
                </a:solidFill>
                <a:latin typeface="+mn-lt"/>
              </a:rPr>
              <a:t>2. </a:t>
            </a:r>
            <a:r>
              <a:rPr lang="ru-RU" sz="1100" b="0" dirty="0">
                <a:solidFill>
                  <a:srgbClr val="00326E"/>
                </a:solidFill>
                <a:latin typeface="+mn-lt"/>
              </a:rPr>
              <a:t>Вскрышные работы на Гео-9/Гео-12, вывоз грунта на площадку накопления (2 км)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5 620 из 10 000 м³</a:t>
            </a:r>
          </a:p>
        </p:txBody>
      </p:sp>
      <p:sp>
        <p:nvSpPr>
          <p:cNvPr id="33" name="Фигура 33"/>
          <p:cNvSpPr/>
          <p:nvPr/>
        </p:nvSpPr>
        <p:spPr>
          <a:xfrm>
            <a:off x="8901364" y="2530000"/>
            <a:ext cx="2098752" cy="1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4" name="Фигура 34"/>
          <p:cNvSpPr/>
          <p:nvPr/>
        </p:nvSpPr>
        <p:spPr>
          <a:xfrm>
            <a:off x="8901364" y="2530000"/>
            <a:ext cx="1179498" cy="150000"/>
          </a:xfrm>
          <a:prstGeom prst="rect">
            <a:avLst/>
          </a:prstGeom>
          <a:solidFill>
            <a:srgbClr val="0078A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5" name="TextBox 35"/>
          <p:cNvSpPr txBox="1"/>
          <p:nvPr/>
        </p:nvSpPr>
        <p:spPr>
          <a:xfrm>
            <a:off x="11020116" y="2366666"/>
            <a:ext cx="800000" cy="476666"/>
          </a:xfrm>
          <a:prstGeom prst="rect">
            <a:avLst/>
          </a:prstGeom>
          <a:noFill/>
        </p:spPr>
        <p:txBody>
          <a:bodyPr wrap="square" lIns="0" tIns="0" rIns="60000" bIns="0" rtlCol="0" anchor="ctr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1300" b="1" dirty="0">
                <a:solidFill>
                  <a:srgbClr val="00326E"/>
                </a:solidFill>
                <a:latin typeface="+mn-lt"/>
              </a:rPr>
              <a:t>56,2 %</a:t>
            </a:r>
          </a:p>
        </p:txBody>
      </p:sp>
      <p:sp>
        <p:nvSpPr>
          <p:cNvPr id="36" name="Фигура 36"/>
          <p:cNvSpPr/>
          <p:nvPr/>
        </p:nvSpPr>
        <p:spPr>
          <a:xfrm>
            <a:off x="3651364" y="2843333"/>
            <a:ext cx="8168752" cy="47666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7" name="TextBox 37"/>
          <p:cNvSpPr txBox="1"/>
          <p:nvPr/>
        </p:nvSpPr>
        <p:spPr>
          <a:xfrm>
            <a:off x="3751364" y="2843333"/>
            <a:ext cx="5030000" cy="47666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buNone/>
            </a:pPr>
            <a:r>
              <a:rPr lang="ru-RU" sz="1100" b="1" dirty="0">
                <a:solidFill>
                  <a:schemeClr val="tx2"/>
                </a:solidFill>
                <a:latin typeface="+mn-lt"/>
              </a:rPr>
              <a:t>3. </a:t>
            </a:r>
            <a:r>
              <a:rPr lang="ru-RU" sz="1100" b="0" dirty="0">
                <a:solidFill>
                  <a:srgbClr val="00326E"/>
                </a:solidFill>
                <a:latin typeface="+mn-lt"/>
              </a:rPr>
              <a:t>Обустройство подъёма дороги (3 км)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отсыпка 1 000 м³; георешётка, «ТЕХНОНИКОЛЬ» — 200 из 300 м</a:t>
            </a:r>
          </a:p>
        </p:txBody>
      </p:sp>
      <p:sp>
        <p:nvSpPr>
          <p:cNvPr id="38" name="Фигура 38"/>
          <p:cNvSpPr/>
          <p:nvPr/>
        </p:nvSpPr>
        <p:spPr>
          <a:xfrm>
            <a:off x="8901364" y="3006666"/>
            <a:ext cx="2098752" cy="1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9" name="Фигура 39"/>
          <p:cNvSpPr/>
          <p:nvPr/>
        </p:nvSpPr>
        <p:spPr>
          <a:xfrm>
            <a:off x="8901364" y="3006666"/>
            <a:ext cx="1888876" cy="150000"/>
          </a:xfrm>
          <a:prstGeom prst="rect">
            <a:avLst/>
          </a:prstGeom>
          <a:solidFill>
            <a:srgbClr val="0078A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0" name="TextBox 40"/>
          <p:cNvSpPr txBox="1"/>
          <p:nvPr/>
        </p:nvSpPr>
        <p:spPr>
          <a:xfrm>
            <a:off x="11020116" y="2843333"/>
            <a:ext cx="800000" cy="476666"/>
          </a:xfrm>
          <a:prstGeom prst="rect">
            <a:avLst/>
          </a:prstGeom>
          <a:noFill/>
        </p:spPr>
        <p:txBody>
          <a:bodyPr wrap="square" lIns="0" tIns="0" rIns="60000" bIns="0" rtlCol="0" anchor="ctr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1300" b="1" dirty="0">
                <a:solidFill>
                  <a:srgbClr val="00326E"/>
                </a:solidFill>
                <a:latin typeface="+mn-lt"/>
              </a:rPr>
              <a:t>90 %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751364" y="3320000"/>
            <a:ext cx="5030000" cy="47666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buNone/>
            </a:pPr>
            <a:r>
              <a:rPr lang="ru-RU" sz="1100" b="1" dirty="0">
                <a:solidFill>
                  <a:schemeClr val="tx2"/>
                </a:solidFill>
                <a:latin typeface="+mn-lt"/>
              </a:rPr>
              <a:t>4. </a:t>
            </a:r>
            <a:r>
              <a:rPr lang="ru-RU" sz="1100" b="0" dirty="0">
                <a:solidFill>
                  <a:srgbClr val="00326E"/>
                </a:solidFill>
                <a:latin typeface="+mn-lt"/>
              </a:rPr>
              <a:t>Транспортировка грунта на площадку скважин (3 км)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3 300 из 8 000 м³</a:t>
            </a:r>
          </a:p>
        </p:txBody>
      </p:sp>
      <p:sp>
        <p:nvSpPr>
          <p:cNvPr id="42" name="Фигура 42"/>
          <p:cNvSpPr/>
          <p:nvPr/>
        </p:nvSpPr>
        <p:spPr>
          <a:xfrm>
            <a:off x="8901364" y="3483333"/>
            <a:ext cx="2098752" cy="1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3" name="Фигура 43"/>
          <p:cNvSpPr/>
          <p:nvPr/>
        </p:nvSpPr>
        <p:spPr>
          <a:xfrm>
            <a:off x="8901364" y="3483333"/>
            <a:ext cx="864685" cy="150000"/>
          </a:xfrm>
          <a:prstGeom prst="rect">
            <a:avLst/>
          </a:prstGeom>
          <a:solidFill>
            <a:srgbClr val="005491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4" name="TextBox 44"/>
          <p:cNvSpPr txBox="1"/>
          <p:nvPr/>
        </p:nvSpPr>
        <p:spPr>
          <a:xfrm>
            <a:off x="11020116" y="3320000"/>
            <a:ext cx="800000" cy="476666"/>
          </a:xfrm>
          <a:prstGeom prst="rect">
            <a:avLst/>
          </a:prstGeom>
          <a:noFill/>
        </p:spPr>
        <p:txBody>
          <a:bodyPr wrap="square" lIns="0" tIns="0" rIns="60000" bIns="0" rtlCol="0" anchor="ctr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1300" b="1" dirty="0">
                <a:solidFill>
                  <a:srgbClr val="00326E"/>
                </a:solidFill>
                <a:latin typeface="+mn-lt"/>
              </a:rPr>
              <a:t>41,2 %</a:t>
            </a:r>
          </a:p>
        </p:txBody>
      </p:sp>
      <p:sp>
        <p:nvSpPr>
          <p:cNvPr id="45" name="Фигура 45"/>
          <p:cNvSpPr/>
          <p:nvPr/>
        </p:nvSpPr>
        <p:spPr>
          <a:xfrm>
            <a:off x="3651364" y="3796666"/>
            <a:ext cx="8168752" cy="47666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6" name="TextBox 46"/>
          <p:cNvSpPr txBox="1"/>
          <p:nvPr/>
        </p:nvSpPr>
        <p:spPr>
          <a:xfrm>
            <a:off x="3751364" y="3796666"/>
            <a:ext cx="5030000" cy="47666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buNone/>
            </a:pPr>
            <a:r>
              <a:rPr lang="ru-RU" sz="1100" b="1" dirty="0">
                <a:solidFill>
                  <a:schemeClr val="tx2"/>
                </a:solidFill>
                <a:latin typeface="+mn-lt"/>
              </a:rPr>
              <a:t>5. </a:t>
            </a:r>
            <a:r>
              <a:rPr lang="ru-RU" sz="1100" b="0" dirty="0">
                <a:solidFill>
                  <a:srgbClr val="00326E"/>
                </a:solidFill>
                <a:latin typeface="+mn-lt"/>
              </a:rPr>
              <a:t>Площадка временного хранения оборудования и МТР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2 000 из 2 500 м², h = 1,0 м</a:t>
            </a:r>
          </a:p>
        </p:txBody>
      </p:sp>
      <p:sp>
        <p:nvSpPr>
          <p:cNvPr id="47" name="Фигура 47"/>
          <p:cNvSpPr/>
          <p:nvPr/>
        </p:nvSpPr>
        <p:spPr>
          <a:xfrm>
            <a:off x="8901364" y="3960000"/>
            <a:ext cx="2098752" cy="1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8" name="Фигура 48"/>
          <p:cNvSpPr/>
          <p:nvPr/>
        </p:nvSpPr>
        <p:spPr>
          <a:xfrm>
            <a:off x="8901364" y="3960000"/>
            <a:ext cx="1679001" cy="150000"/>
          </a:xfrm>
          <a:prstGeom prst="rect">
            <a:avLst/>
          </a:prstGeom>
          <a:solidFill>
            <a:srgbClr val="0078A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9" name="TextBox 49"/>
          <p:cNvSpPr txBox="1"/>
          <p:nvPr/>
        </p:nvSpPr>
        <p:spPr>
          <a:xfrm>
            <a:off x="11020116" y="3796666"/>
            <a:ext cx="800000" cy="476666"/>
          </a:xfrm>
          <a:prstGeom prst="rect">
            <a:avLst/>
          </a:prstGeom>
          <a:noFill/>
        </p:spPr>
        <p:txBody>
          <a:bodyPr wrap="square" lIns="0" tIns="0" rIns="60000" bIns="0" rtlCol="0" anchor="ctr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1300" b="1" dirty="0">
                <a:solidFill>
                  <a:srgbClr val="00326E"/>
                </a:solidFill>
                <a:latin typeface="+mn-lt"/>
              </a:rPr>
              <a:t>80 %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3751364" y="4273333"/>
            <a:ext cx="5030000" cy="47666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buNone/>
            </a:pPr>
            <a:r>
              <a:rPr lang="ru-RU" sz="1100" b="1" dirty="0">
                <a:solidFill>
                  <a:schemeClr val="tx2"/>
                </a:solidFill>
                <a:latin typeface="+mn-lt"/>
              </a:rPr>
              <a:t>6. </a:t>
            </a:r>
            <a:r>
              <a:rPr lang="ru-RU" sz="1100" b="0" dirty="0">
                <a:solidFill>
                  <a:srgbClr val="00326E"/>
                </a:solidFill>
                <a:latin typeface="+mn-lt"/>
              </a:rPr>
              <a:t>Площадка под вахтовый посёлок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840 из 1 050 м², h = 0,5 м</a:t>
            </a:r>
          </a:p>
        </p:txBody>
      </p:sp>
      <p:sp>
        <p:nvSpPr>
          <p:cNvPr id="51" name="Фигура 51"/>
          <p:cNvSpPr/>
          <p:nvPr/>
        </p:nvSpPr>
        <p:spPr>
          <a:xfrm>
            <a:off x="8901364" y="4436666"/>
            <a:ext cx="2098752" cy="1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52" name="Фигура 52"/>
          <p:cNvSpPr/>
          <p:nvPr/>
        </p:nvSpPr>
        <p:spPr>
          <a:xfrm>
            <a:off x="8901364" y="4436666"/>
            <a:ext cx="1679001" cy="150000"/>
          </a:xfrm>
          <a:prstGeom prst="rect">
            <a:avLst/>
          </a:prstGeom>
          <a:solidFill>
            <a:srgbClr val="0078A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53" name="TextBox 53"/>
          <p:cNvSpPr txBox="1"/>
          <p:nvPr/>
        </p:nvSpPr>
        <p:spPr>
          <a:xfrm>
            <a:off x="11020116" y="4273333"/>
            <a:ext cx="800000" cy="476666"/>
          </a:xfrm>
          <a:prstGeom prst="rect">
            <a:avLst/>
          </a:prstGeom>
          <a:noFill/>
        </p:spPr>
        <p:txBody>
          <a:bodyPr wrap="square" lIns="0" tIns="0" rIns="60000" bIns="0" rtlCol="0" anchor="ctr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1300" b="1" dirty="0">
                <a:solidFill>
                  <a:srgbClr val="00326E"/>
                </a:solidFill>
                <a:latin typeface="+mn-lt"/>
              </a:rPr>
              <a:t>80 %</a:t>
            </a:r>
          </a:p>
        </p:txBody>
      </p:sp>
      <p:sp>
        <p:nvSpPr>
          <p:cNvPr id="54" name="Фигура 54"/>
          <p:cNvSpPr/>
          <p:nvPr/>
        </p:nvSpPr>
        <p:spPr>
          <a:xfrm>
            <a:off x="3651364" y="4750000"/>
            <a:ext cx="8168752" cy="47666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55" name="TextBox 55"/>
          <p:cNvSpPr txBox="1"/>
          <p:nvPr/>
        </p:nvSpPr>
        <p:spPr>
          <a:xfrm>
            <a:off x="3751364" y="4750000"/>
            <a:ext cx="5030000" cy="47666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buNone/>
            </a:pPr>
            <a:r>
              <a:rPr lang="ru-RU" sz="1100" b="1" dirty="0">
                <a:solidFill>
                  <a:schemeClr val="tx2"/>
                </a:solidFill>
                <a:latin typeface="+mn-lt"/>
              </a:rPr>
              <a:t>7. </a:t>
            </a:r>
            <a:r>
              <a:rPr lang="ru-RU" sz="1100" b="0" dirty="0">
                <a:solidFill>
                  <a:srgbClr val="00326E"/>
                </a:solidFill>
                <a:latin typeface="+mn-lt"/>
              </a:rPr>
              <a:t>Площадка под буровую установку ZJ-30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2 536 из 8 000 м²; черновая отсыпка — 31,7 %</a:t>
            </a:r>
          </a:p>
        </p:txBody>
      </p:sp>
      <p:sp>
        <p:nvSpPr>
          <p:cNvPr id="56" name="Фигура 56"/>
          <p:cNvSpPr/>
          <p:nvPr/>
        </p:nvSpPr>
        <p:spPr>
          <a:xfrm>
            <a:off x="8901364" y="4913333"/>
            <a:ext cx="2098752" cy="1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57" name="Фигура 57"/>
          <p:cNvSpPr/>
          <p:nvPr/>
        </p:nvSpPr>
        <p:spPr>
          <a:xfrm>
            <a:off x="8901364" y="4913333"/>
            <a:ext cx="293825" cy="150000"/>
          </a:xfrm>
          <a:prstGeom prst="rect">
            <a:avLst/>
          </a:prstGeom>
          <a:solidFill>
            <a:srgbClr val="005491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58" name="TextBox 58"/>
          <p:cNvSpPr txBox="1"/>
          <p:nvPr/>
        </p:nvSpPr>
        <p:spPr>
          <a:xfrm>
            <a:off x="11020116" y="4750000"/>
            <a:ext cx="800000" cy="476666"/>
          </a:xfrm>
          <a:prstGeom prst="rect">
            <a:avLst/>
          </a:prstGeom>
          <a:noFill/>
        </p:spPr>
        <p:txBody>
          <a:bodyPr wrap="square" lIns="0" tIns="0" rIns="60000" bIns="0" rtlCol="0" anchor="ctr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1300" b="1" dirty="0">
                <a:solidFill>
                  <a:srgbClr val="00326E"/>
                </a:solidFill>
                <a:latin typeface="+mn-lt"/>
              </a:rPr>
              <a:t>14 %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3751364" y="5226666"/>
            <a:ext cx="5030000" cy="47666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buNone/>
            </a:pPr>
            <a:r>
              <a:rPr lang="ru-RU" sz="1100" b="1" dirty="0">
                <a:solidFill>
                  <a:schemeClr val="tx2"/>
                </a:solidFill>
                <a:latin typeface="+mn-lt"/>
              </a:rPr>
              <a:t>8. </a:t>
            </a:r>
            <a:r>
              <a:rPr lang="ru-RU" sz="1100" b="0" dirty="0">
                <a:solidFill>
                  <a:srgbClr val="00326E"/>
                </a:solidFill>
                <a:latin typeface="+mn-lt"/>
              </a:rPr>
              <a:t>Обустройство шламового амбара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план 500 м², h = 0,5 м — не начато</a:t>
            </a:r>
          </a:p>
        </p:txBody>
      </p:sp>
      <p:sp>
        <p:nvSpPr>
          <p:cNvPr id="60" name="Фигура 60"/>
          <p:cNvSpPr/>
          <p:nvPr/>
        </p:nvSpPr>
        <p:spPr>
          <a:xfrm>
            <a:off x="8901364" y="5390000"/>
            <a:ext cx="2098752" cy="1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61" name="TextBox 61"/>
          <p:cNvSpPr txBox="1"/>
          <p:nvPr/>
        </p:nvSpPr>
        <p:spPr>
          <a:xfrm>
            <a:off x="11020116" y="5226666"/>
            <a:ext cx="800000" cy="476666"/>
          </a:xfrm>
          <a:prstGeom prst="rect">
            <a:avLst/>
          </a:prstGeom>
          <a:noFill/>
        </p:spPr>
        <p:txBody>
          <a:bodyPr wrap="square" lIns="0" tIns="0" rIns="60000" bIns="0" rtlCol="0" anchor="ctr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1300" b="1" dirty="0">
                <a:solidFill>
                  <a:srgbClr val="C00000"/>
                </a:solidFill>
                <a:latin typeface="+mn-lt"/>
              </a:rPr>
              <a:t>0 %</a:t>
            </a:r>
          </a:p>
        </p:txBody>
      </p:sp>
      <p:sp>
        <p:nvSpPr>
          <p:cNvPr id="62" name="Фигура 62"/>
          <p:cNvSpPr/>
          <p:nvPr/>
        </p:nvSpPr>
        <p:spPr>
          <a:xfrm>
            <a:off x="3651364" y="5703333"/>
            <a:ext cx="8168752" cy="47666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63" name="TextBox 63"/>
          <p:cNvSpPr txBox="1"/>
          <p:nvPr/>
        </p:nvSpPr>
        <p:spPr>
          <a:xfrm>
            <a:off x="3751364" y="5703333"/>
            <a:ext cx="5030000" cy="47666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buNone/>
            </a:pPr>
            <a:r>
              <a:rPr lang="ru-RU" sz="1100" b="1" dirty="0">
                <a:solidFill>
                  <a:schemeClr val="tx2"/>
                </a:solidFill>
                <a:latin typeface="+mn-lt"/>
              </a:rPr>
              <a:t>9. </a:t>
            </a:r>
            <a:r>
              <a:rPr lang="ru-RU" sz="1100" b="0" dirty="0">
                <a:solidFill>
                  <a:srgbClr val="00326E"/>
                </a:solidFill>
                <a:latin typeface="+mn-lt"/>
              </a:rPr>
              <a:t>Водозабор и монтаж коммуникаций со скв. № 01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водонакопитель V = 300 м³ сооружён; трасса L = 600 м — подготовка</a:t>
            </a:r>
          </a:p>
        </p:txBody>
      </p:sp>
      <p:sp>
        <p:nvSpPr>
          <p:cNvPr id="64" name="Фигура 64"/>
          <p:cNvSpPr/>
          <p:nvPr/>
        </p:nvSpPr>
        <p:spPr>
          <a:xfrm>
            <a:off x="8901364" y="5866666"/>
            <a:ext cx="2098752" cy="1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65" name="Фигура 65"/>
          <p:cNvSpPr/>
          <p:nvPr/>
        </p:nvSpPr>
        <p:spPr>
          <a:xfrm>
            <a:off x="8901364" y="5866666"/>
            <a:ext cx="209875" cy="150000"/>
          </a:xfrm>
          <a:prstGeom prst="rect">
            <a:avLst/>
          </a:prstGeom>
          <a:solidFill>
            <a:srgbClr val="005491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66" name="TextBox 66"/>
          <p:cNvSpPr txBox="1"/>
          <p:nvPr/>
        </p:nvSpPr>
        <p:spPr>
          <a:xfrm>
            <a:off x="11020116" y="5703333"/>
            <a:ext cx="800000" cy="476666"/>
          </a:xfrm>
          <a:prstGeom prst="rect">
            <a:avLst/>
          </a:prstGeom>
          <a:noFill/>
        </p:spPr>
        <p:txBody>
          <a:bodyPr wrap="square" lIns="0" tIns="0" rIns="60000" bIns="0" rtlCol="0" anchor="ctr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1300" b="1" dirty="0">
                <a:solidFill>
                  <a:srgbClr val="00326E"/>
                </a:solidFill>
                <a:latin typeface="+mn-lt"/>
              </a:rPr>
              <a:t>10 %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Причины отставания и меры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Факторы, влияющие на сроки подготовки (разд. 2–3 записки)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Площадка скважин ЮГ 1-3 · Южный участок Мутновского месторождения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1364" y="1500000"/>
            <a:ext cx="6300000" cy="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400" b="0" dirty="0">
                <a:solidFill>
                  <a:schemeClr val="tx2"/>
                </a:solidFill>
                <a:latin typeface="+mj-lt"/>
              </a:rPr>
              <a:t>Основные причины продолжительной подготовки</a:t>
            </a:r>
          </a:p>
        </p:txBody>
      </p:sp>
      <p:sp>
        <p:nvSpPr>
          <p:cNvPr id="12" name="Фигура 12"/>
          <p:cNvSpPr/>
          <p:nvPr/>
        </p:nvSpPr>
        <p:spPr>
          <a:xfrm>
            <a:off x="371364" y="1890000"/>
            <a:ext cx="6300000" cy="794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13" name="Иконка 13" descr="TbStack2_4BAF4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1364" y="2087000"/>
            <a:ext cx="400000" cy="4000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071364" y="1890000"/>
            <a:ext cx="1700000" cy="79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rgbClr val="00326E"/>
                </a:solidFill>
                <a:latin typeface="+mj-lt"/>
              </a:rPr>
              <a:t>Глинистые грунты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21364" y="1890000"/>
            <a:ext cx="3690000" cy="79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0" dirty="0">
                <a:solidFill>
                  <a:schemeClr val="bg2"/>
                </a:solidFill>
                <a:latin typeface="+mn-lt"/>
              </a:rPr>
              <a:t>70 % дороги от станции — глинистый грунт с низкой несущей способностью, проезд только для вездеходной техники 6×6.</a:t>
            </a:r>
          </a:p>
        </p:txBody>
      </p:sp>
      <p:sp>
        <p:nvSpPr>
          <p:cNvPr id="16" name="Фигура 16"/>
          <p:cNvSpPr/>
          <p:nvPr/>
        </p:nvSpPr>
        <p:spPr>
          <a:xfrm>
            <a:off x="371364" y="2764000"/>
            <a:ext cx="6300000" cy="794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17" name="Иконка 17" descr="TbMountain_4BAF4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1364" y="2961000"/>
            <a:ext cx="400000" cy="4000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071364" y="2764000"/>
            <a:ext cx="1700000" cy="79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rgbClr val="00326E"/>
                </a:solidFill>
                <a:latin typeface="+mj-lt"/>
              </a:rPr>
              <a:t>Большой уклон подъёма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821364" y="2764000"/>
            <a:ext cx="3690000" cy="79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0" dirty="0">
                <a:solidFill>
                  <a:schemeClr val="bg2"/>
                </a:solidFill>
                <a:latin typeface="+mn-lt"/>
              </a:rPr>
              <a:t>Срезка ПРС и доп. отсыпка; техника идёт с сопровождением бульдозеров, после осадков — съезды самосвалов в кювет.</a:t>
            </a:r>
          </a:p>
        </p:txBody>
      </p:sp>
      <p:sp>
        <p:nvSpPr>
          <p:cNvPr id="20" name="Фигура 20"/>
          <p:cNvSpPr/>
          <p:nvPr/>
        </p:nvSpPr>
        <p:spPr>
          <a:xfrm>
            <a:off x="371364" y="3638000"/>
            <a:ext cx="6300000" cy="794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21" name="Иконка 21" descr="TbDroplet_4BAF4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1364" y="3835000"/>
            <a:ext cx="400000" cy="4000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1071364" y="3638000"/>
            <a:ext cx="1700000" cy="79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rgbClr val="00326E"/>
                </a:solidFill>
                <a:latin typeface="+mj-lt"/>
              </a:rPr>
              <a:t>Заболоченность площадки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821364" y="3638000"/>
            <a:ext cx="3690000" cy="79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0" dirty="0">
                <a:solidFill>
                  <a:schemeClr val="bg2"/>
                </a:solidFill>
                <a:latin typeface="+mn-lt"/>
              </a:rPr>
              <a:t>Отсыпка под МБУ высотой 1,0 м после дождей дала осадку до 0,4 м.</a:t>
            </a:r>
          </a:p>
        </p:txBody>
      </p:sp>
      <p:sp>
        <p:nvSpPr>
          <p:cNvPr id="24" name="Фигура 24"/>
          <p:cNvSpPr/>
          <p:nvPr/>
        </p:nvSpPr>
        <p:spPr>
          <a:xfrm>
            <a:off x="371364" y="4512000"/>
            <a:ext cx="6300000" cy="794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25" name="Иконка 25" descr="TbTruck_4BAF4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1364" y="4709000"/>
            <a:ext cx="400000" cy="4000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1071364" y="4512000"/>
            <a:ext cx="1700000" cy="79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rgbClr val="00326E"/>
                </a:solidFill>
                <a:latin typeface="+mj-lt"/>
              </a:rPr>
              <a:t>Дефицит техники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821364" y="4512000"/>
            <a:ext cx="3690000" cy="79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0" dirty="0">
                <a:solidFill>
                  <a:schemeClr val="bg2"/>
                </a:solidFill>
                <a:latin typeface="+mn-lt"/>
              </a:rPr>
              <a:t>В Камчатском регионе отсутствуют свободные самосвалы вездеходного типа 6×6.</a:t>
            </a:r>
          </a:p>
        </p:txBody>
      </p:sp>
      <p:sp>
        <p:nvSpPr>
          <p:cNvPr id="28" name="Фигура 28"/>
          <p:cNvSpPr/>
          <p:nvPr/>
        </p:nvSpPr>
        <p:spPr>
          <a:xfrm>
            <a:off x="371364" y="5386000"/>
            <a:ext cx="6300000" cy="794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29" name="Иконка 29" descr="TbGasStation_4BAF4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1364" y="5583000"/>
            <a:ext cx="400000" cy="40000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1071364" y="5386000"/>
            <a:ext cx="1700000" cy="79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rgbClr val="00326E"/>
                </a:solidFill>
                <a:latin typeface="+mj-lt"/>
              </a:rPr>
              <a:t>Рост стоимости ДТ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821364" y="5386000"/>
            <a:ext cx="3690000" cy="79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0" dirty="0">
                <a:solidFill>
                  <a:schemeClr val="bg2"/>
                </a:solidFill>
                <a:latin typeface="+mn-lt"/>
              </a:rPr>
              <a:t>Рост цен более 60 % — действующий подрядчик не готов работать в договорных ценах.</a:t>
            </a:r>
          </a:p>
        </p:txBody>
      </p:sp>
      <p:sp>
        <p:nvSpPr>
          <p:cNvPr id="32" name="Фигура 32"/>
          <p:cNvSpPr/>
          <p:nvPr/>
        </p:nvSpPr>
        <p:spPr>
          <a:xfrm>
            <a:off x="6901364" y="1491000"/>
            <a:ext cx="4918752" cy="468900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3" name="TextBox 33"/>
          <p:cNvSpPr txBox="1"/>
          <p:nvPr/>
        </p:nvSpPr>
        <p:spPr>
          <a:xfrm>
            <a:off x="7121364" y="1650000"/>
            <a:ext cx="4478752" cy="3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500" b="0" dirty="0">
                <a:solidFill>
                  <a:srgbClr val="FFFFFF"/>
                </a:solidFill>
                <a:latin typeface="+mj-lt"/>
              </a:rPr>
              <a:t>Компенсационные мероприятия</a:t>
            </a:r>
          </a:p>
        </p:txBody>
      </p:sp>
      <p:pic>
        <p:nvPicPr>
          <p:cNvPr id="34" name="Иконка 34" descr="TbUsersPlus_FFFFFF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21364" y="2140000"/>
            <a:ext cx="360000" cy="360000"/>
          </a:xfrm>
          <a:prstGeom prst="rect">
            <a:avLst/>
          </a:prstGeom>
        </p:spPr>
      </p:pic>
      <p:sp>
        <p:nvSpPr>
          <p:cNvPr id="35" name="TextBox 35"/>
          <p:cNvSpPr txBox="1"/>
          <p:nvPr/>
        </p:nvSpPr>
        <p:spPr>
          <a:xfrm>
            <a:off x="7621364" y="2120000"/>
            <a:ext cx="3998752" cy="975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FFFFFF"/>
                </a:solidFill>
                <a:latin typeface="+mn-lt"/>
              </a:rPr>
              <a:t>Сокращение сроков вышкомонтажа</a:t>
            </a:r>
          </a:p>
          <a:p>
            <a:pPr algn="l">
              <a:spcBef>
                <a:spcPts val="300"/>
              </a:spcBef>
              <a:buNone/>
            </a:pPr>
            <a:r>
              <a:rPr lang="ru-RU" sz="1050" b="0" dirty="0">
                <a:solidFill>
                  <a:srgbClr val="FFFFFF"/>
                </a:solidFill>
                <a:latin typeface="+mn-lt"/>
              </a:rPr>
              <a:t>Доп. персонал из Усинского региона: руководитель работ, сварщик, электрик, 2 помощника бурильщика-стропальщика.</a:t>
            </a:r>
          </a:p>
        </p:txBody>
      </p:sp>
      <p:pic>
        <p:nvPicPr>
          <p:cNvPr id="36" name="Иконка 36" descr="TbTruckDelivery_FFFFFF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21364" y="3145000"/>
            <a:ext cx="360000" cy="360000"/>
          </a:xfrm>
          <a:prstGeom prst="rect">
            <a:avLst/>
          </a:prstGeom>
        </p:spPr>
      </p:pic>
      <p:sp>
        <p:nvSpPr>
          <p:cNvPr id="37" name="TextBox 37"/>
          <p:cNvSpPr txBox="1"/>
          <p:nvPr/>
        </p:nvSpPr>
        <p:spPr>
          <a:xfrm>
            <a:off x="7621364" y="3125000"/>
            <a:ext cx="3998752" cy="975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FFFFFF"/>
                </a:solidFill>
                <a:latin typeface="+mn-lt"/>
              </a:rPr>
              <a:t>Опережающий переезд — с 28.09.26</a:t>
            </a:r>
          </a:p>
          <a:p>
            <a:pPr algn="l">
              <a:spcBef>
                <a:spcPts val="300"/>
              </a:spcBef>
              <a:buNone/>
            </a:pPr>
            <a:r>
              <a:rPr lang="ru-RU" sz="1050" b="0" dirty="0">
                <a:solidFill>
                  <a:srgbClr val="FFFFFF"/>
                </a:solidFill>
                <a:latin typeface="+mn-lt"/>
              </a:rPr>
              <a:t>Мобилизация МТР (обсадная труба, химреагенты) из г. Петропавловск-Камчатский; вывоз неиспользуемого оборудования с Гео-12 — 225 из 2 460 т (9,2 %).</a:t>
            </a:r>
          </a:p>
        </p:txBody>
      </p:sp>
      <p:pic>
        <p:nvPicPr>
          <p:cNvPr id="38" name="Иконка 38" descr="TbHammer_FFFFFF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21364" y="4150000"/>
            <a:ext cx="360000" cy="360000"/>
          </a:xfrm>
          <a:prstGeom prst="rect">
            <a:avLst/>
          </a:prstGeom>
        </p:spPr>
      </p:pic>
      <p:sp>
        <p:nvSpPr>
          <p:cNvPr id="39" name="TextBox 39"/>
          <p:cNvSpPr txBox="1"/>
          <p:nvPr/>
        </p:nvSpPr>
        <p:spPr>
          <a:xfrm>
            <a:off x="7621364" y="4130000"/>
            <a:ext cx="3998752" cy="975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FFFFFF"/>
                </a:solidFill>
                <a:latin typeface="+mn-lt"/>
              </a:rPr>
              <a:t>Опережающий демонтаж МБУ — с 10.10.26</a:t>
            </a:r>
          </a:p>
          <a:p>
            <a:pPr algn="l">
              <a:spcBef>
                <a:spcPts val="300"/>
              </a:spcBef>
              <a:buNone/>
            </a:pPr>
            <a:r>
              <a:rPr lang="ru-RU" sz="1050" b="0" dirty="0">
                <a:solidFill>
                  <a:srgbClr val="FFFFFF"/>
                </a:solidFill>
                <a:latin typeface="+mn-lt"/>
              </a:rPr>
              <a:t>Демонтаж оборудования и механизмов МБУ на скв. Гео-12.</a:t>
            </a:r>
          </a:p>
        </p:txBody>
      </p:sp>
      <p:pic>
        <p:nvPicPr>
          <p:cNvPr id="40" name="Иконка 40" descr="TbArrowDownCircle_FFFFFF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121364" y="5155000"/>
            <a:ext cx="360000" cy="360000"/>
          </a:xfrm>
          <a:prstGeom prst="rect">
            <a:avLst/>
          </a:prstGeom>
        </p:spPr>
      </p:pic>
      <p:sp>
        <p:nvSpPr>
          <p:cNvPr id="41" name="TextBox 41"/>
          <p:cNvSpPr txBox="1"/>
          <p:nvPr/>
        </p:nvSpPr>
        <p:spPr>
          <a:xfrm>
            <a:off x="7621364" y="5135000"/>
            <a:ext cx="3998752" cy="975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FFFFFF"/>
                </a:solidFill>
                <a:latin typeface="+mn-lt"/>
              </a:rPr>
              <a:t>Опережающая забурка ЮГ-1 — 25.10.26</a:t>
            </a:r>
          </a:p>
          <a:p>
            <a:pPr algn="l">
              <a:spcBef>
                <a:spcPts val="300"/>
              </a:spcBef>
              <a:buNone/>
            </a:pPr>
            <a:r>
              <a:rPr lang="ru-RU" sz="1050" b="0" dirty="0">
                <a:solidFill>
                  <a:srgbClr val="FFFFFF"/>
                </a:solidFill>
                <a:latin typeface="+mn-lt"/>
              </a:rPr>
              <a:t>Начало бурения до окончания монтажа оборудования МБУ, не задействованного при бурении верхних секций.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График и риски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Ключевые сроки и остаток работ (разд. 4–5 записки)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Площадка скважин ЮГ 1-3 · Южный участок Мутновского месторождения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1364" y="1500000"/>
            <a:ext cx="11448752" cy="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400" b="0" dirty="0">
                <a:solidFill>
                  <a:schemeClr val="tx2"/>
                </a:solidFill>
                <a:latin typeface="+mj-lt"/>
              </a:rPr>
              <a:t>График выполнения работ</a:t>
            </a:r>
          </a:p>
        </p:txBody>
      </p:sp>
      <p:cxnSp>
        <p:nvCxnSpPr>
          <p:cNvPr id="12" name="Линия 12"/>
          <p:cNvCxnSpPr/>
          <p:nvPr/>
        </p:nvCxnSpPr>
        <p:spPr>
          <a:xfrm>
            <a:off x="1086911" y="2300000"/>
            <a:ext cx="10017658" cy="0"/>
          </a:xfrm>
          <a:prstGeom prst="line">
            <a:avLst/>
          </a:prstGeom>
          <a:ln w="38100">
            <a:solidFill>
              <a:srgbClr val="BFC8D3"/>
            </a:solidFill>
          </a:ln>
        </p:spPr>
      </p:cxnSp>
      <p:cxnSp>
        <p:nvCxnSpPr>
          <p:cNvPr id="13" name="Линия 13"/>
          <p:cNvCxnSpPr/>
          <p:nvPr/>
        </p:nvCxnSpPr>
        <p:spPr>
          <a:xfrm>
            <a:off x="1086911" y="2300000"/>
            <a:ext cx="4293282" cy="0"/>
          </a:xfrm>
          <a:prstGeom prst="line">
            <a:avLst/>
          </a:prstGeom>
          <a:ln w="38100">
            <a:solidFill>
              <a:srgbClr val="4BAF46"/>
            </a:solidFill>
          </a:ln>
        </p:spPr>
      </p:cxnSp>
      <p:sp>
        <p:nvSpPr>
          <p:cNvPr id="14" name="Фигура 14"/>
          <p:cNvSpPr/>
          <p:nvPr/>
        </p:nvSpPr>
        <p:spPr>
          <a:xfrm>
            <a:off x="956911" y="2170000"/>
            <a:ext cx="260000" cy="26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5" name="TextBox 15"/>
          <p:cNvSpPr txBox="1"/>
          <p:nvPr/>
        </p:nvSpPr>
        <p:spPr>
          <a:xfrm>
            <a:off x="391364" y="1790000"/>
            <a:ext cx="1391094" cy="3200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2"/>
                </a:solidFill>
                <a:latin typeface="+mn-lt"/>
              </a:rPr>
              <a:t>16.07–14.08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01364" y="2540000"/>
            <a:ext cx="1371094" cy="6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Расчистка подъездного пути от снега</a:t>
            </a:r>
          </a:p>
        </p:txBody>
      </p:sp>
      <p:sp>
        <p:nvSpPr>
          <p:cNvPr id="17" name="Фигура 17"/>
          <p:cNvSpPr/>
          <p:nvPr/>
        </p:nvSpPr>
        <p:spPr>
          <a:xfrm>
            <a:off x="2388005" y="2170000"/>
            <a:ext cx="260000" cy="26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8" name="TextBox 18"/>
          <p:cNvSpPr txBox="1"/>
          <p:nvPr/>
        </p:nvSpPr>
        <p:spPr>
          <a:xfrm>
            <a:off x="1822458" y="1790000"/>
            <a:ext cx="1391094" cy="3200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2"/>
                </a:solidFill>
                <a:latin typeface="+mn-lt"/>
              </a:rPr>
              <a:t>01.08–07.09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832458" y="2540000"/>
            <a:ext cx="1371094" cy="6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Расконсервация скв. О1, О4, 8Э, 42</a:t>
            </a:r>
          </a:p>
        </p:txBody>
      </p:sp>
      <p:sp>
        <p:nvSpPr>
          <p:cNvPr id="20" name="Фигура 20"/>
          <p:cNvSpPr/>
          <p:nvPr/>
        </p:nvSpPr>
        <p:spPr>
          <a:xfrm>
            <a:off x="3819099" y="2170000"/>
            <a:ext cx="260000" cy="26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1" name="TextBox 21"/>
          <p:cNvSpPr txBox="1"/>
          <p:nvPr/>
        </p:nvSpPr>
        <p:spPr>
          <a:xfrm>
            <a:off x="3253552" y="1790000"/>
            <a:ext cx="1391094" cy="3200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2"/>
                </a:solidFill>
                <a:latin typeface="+mn-lt"/>
              </a:rPr>
              <a:t>28.09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263552" y="2540000"/>
            <a:ext cx="1371094" cy="6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Начало мобилизации МТР</a:t>
            </a:r>
          </a:p>
        </p:txBody>
      </p:sp>
      <p:sp>
        <p:nvSpPr>
          <p:cNvPr id="23" name="Фигура 23"/>
          <p:cNvSpPr/>
          <p:nvPr/>
        </p:nvSpPr>
        <p:spPr>
          <a:xfrm>
            <a:off x="5210193" y="2130000"/>
            <a:ext cx="340000" cy="34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4" name="TextBox 24"/>
          <p:cNvSpPr txBox="1"/>
          <p:nvPr/>
        </p:nvSpPr>
        <p:spPr>
          <a:xfrm>
            <a:off x="4684646" y="1790000"/>
            <a:ext cx="1391094" cy="3200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300" b="1" dirty="0">
                <a:solidFill>
                  <a:srgbClr val="00326E"/>
                </a:solidFill>
                <a:latin typeface="+mn-lt"/>
              </a:rPr>
              <a:t>01.10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694646" y="2540000"/>
            <a:ext cx="1371094" cy="6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Готовность площадки — 46 %</a:t>
            </a:r>
          </a:p>
        </p:txBody>
      </p:sp>
      <p:sp>
        <p:nvSpPr>
          <p:cNvPr id="26" name="Фигура 26"/>
          <p:cNvSpPr/>
          <p:nvPr/>
        </p:nvSpPr>
        <p:spPr>
          <a:xfrm>
            <a:off x="6681287" y="2170000"/>
            <a:ext cx="260000" cy="2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326E"/>
            </a:solidFill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7" name="TextBox 27"/>
          <p:cNvSpPr txBox="1"/>
          <p:nvPr/>
        </p:nvSpPr>
        <p:spPr>
          <a:xfrm>
            <a:off x="6115740" y="1790000"/>
            <a:ext cx="1391094" cy="3200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300" b="1" dirty="0">
                <a:solidFill>
                  <a:srgbClr val="00326E"/>
                </a:solidFill>
                <a:latin typeface="+mn-lt"/>
              </a:rPr>
              <a:t>10.10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125740" y="2540000"/>
            <a:ext cx="1371094" cy="6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Начало демонтажа МБУ на скв. Гео-12</a:t>
            </a:r>
          </a:p>
        </p:txBody>
      </p:sp>
      <p:sp>
        <p:nvSpPr>
          <p:cNvPr id="29" name="Фигура 29"/>
          <p:cNvSpPr/>
          <p:nvPr/>
        </p:nvSpPr>
        <p:spPr>
          <a:xfrm>
            <a:off x="8112381" y="2170000"/>
            <a:ext cx="260000" cy="2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326E"/>
            </a:solidFill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0" name="TextBox 30"/>
          <p:cNvSpPr txBox="1"/>
          <p:nvPr/>
        </p:nvSpPr>
        <p:spPr>
          <a:xfrm>
            <a:off x="7546834" y="1790000"/>
            <a:ext cx="1391094" cy="3200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300" b="1" dirty="0">
                <a:solidFill>
                  <a:srgbClr val="00326E"/>
                </a:solidFill>
                <a:latin typeface="+mn-lt"/>
              </a:rPr>
              <a:t>20.10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556834" y="2540000"/>
            <a:ext cx="1371094" cy="6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Окончание обустройства площадки</a:t>
            </a:r>
          </a:p>
        </p:txBody>
      </p:sp>
      <p:sp>
        <p:nvSpPr>
          <p:cNvPr id="32" name="Фигура 32"/>
          <p:cNvSpPr/>
          <p:nvPr/>
        </p:nvSpPr>
        <p:spPr>
          <a:xfrm>
            <a:off x="9543475" y="2170000"/>
            <a:ext cx="260000" cy="2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326E"/>
            </a:solidFill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3" name="TextBox 33"/>
          <p:cNvSpPr txBox="1"/>
          <p:nvPr/>
        </p:nvSpPr>
        <p:spPr>
          <a:xfrm>
            <a:off x="8977928" y="1790000"/>
            <a:ext cx="1391094" cy="3200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300" b="1" dirty="0">
                <a:solidFill>
                  <a:srgbClr val="00326E"/>
                </a:solidFill>
                <a:latin typeface="+mn-lt"/>
              </a:rPr>
              <a:t>25.10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987928" y="2540000"/>
            <a:ext cx="1371094" cy="6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Опережающая забурка скв. ЮГ-1</a:t>
            </a:r>
          </a:p>
        </p:txBody>
      </p:sp>
      <p:sp>
        <p:nvSpPr>
          <p:cNvPr id="35" name="Фигура 35"/>
          <p:cNvSpPr/>
          <p:nvPr/>
        </p:nvSpPr>
        <p:spPr>
          <a:xfrm>
            <a:off x="10974569" y="2170000"/>
            <a:ext cx="260000" cy="2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326E"/>
            </a:solidFill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6" name="TextBox 36"/>
          <p:cNvSpPr txBox="1"/>
          <p:nvPr/>
        </p:nvSpPr>
        <p:spPr>
          <a:xfrm>
            <a:off x="10409022" y="1790000"/>
            <a:ext cx="1391094" cy="3200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300" b="1" dirty="0">
                <a:solidFill>
                  <a:srgbClr val="00326E"/>
                </a:solidFill>
                <a:latin typeface="+mn-lt"/>
              </a:rPr>
              <a:t>05.11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419022" y="2540000"/>
            <a:ext cx="1371094" cy="6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Окончание мобилизации оборудования и МТР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71364" y="3200000"/>
            <a:ext cx="11448752" cy="22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tx2"/>
                </a:solidFill>
                <a:latin typeface="+mn-lt"/>
              </a:rPr>
              <a:t>●</a:t>
            </a:r>
            <a:r>
              <a:rPr lang="ru-RU" sz="1000" b="0" dirty="0">
                <a:solidFill>
                  <a:schemeClr val="bg2"/>
                </a:solidFill>
                <a:latin typeface="+mn-lt"/>
              </a:rPr>
              <a:t> выполнено     </a:t>
            </a:r>
            <a:r>
              <a:rPr lang="ru-RU" sz="1000" b="0" dirty="0">
                <a:solidFill>
                  <a:srgbClr val="FFC000"/>
                </a:solidFill>
                <a:latin typeface="+mn-lt"/>
              </a:rPr>
              <a:t>●</a:t>
            </a:r>
            <a:r>
              <a:rPr lang="ru-RU" sz="1000" b="0" dirty="0">
                <a:solidFill>
                  <a:schemeClr val="bg2"/>
                </a:solidFill>
                <a:latin typeface="+mn-lt"/>
              </a:rPr>
              <a:t> текущий статус     </a:t>
            </a:r>
            <a:r>
              <a:rPr lang="ru-RU" sz="1000" b="0" dirty="0">
                <a:solidFill>
                  <a:srgbClr val="00326E"/>
                </a:solidFill>
                <a:latin typeface="+mn-lt"/>
              </a:rPr>
              <a:t>○</a:t>
            </a:r>
            <a:r>
              <a:rPr lang="ru-RU" sz="1000" b="0" dirty="0">
                <a:solidFill>
                  <a:schemeClr val="bg2"/>
                </a:solidFill>
                <a:latin typeface="+mn-lt"/>
              </a:rPr>
              <a:t> план</a:t>
            </a:r>
          </a:p>
        </p:txBody>
      </p:sp>
      <p:sp>
        <p:nvSpPr>
          <p:cNvPr id="39" name="Фигура 39"/>
          <p:cNvSpPr/>
          <p:nvPr/>
        </p:nvSpPr>
        <p:spPr>
          <a:xfrm>
            <a:off x="371364" y="3560000"/>
            <a:ext cx="5632936" cy="262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0" name="Фигура 40"/>
          <p:cNvSpPr/>
          <p:nvPr/>
        </p:nvSpPr>
        <p:spPr>
          <a:xfrm>
            <a:off x="371364" y="3491000"/>
            <a:ext cx="5632936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41" name="Иконка 41" descr="TbListCheck_4BAF4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364" y="3700000"/>
            <a:ext cx="380000" cy="380000"/>
          </a:xfrm>
          <a:prstGeom prst="rect">
            <a:avLst/>
          </a:prstGeom>
        </p:spPr>
      </p:pic>
      <p:sp>
        <p:nvSpPr>
          <p:cNvPr id="42" name="TextBox 42"/>
          <p:cNvSpPr txBox="1"/>
          <p:nvPr/>
        </p:nvSpPr>
        <p:spPr>
          <a:xfrm>
            <a:off x="1091364" y="3700000"/>
            <a:ext cx="4712936" cy="3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500" b="0" dirty="0">
                <a:solidFill>
                  <a:schemeClr val="tx2"/>
                </a:solidFill>
                <a:latin typeface="+mj-lt"/>
              </a:rPr>
              <a:t>Остаток работ до 20.10.2026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71364" y="4200000"/>
            <a:ext cx="5232936" cy="192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buFont typeface="Wingdings" pitchFamily="2" charset="2"/>
              <a:buChar char="v"/>
            </a:pPr>
            <a:r>
              <a:rPr lang="ru-RU" sz="1200" b="0" dirty="0">
                <a:solidFill>
                  <a:schemeClr val="bg2"/>
                </a:solidFill>
                <a:latin typeface="+mn-lt"/>
              </a:rPr>
              <a:t>Перевезти на площадку скважин 4 700 м³ грунта, вывезти на площадку накопления 4 380 м³;</a:t>
            </a:r>
          </a:p>
          <a:p>
            <a:pPr marL="171450" indent="-171450" algn="l">
              <a:spcBef>
                <a:spcPts val="600"/>
              </a:spcBef>
              <a:buFont typeface="Wingdings" pitchFamily="2" charset="2"/>
              <a:buChar char="v"/>
            </a:pPr>
            <a:r>
              <a:rPr lang="ru-RU" sz="1200" b="0" dirty="0">
                <a:solidFill>
                  <a:schemeClr val="bg2"/>
                </a:solidFill>
                <a:latin typeface="+mn-lt"/>
              </a:rPr>
              <a:t>Отсыпать площадку под ZJ-30 — 5 464 м² (готовность 14 %);</a:t>
            </a:r>
          </a:p>
          <a:p>
            <a:pPr marL="171450" indent="-171450" algn="l">
              <a:spcBef>
                <a:spcPts val="600"/>
              </a:spcBef>
              <a:buFont typeface="Wingdings" pitchFamily="2" charset="2"/>
              <a:buChar char="v"/>
            </a:pPr>
            <a:r>
              <a:rPr lang="ru-RU" sz="1200" b="0" dirty="0">
                <a:solidFill>
                  <a:schemeClr val="bg2"/>
                </a:solidFill>
                <a:latin typeface="+mn-lt"/>
              </a:rPr>
              <a:t>Обустроить шламовый амбар (500 м²), завершить водозабор и коммуникации (600 м);</a:t>
            </a:r>
          </a:p>
          <a:p>
            <a:pPr marL="171450" indent="-171450" algn="l">
              <a:spcBef>
                <a:spcPts val="600"/>
              </a:spcBef>
              <a:buFont typeface="Wingdings" pitchFamily="2" charset="2"/>
              <a:buChar char="v"/>
            </a:pPr>
            <a:r>
              <a:rPr lang="ru-RU" sz="1200" b="0" dirty="0">
                <a:solidFill>
                  <a:schemeClr val="bg2"/>
                </a:solidFill>
                <a:latin typeface="+mn-lt"/>
              </a:rPr>
              <a:t>Завершить площадки хранения МТР (500 м²), вахтового посёлка (210 м²) и укладку «ТЕХНОНИКОЛЬ» (100 м).</a:t>
            </a:r>
          </a:p>
        </p:txBody>
      </p:sp>
      <p:sp>
        <p:nvSpPr>
          <p:cNvPr id="44" name="Фигура 44"/>
          <p:cNvSpPr/>
          <p:nvPr/>
        </p:nvSpPr>
        <p:spPr>
          <a:xfrm>
            <a:off x="6187180" y="3560000"/>
            <a:ext cx="5632936" cy="262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5" name="Фигура 45"/>
          <p:cNvSpPr/>
          <p:nvPr/>
        </p:nvSpPr>
        <p:spPr>
          <a:xfrm>
            <a:off x="6187180" y="3491000"/>
            <a:ext cx="5632936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46" name="Иконка 46" descr="TbAlertTriangle_4BAF4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87180" y="3700000"/>
            <a:ext cx="380000" cy="380000"/>
          </a:xfrm>
          <a:prstGeom prst="rect">
            <a:avLst/>
          </a:prstGeom>
        </p:spPr>
      </p:pic>
      <p:sp>
        <p:nvSpPr>
          <p:cNvPr id="47" name="TextBox 47"/>
          <p:cNvSpPr txBox="1"/>
          <p:nvPr/>
        </p:nvSpPr>
        <p:spPr>
          <a:xfrm>
            <a:off x="6907180" y="3700000"/>
            <a:ext cx="4712936" cy="3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500" b="0" dirty="0">
                <a:solidFill>
                  <a:schemeClr val="tx2"/>
                </a:solidFill>
                <a:latin typeface="+mj-lt"/>
              </a:rPr>
              <a:t>Риски срыва графика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387180" y="4200000"/>
            <a:ext cx="5232936" cy="192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buFont typeface="Wingdings" pitchFamily="2" charset="2"/>
              <a:buChar char="v"/>
            </a:pPr>
            <a:r>
              <a:rPr lang="ru-RU" sz="1200" b="0" dirty="0">
                <a:solidFill>
                  <a:schemeClr val="bg2"/>
                </a:solidFill>
                <a:latin typeface="+mn-lt"/>
              </a:rPr>
              <a:t>Дефицит самосвалов 6×6 и отказ подрядчика от договорных цен;</a:t>
            </a:r>
          </a:p>
          <a:p>
            <a:pPr marL="171450" indent="-171450" algn="l">
              <a:spcBef>
                <a:spcPts val="600"/>
              </a:spcBef>
              <a:buFont typeface="Wingdings" pitchFamily="2" charset="2"/>
              <a:buChar char="v"/>
            </a:pPr>
            <a:r>
              <a:rPr lang="ru-RU" sz="1200" b="0" dirty="0">
                <a:solidFill>
                  <a:schemeClr val="bg2"/>
                </a:solidFill>
                <a:latin typeface="+mn-lt"/>
              </a:rPr>
              <a:t>Повторная осадка отсыпки на заболоченных участках при осадках;</a:t>
            </a:r>
          </a:p>
          <a:p>
            <a:pPr marL="171450" indent="-171450" algn="l">
              <a:spcBef>
                <a:spcPts val="600"/>
              </a:spcBef>
              <a:buFont typeface="Wingdings" pitchFamily="2" charset="2"/>
              <a:buChar char="v"/>
            </a:pPr>
            <a:r>
              <a:rPr lang="ru-RU" sz="1200" b="0" dirty="0">
                <a:solidFill>
                  <a:schemeClr val="bg2"/>
                </a:solidFill>
                <a:latin typeface="+mn-lt"/>
              </a:rPr>
              <a:t>Ливневые дожди в октябре — ухудшение проходимости подъёма/спуска;</a:t>
            </a:r>
          </a:p>
          <a:p>
            <a:pPr marL="171450" indent="-171450" algn="l">
              <a:spcBef>
                <a:spcPts val="600"/>
              </a:spcBef>
              <a:buFont typeface="Wingdings" pitchFamily="2" charset="2"/>
              <a:buChar char="v"/>
            </a:pPr>
            <a:r>
              <a:rPr lang="ru-RU" sz="1200" b="0" dirty="0">
                <a:solidFill>
                  <a:schemeClr val="bg2"/>
                </a:solidFill>
                <a:latin typeface="+mn-lt"/>
              </a:rPr>
              <a:t>Бурение ЮГ-1 с 25.10 при окончании полного переезда 05.11 — резерв времени отсутствует.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 2013 – 2022">
  <a:themeElements>
    <a:clrScheme name="Зарубежнефть">
      <a:dk1>
        <a:srgbClr val="00326E"/>
      </a:dk1>
      <a:lt1>
        <a:srgbClr val="FFFFFF"/>
      </a:lt1>
      <a:dk2>
        <a:srgbClr val="4BAF46"/>
      </a:dk2>
      <a:lt2>
        <a:srgbClr val="5A5A5A"/>
      </a:lt2>
      <a:accent1>
        <a:srgbClr val="001845"/>
      </a:accent1>
      <a:accent2>
        <a:srgbClr val="005491"/>
      </a:accent2>
      <a:accent3>
        <a:srgbClr val="0078AE"/>
      </a:accent3>
      <a:accent4>
        <a:srgbClr val="0A8F2D"/>
      </a:accent4>
      <a:accent5>
        <a:srgbClr val="4BAF46"/>
      </a:accent5>
      <a:accent6>
        <a:srgbClr val="9AC854"/>
      </a:accent6>
      <a:hlink>
        <a:srgbClr val="CEE1A5"/>
      </a:hlink>
      <a:folHlink>
        <a:srgbClr val="EBF0D6"/>
      </a:folHlink>
    </a:clrScheme>
    <a:fontScheme name="Зарубежнефть">
      <a:majorFont>
        <a:latin typeface="TT Bluescreens Pro Normal Mediu"/>
        <a:ea typeface=""/>
        <a:cs typeface=""/>
      </a:majorFont>
      <a:minorFont>
        <a:latin typeface="TT Bluescreens Pro Expanded Med"/>
        <a:ea typeface=""/>
        <a:cs typeface=""/>
      </a:minorFont>
    </a:fontScheme>
    <a:fmtScheme name="Тема Office 2013 –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 2013 – 2022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 2013 – 2022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12242</TotalTime>
  <Words>708</Words>
  <Application>Microsoft Office PowerPoint</Application>
  <PresentationFormat>Широкоэкранный</PresentationFormat>
  <Paragraphs>98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11" baseType="lpstr">
      <vt:lpstr>Arial</vt:lpstr>
      <vt:lpstr>Wingdings</vt:lpstr>
      <vt:lpstr>TT Bluescreens Pro Normal Mediu</vt:lpstr>
      <vt:lpstr>TT Bluescreens Pro Normal</vt:lpstr>
      <vt:lpstr>Calibri</vt:lpstr>
      <vt:lpstr>TT Bluescreens Pro Expanded Med</vt:lpstr>
      <vt:lpstr>Тема Office 2013 – 2022</vt:lpstr>
      <vt:lpstr>Статус подготовительных работ и переезда МБУ</vt:lpstr>
      <vt:lpstr>Статус подготовки площадки</vt:lpstr>
      <vt:lpstr>Причины отставания и меры</vt:lpstr>
      <vt:lpstr>График и риски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Microsoft Office User</dc:creator>
  <cp:lastModifiedBy>Золотенков Виктор Вячеславович</cp:lastModifiedBy>
  <cp:revision>220</cp:revision>
  <dcterms:created xsi:type="dcterms:W3CDTF">2026-05-25T10:20:22Z</dcterms:created>
  <dcterms:modified xsi:type="dcterms:W3CDTF">2026-10-01T11:18:30Z</dcterms:modified>
</cp:coreProperties>
</file>