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11"/>
  </p:notesMasterIdLst>
  <p:handoutMasterIdLst>
    <p:handoutMasterId r:id="rId12"/>
  </p:handoutMasterIdLst>
  <p:sldIdLst>
    <p:sldId id="288" r:id="rId2"/>
    <p:sldId id="297" r:id="rId3"/>
    <p:sldId id="298" r:id="rId4"/>
    <p:sldId id="299" r:id="rId5"/>
    <p:sldId id="300" r:id="rId6"/>
    <p:sldId id="301" r:id="rId7"/>
    <p:sldId id="303" r:id="rId8"/>
    <p:sldId id="304" r:id="rId9"/>
    <p:sldId id="305" r:id="rId10"/>
    <p:sldId id="306" r:id="rId25"/>
  </p:sldIdLst>
  <p:sldSz cx="12192000" cy="6858000"/>
  <p:notesSz cx="6858000" cy="9144000"/>
  <p:embeddedFontLst>
    <p:embeddedFont>
      <p:font typeface="TT Bluescreens Pro Normal Mediu" panose="020B0006030000020204" pitchFamily="34" charset="-52"/>
      <p:regular r:id="rId13"/>
    </p:embeddedFont>
    <p:embeddedFont>
      <p:font typeface="TT Bluescreens Pro Normal" panose="020B0006030000020204" pitchFamily="34" charset="-52"/>
      <p:regular r:id="rId14"/>
      <p:bold r:id="rId15"/>
    </p:embeddedFont>
    <p:embeddedFont>
      <p:font typeface="TT Bluescreens Pro Expanded Med" panose="020B0006030000020204" pitchFamily="34" charset="-52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112" d="100"/>
          <a:sy n="112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  <Relationship Id="rId25" Type="http://schemas.openxmlformats.org/officeDocument/2006/relationships/slide" Target="slides/slide10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МВт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1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2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3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4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5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6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7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8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9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0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1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2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3"/>
            <c:invertIfNegative val="1"/>
            <c:bubble3D val="0"/>
            <c:spPr>
              <a:solidFill>
                <a:srgbClr val="0078AE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00326E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029W</c:v>
                </c:pt>
                <c:pt idx="1">
                  <c:v>042</c:v>
                </c:pt>
                <c:pt idx="2">
                  <c:v>Гео-3</c:v>
                </c:pt>
                <c:pt idx="3">
                  <c:v>Гео-7</c:v>
                </c:pt>
                <c:pt idx="4">
                  <c:v>Гео-1Б</c:v>
                </c:pt>
                <c:pt idx="5">
                  <c:v>Гео-2</c:v>
                </c:pt>
                <c:pt idx="6">
                  <c:v>037</c:v>
                </c:pt>
                <c:pt idx="7">
                  <c:v>Гео-6</c:v>
                </c:pt>
                <c:pt idx="8">
                  <c:v>А-4</c:v>
                </c:pt>
                <c:pt idx="9">
                  <c:v>ГК-1</c:v>
                </c:pt>
                <c:pt idx="10">
                  <c:v>Гео-8</c:v>
                </c:pt>
                <c:pt idx="11">
                  <c:v>Гео-4</c:v>
                </c:pt>
                <c:pt idx="12">
                  <c:v>016</c:v>
                </c:pt>
                <c:pt idx="13">
                  <c:v>Гео-9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7.08</c:v>
                </c:pt>
                <c:pt idx="1">
                  <c:v>4.91</c:v>
                </c:pt>
                <c:pt idx="2">
                  <c:v>4.9000000000000004</c:v>
                </c:pt>
                <c:pt idx="3">
                  <c:v>4.9000000000000004</c:v>
                </c:pt>
                <c:pt idx="4">
                  <c:v>4.1100000000000003</c:v>
                </c:pt>
                <c:pt idx="5">
                  <c:v>2.19</c:v>
                </c:pt>
                <c:pt idx="6">
                  <c:v>2.0699999999999998</c:v>
                </c:pt>
                <c:pt idx="7">
                  <c:v>1.7</c:v>
                </c:pt>
                <c:pt idx="8">
                  <c:v>1.63</c:v>
                </c:pt>
                <c:pt idx="9">
                  <c:v>1.54</c:v>
                </c:pt>
                <c:pt idx="10">
                  <c:v>1.53</c:v>
                </c:pt>
                <c:pt idx="11">
                  <c:v>1.44</c:v>
                </c:pt>
                <c:pt idx="12">
                  <c:v>1.1200000000000001</c:v>
                </c:pt>
                <c:pt idx="13">
                  <c:v>0.87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19695264"/>
        <c:axId val="219694088"/>
      </c:barChart>
      <c:catAx>
        <c:axId val="2196952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C8D3"/>
            </a:solidFill>
          </a:ln>
        </c:spPr>
        <c:txPr>
          <a:bodyPr/>
          <a:lstStyle/>
          <a:p>
            <a:pPr>
              <a:defRPr sz="800">
                <a:solidFill>
                  <a:srgbClr val="5A5A5A"/>
                </a:solidFill>
              </a:defRPr>
            </a:pPr>
            <a:endParaRPr lang="ru-RU"/>
          </a:p>
        </c:txPr>
        <c:crossAx val="219694088"/>
        <c:crosses val="autoZero"/>
        <c:auto val="1"/>
        <c:lblAlgn val="ctr"/>
        <c:lblOffset val="100"/>
        <c:noMultiLvlLbl val="0"/>
      </c:catAx>
      <c:valAx>
        <c:axId val="219694088"/>
        <c:scaling>
          <c:orientation val="minMax"/>
          <c:max val="8"/>
        </c:scaling>
        <c:delete val="1"/>
        <c:axPos val="l"/>
        <c:numFmt formatCode="General" sourceLinked="1"/>
        <c:majorTickMark val="out"/>
        <c:minorTickMark val="none"/>
        <c:tickLblPos val="nextTo"/>
        <c:crossAx val="21969526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="" xmlns:a16="http://schemas.microsoft.com/office/drawing/2014/main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="" xmlns:a16="http://schemas.microsoft.com/office/drawing/2014/main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="" xmlns:a16="http://schemas.microsoft.com/office/drawing/2014/main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="" xmlns:a16="http://schemas.microsoft.com/office/drawing/2014/main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="" xmlns:a16="http://schemas.microsoft.com/office/drawing/2014/main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="" xmlns:a16="http://schemas.microsoft.com/office/drawing/2014/main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="" xmlns:a16="http://schemas.microsoft.com/office/drawing/2014/main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="" xmlns:a16="http://schemas.microsoft.com/office/drawing/2014/main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="" xmlns:a16="http://schemas.microsoft.com/office/drawing/2014/main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="" xmlns:a16="http://schemas.microsoft.com/office/drawing/2014/main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="" xmlns:a16="http://schemas.microsoft.com/office/drawing/2014/main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="" xmlns:a16="http://schemas.microsoft.com/office/drawing/2014/main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="" xmlns:a16="http://schemas.microsoft.com/office/drawing/2014/main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="" xmlns:a16="http://schemas.microsoft.com/office/drawing/2014/main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="" xmlns:a16="http://schemas.microsoft.com/office/drawing/2014/main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="" xmlns:a16="http://schemas.microsoft.com/office/drawing/2014/main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="" xmlns:a16="http://schemas.microsoft.com/office/drawing/2014/main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="" xmlns:a16="http://schemas.microsoft.com/office/drawing/2014/main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="" xmlns:a16="http://schemas.microsoft.com/office/drawing/2014/main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="" xmlns:a16="http://schemas.microsoft.com/office/drawing/2014/main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="" xmlns:a16="http://schemas.microsoft.com/office/drawing/2014/main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="" xmlns:a16="http://schemas.microsoft.com/office/drawing/2014/main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="" xmlns:a16="http://schemas.microsoft.com/office/drawing/2014/main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="" xmlns:a16="http://schemas.microsoft.com/office/drawing/2014/main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="" xmlns:a16="http://schemas.microsoft.com/office/drawing/2014/main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="" xmlns:a16="http://schemas.microsoft.com/office/drawing/2014/main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="" xmlns:a16="http://schemas.microsoft.com/office/drawing/2014/main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="" xmlns:a16="http://schemas.microsoft.com/office/drawing/2014/main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="" xmlns:a16="http://schemas.microsoft.com/office/drawing/2014/main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="" xmlns:a16="http://schemas.microsoft.com/office/drawing/2014/main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="" xmlns:a16="http://schemas.microsoft.com/office/drawing/2014/main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="" xmlns:a16="http://schemas.microsoft.com/office/drawing/2014/main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="" xmlns:a16="http://schemas.microsoft.com/office/drawing/2014/main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="" xmlns:a16="http://schemas.microsoft.com/office/drawing/2014/main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="" xmlns:a16="http://schemas.microsoft.com/office/drawing/2014/main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FilterOff_4BAF46.png"/><Relationship Id="rId11" Type="http://schemas.openxmlformats.org/officeDocument/2006/relationships/image" Target="../media/yug_TbSearch_4BAF46.png"/><Relationship Id="rId12" Type="http://schemas.openxmlformats.org/officeDocument/2006/relationships/image" Target="../media/yug_TbStack2_4BAF46.png"/><Relationship Id="rId13" Type="http://schemas.openxmlformats.org/officeDocument/2006/relationships/image" Target="../media/yug_TbCalendarTime_4BAF46.png"/><Relationship Id="rId14" Type="http://schemas.openxmlformats.org/officeDocument/2006/relationships/image" Target="../media/yug_TbTool_4BAF46.png"/><Relationship Id="rId15" Type="http://schemas.openxmlformats.org/officeDocument/2006/relationships/image" Target="../media/yug_TbChartLine_4BAF46.png"/><Relationship Id="rId16" Type="http://schemas.openxmlformats.org/officeDocument/2006/relationships/image" Target="../media/yug_TbRoute_4BAF46.png"/><Relationship Id="rId17" Type="http://schemas.openxmlformats.org/officeDocument/2006/relationships/image" Target="../media/yug_TbDroplet_4BAF46.png"/><Relationship Id="rId18" Type="http://schemas.openxmlformats.org/officeDocument/2006/relationships/image" Target="../media/yug_TbBolt_4BAF46.png"/><Relationship Id="rId19" Type="http://schemas.openxmlformats.org/officeDocument/2006/relationships/image" Target="../media/yug_TbCash_4BAF4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</a:t>
            </a:r>
            <a:r>
              <a:rPr lang="ru-RU" dirty="0" smtClean="0"/>
              <a:t>урение </a:t>
            </a:r>
            <a:r>
              <a:rPr lang="ru-RU" dirty="0"/>
              <a:t>с поглощением снижает </a:t>
            </a:r>
            <a:r>
              <a:rPr lang="ru-RU" dirty="0" smtClean="0"/>
              <a:t>дебит </a:t>
            </a:r>
            <a:r>
              <a:rPr lang="ru-RU" dirty="0" smtClean="0"/>
              <a:t>геотермальной скважины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11448752" cy="76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2" name="Иконка 12" descr="TbFlame_FFFF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4" y="1650000"/>
            <a:ext cx="420000" cy="42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1364" y="1480000"/>
            <a:ext cx="10548752" cy="7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Главный результат БРД: дебит пароводяной смеси в «первоначальном» виде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Коллектор не охлаждён и не закольматирован — скважина отдаёт </a:t>
            </a:r>
            <a:r>
              <a:rPr lang="ru-RU" sz="1050" b="0" dirty="0" smtClean="0">
                <a:solidFill>
                  <a:srgbClr val="FFFFFF"/>
                </a:solidFill>
                <a:latin typeface="+mn-lt"/>
              </a:rPr>
              <a:t>ПВС сразу </a:t>
            </a:r>
            <a:r>
              <a:rPr lang="ru-RU" sz="1050" b="0" dirty="0">
                <a:solidFill>
                  <a:srgbClr val="FFFFFF"/>
                </a:solidFill>
                <a:latin typeface="+mn-lt"/>
              </a:rPr>
              <a:t>при освоении и в объёме, который определяет пласт, а не последствия бурения.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371364" y="2390000"/>
            <a:ext cx="11448752" cy="3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491364" y="2390000"/>
            <a:ext cx="215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Фактор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1364" y="2390000"/>
            <a:ext cx="420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продуктивной зоны с поглощением (сейчас)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1364" y="2390000"/>
            <a:ext cx="4498752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на депрессии (БРД)</a:t>
            </a:r>
          </a:p>
        </p:txBody>
      </p:sp>
      <p:pic>
        <p:nvPicPr>
          <p:cNvPr id="18" name="Иконка 18" descr="TbTemperatureMinus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4" y="2930000"/>
            <a:ext cx="320000" cy="32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1364" y="275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Температура коллектора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1364" y="275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Холодная техническая вода уходит в зону, где сосредоточены горячая вода и пар: коллектор охлаждается, нужен длительный повторный прогрев; при охлаждении падает растворимость кремнезёма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7121364" y="279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7241364" y="275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Промывочная жидкость возвращается на поверхность — коллектор не охлаждается, прогрев не требуется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371364" y="343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FilterOff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4" y="3610000"/>
            <a:ext cx="320000" cy="32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71364" y="343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Проницаемость трещин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1364" y="343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Шлам не выносится на устье и уходит в трещины; вместе с осаждающимся кремнезёмом формирует плотную закупорку — дебит снижается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347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41364" y="343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Шлам выносится на поверхность, трещины остаются открытыми</a:t>
            </a:r>
          </a:p>
        </p:txBody>
      </p:sp>
      <p:pic>
        <p:nvPicPr>
          <p:cNvPr id="29" name="Иконка 29" descr="TbGauge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64" y="4290000"/>
            <a:ext cx="320000" cy="32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71364" y="411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Скорость и долота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1364" y="411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Высокое забойное давление, повторное измельчение шлама,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время на проработку </a:t>
            </a:r>
            <a:r>
              <a:rPr lang="ru-RU" sz="950" b="0" dirty="0" err="1" smtClean="0">
                <a:solidFill>
                  <a:schemeClr val="bg2"/>
                </a:solidFill>
                <a:latin typeface="+mn-lt"/>
              </a:rPr>
              <a:t>призабойной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зоны при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плохой очистке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415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41364" y="411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забойное давление и лучше очистка забоя азотированной жидкостью: выше механическая скорость,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с PDC-долотами —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рейсов на смену долот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371364" y="479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Droplet_4BAF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64" y="4970000"/>
            <a:ext cx="320000" cy="32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871364" y="479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Вода и логистика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1364" y="479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Большие объёмы воды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поглощаются пластом;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простои на набор воды,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затраты на завоз воды автоцистернами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8" name="Фигура 38"/>
          <p:cNvSpPr/>
          <p:nvPr/>
        </p:nvSpPr>
        <p:spPr>
          <a:xfrm>
            <a:off x="7121364" y="483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TextBox 39"/>
          <p:cNvSpPr txBox="1"/>
          <p:nvPr/>
        </p:nvSpPr>
        <p:spPr>
          <a:xfrm>
            <a:off x="7241364" y="479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Вода возвращается в цикл: меньше расход, простоев и транспортных затрат</a:t>
            </a:r>
          </a:p>
        </p:txBody>
      </p:sp>
      <p:pic>
        <p:nvPicPr>
          <p:cNvPr id="40" name="Иконка 40" descr="TbGasStation_4BAF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64" y="5650000"/>
            <a:ext cx="320000" cy="32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871364" y="547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Дизельное топливо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41364" y="547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Увеличенный расход ДТ при большем количестве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рейсов на смену долот, высокие затраты энергии на разрушение породы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7121364" y="551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7241364" y="547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СПО и нагрузки на подъёмный агрегат и буровые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насосы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— ниже расход ДТ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Технология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Бурение </a:t>
            </a:r>
            <a:r>
              <a:rPr lang="ru-RU" dirty="0" smtClean="0"/>
              <a:t>продуктивного интервала на </a:t>
            </a:r>
            <a:r>
              <a:rPr lang="ru-RU" dirty="0"/>
              <a:t>азотированной воде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700000" cy="4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7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51364" y="1560000"/>
            <a:ext cx="43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chemeClr val="tx2"/>
                </a:solidFill>
                <a:latin typeface="+mj-lt"/>
              </a:rPr>
              <a:t>Схема: замкнутая циркуляция азотированной воды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821364" y="3000000"/>
            <a:ext cx="780000" cy="26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7A8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Фигура 15"/>
          <p:cNvSpPr/>
          <p:nvPr/>
        </p:nvSpPr>
        <p:spPr>
          <a:xfrm>
            <a:off x="1131364" y="2940000"/>
            <a:ext cx="160000" cy="236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cxnSp>
        <p:nvCxnSpPr>
          <p:cNvPr id="16" name="Стрелка 16"/>
          <p:cNvCxnSpPr/>
          <p:nvPr/>
        </p:nvCxnSpPr>
        <p:spPr>
          <a:xfrm>
            <a:off x="1211364" y="3150000"/>
            <a:ext cx="0" cy="206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17" name="Стрелка 17"/>
          <p:cNvCxnSpPr/>
          <p:nvPr/>
        </p:nvCxnSpPr>
        <p:spPr>
          <a:xfrm flipV="1">
            <a:off x="98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cxnSp>
        <p:nvCxnSpPr>
          <p:cNvPr id="18" name="Стрелка 18"/>
          <p:cNvCxnSpPr/>
          <p:nvPr/>
        </p:nvCxnSpPr>
        <p:spPr>
          <a:xfrm flipV="1">
            <a:off x="144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sp>
        <p:nvSpPr>
          <p:cNvPr id="19" name="Фигура 19"/>
          <p:cNvSpPr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solidFill>
            <a:srgbClr val="FDE9C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Продуктивная зона: Pзаб ≤ Pпл — </a:t>
            </a:r>
            <a:r>
              <a:rPr lang="ru-RU" sz="850" b="1" dirty="0" smtClean="0">
                <a:solidFill>
                  <a:srgbClr val="00326E"/>
                </a:solidFill>
                <a:latin typeface="+mn-lt"/>
              </a:rPr>
              <a:t>поглощение отсутствует, </a:t>
            </a:r>
            <a:r>
              <a:rPr lang="ru-RU" sz="850" b="1" dirty="0">
                <a:solidFill>
                  <a:srgbClr val="00326E"/>
                </a:solidFill>
                <a:latin typeface="+mn-lt"/>
              </a:rPr>
              <a:t>коллектор сохранён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1900000"/>
            <a:ext cx="220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Насосы + </a:t>
            </a:r>
            <a:r>
              <a:rPr lang="ru-RU" sz="950" b="1" dirty="0" smtClean="0">
                <a:solidFill>
                  <a:srgbClr val="00326E"/>
                </a:solidFill>
                <a:latin typeface="+mn-lt"/>
              </a:rPr>
              <a:t>компрессоры</a:t>
            </a:r>
            <a:endParaRPr lang="ru-RU" sz="95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вода + азот (аэрированная жидкость)</a:t>
            </a:r>
          </a:p>
        </p:txBody>
      </p:sp>
      <p:cxnSp>
        <p:nvCxnSpPr>
          <p:cNvPr id="22" name="Стрелка 22"/>
          <p:cNvCxnSpPr/>
          <p:nvPr/>
        </p:nvCxnSpPr>
        <p:spPr>
          <a:xfrm>
            <a:off x="871364" y="2380000"/>
            <a:ext cx="280000" cy="2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23" name="Фигура 23"/>
          <p:cNvSpPr/>
          <p:nvPr/>
        </p:nvSpPr>
        <p:spPr>
          <a:xfrm>
            <a:off x="701364" y="2590000"/>
            <a:ext cx="1020000" cy="32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731364" y="2590000"/>
            <a:ext cx="9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РУГ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1861364" y="2590000"/>
            <a:ext cx="1300000" cy="56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1891364" y="2590000"/>
            <a:ext cx="124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Дроссельный манифольд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противодавление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291364" y="1940000"/>
            <a:ext cx="1150000" cy="56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321364" y="1940000"/>
            <a:ext cx="109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пар </a:t>
            </a:r>
            <a:r>
              <a:rPr lang="ru-RU" sz="750" b="0" dirty="0">
                <a:solidFill>
                  <a:srgbClr val="FFFFFF"/>
                </a:solidFill>
                <a:latin typeface="+mn-lt"/>
              </a:rPr>
              <a:t>· вода · шлам</a:t>
            </a:r>
          </a:p>
        </p:txBody>
      </p:sp>
      <p:cxnSp>
        <p:nvCxnSpPr>
          <p:cNvPr id="29" name="Стрелка 29"/>
          <p:cNvCxnSpPr/>
          <p:nvPr/>
        </p:nvCxnSpPr>
        <p:spPr>
          <a:xfrm>
            <a:off x="1721364" y="2750000"/>
            <a:ext cx="14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0" name="Стрелка 30"/>
          <p:cNvCxnSpPr/>
          <p:nvPr/>
        </p:nvCxnSpPr>
        <p:spPr>
          <a:xfrm flipV="1">
            <a:off x="2811364" y="2490000"/>
            <a:ext cx="580000" cy="1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1" name="Фигура 31"/>
          <p:cNvSpPr/>
          <p:nvPr/>
        </p:nvSpPr>
        <p:spPr>
          <a:xfrm>
            <a:off x="3291364" y="3480000"/>
            <a:ext cx="115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3321364" y="3480000"/>
            <a:ext cx="109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Градирня → ЦС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охлаждение, возврат</a:t>
            </a:r>
          </a:p>
        </p:txBody>
      </p:sp>
      <p:cxnSp>
        <p:nvCxnSpPr>
          <p:cNvPr id="33" name="Стрелка 33"/>
          <p:cNvCxnSpPr/>
          <p:nvPr/>
        </p:nvCxnSpPr>
        <p:spPr>
          <a:xfrm>
            <a:off x="3866364" y="2500000"/>
            <a:ext cx="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4" name="Фигура 34"/>
          <p:cNvSpPr/>
          <p:nvPr/>
        </p:nvSpPr>
        <p:spPr>
          <a:xfrm>
            <a:off x="1861364" y="3480000"/>
            <a:ext cx="130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891364" y="3480000"/>
            <a:ext cx="124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Отвод </a:t>
            </a:r>
            <a:r>
              <a:rPr lang="ru-RU" sz="900" b="1" dirty="0" smtClean="0">
                <a:solidFill>
                  <a:srgbClr val="FFFFFF"/>
                </a:solidFill>
                <a:latin typeface="+mn-lt"/>
              </a:rPr>
              <a:t>пара</a:t>
            </a:r>
            <a:endParaRPr lang="ru-RU" sz="900" b="1" dirty="0">
              <a:solidFill>
                <a:srgbClr val="FFFFFF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на </a:t>
            </a: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сброс</a:t>
            </a:r>
            <a:endParaRPr lang="ru-RU" sz="750" b="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36" name="Стрелка 36"/>
          <p:cNvCxnSpPr/>
          <p:nvPr/>
        </p:nvCxnSpPr>
        <p:spPr>
          <a:xfrm flipH="1">
            <a:off x="3011364" y="2500000"/>
            <a:ext cx="38000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7" name="TextBox 37"/>
          <p:cNvSpPr txBox="1"/>
          <p:nvPr/>
        </p:nvSpPr>
        <p:spPr>
          <a:xfrm>
            <a:off x="1861364" y="4000000"/>
            <a:ext cx="309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Шлам выносится на поверхность и отделяется в сепараторе.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Режим задаётся долей азота и противодавлением на дросселе.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71364" y="1440000"/>
            <a:ext cx="3500000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Как работает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5271364" y="18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5271364" y="18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71364" y="1820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 башмака эксплуатационной колонны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бурение по стандартной технологии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271364" y="2736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5271364" y="2736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71364" y="2696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Вскрытие продуктивной зоны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в техническую воду подаётся азот — плотность смеси и забойное давление снижаются до уровня пластового и ниже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5271364" y="3612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5271364" y="3612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71364" y="3572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Герметизация устья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РУГ </a:t>
            </a:r>
            <a:r>
              <a:rPr lang="ru-RU" sz="900" dirty="0" smtClean="0">
                <a:solidFill>
                  <a:schemeClr val="bg2"/>
                </a:solidFill>
              </a:rPr>
              <a:t>герметизирует затрубное пространство с помощью </a:t>
            </a:r>
            <a:r>
              <a:rPr lang="ru-RU" sz="900" dirty="0" err="1" smtClean="0">
                <a:solidFill>
                  <a:schemeClr val="bg2"/>
                </a:solidFill>
              </a:rPr>
              <a:t>Подшипниково</a:t>
            </a:r>
            <a:r>
              <a:rPr lang="ru-RU" sz="900" dirty="0" smtClean="0">
                <a:solidFill>
                  <a:schemeClr val="bg2"/>
                </a:solidFill>
              </a:rPr>
              <a:t> – Уплотнительного Узла (ПУУ) при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бурении и СПО и отводит поток в </a:t>
            </a:r>
            <a:r>
              <a:rPr lang="ru-RU" sz="900" b="0" dirty="0" err="1" smtClean="0">
                <a:solidFill>
                  <a:schemeClr val="bg2"/>
                </a:solidFill>
                <a:latin typeface="+mn-lt"/>
              </a:rPr>
              <a:t>манифольд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БРД, давление ПВС на устье </a:t>
            </a:r>
            <a:r>
              <a:rPr lang="ru-RU" sz="900" dirty="0" smtClean="0">
                <a:solidFill>
                  <a:schemeClr val="bg2"/>
                </a:solidFill>
              </a:rPr>
              <a:t>контролируется и корректируется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дросселем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8" name="Фигура 48"/>
          <p:cNvSpPr/>
          <p:nvPr/>
        </p:nvSpPr>
        <p:spPr>
          <a:xfrm>
            <a:off x="5271364" y="4488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5271364" y="4488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1364" y="4448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Сепарация и возврат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сепаратор отделяет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пар,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воду и шлам; вода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охлаждается на градирнях либо шламовых накопителях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и возвращается в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циркуляцию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" name="Фигура 51"/>
          <p:cNvSpPr/>
          <p:nvPr/>
        </p:nvSpPr>
        <p:spPr>
          <a:xfrm>
            <a:off x="5271364" y="5364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5271364" y="5364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1364" y="5324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Освоение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скважина выходит на режим без длительного прогрева коллектора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71364" y="1440000"/>
            <a:ext cx="28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Оборудование АКРОС</a:t>
            </a:r>
          </a:p>
        </p:txBody>
      </p:sp>
      <p:sp>
        <p:nvSpPr>
          <p:cNvPr id="55" name="Место для фото 55"/>
          <p:cNvSpPr/>
          <p:nvPr/>
        </p:nvSpPr>
        <p:spPr>
          <a:xfrm>
            <a:off x="8971364" y="1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6" name="Иконка 56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2070000"/>
            <a:ext cx="400000" cy="4000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9071364" y="2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РУГ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роторный устьевой герметизатор</a:t>
            </a:r>
          </a:p>
        </p:txBody>
      </p:sp>
      <p:sp>
        <p:nvSpPr>
          <p:cNvPr id="58" name="Место для фото 58"/>
          <p:cNvSpPr/>
          <p:nvPr/>
        </p:nvSpPr>
        <p:spPr>
          <a:xfrm>
            <a:off x="8971364" y="33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9" name="Иконка 59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3570000"/>
            <a:ext cx="400000" cy="4000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9071364" y="40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Общий вид комплекса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БРД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sp>
        <p:nvSpPr>
          <p:cNvPr id="61" name="Место для фото 61"/>
          <p:cNvSpPr/>
          <p:nvPr/>
        </p:nvSpPr>
        <p:spPr>
          <a:xfrm>
            <a:off x="8971364" y="4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2" name="Иконка 62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5070000"/>
            <a:ext cx="400000" cy="4000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9071364" y="5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Фото: азотная установка /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сепаратор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xmlns="" id="{B7A7CC35-C853-A0A8-9F60-24BD5329F903}"/>
              </a:ext>
            </a:extLst>
          </p:cNvPr>
          <p:cNvGrpSpPr/>
          <p:nvPr/>
        </p:nvGrpSpPr>
        <p:grpSpPr>
          <a:xfrm>
            <a:off x="8971364" y="4796546"/>
            <a:ext cx="2857297" cy="1392000"/>
            <a:chOff x="463218" y="2423813"/>
            <a:chExt cx="3580440" cy="2114360"/>
          </a:xfrm>
        </p:grpSpPr>
        <p:pic>
          <p:nvPicPr>
            <p:cNvPr id="65" name="Рисунок 64">
              <a:extLst>
                <a:ext uri="{FF2B5EF4-FFF2-40B4-BE49-F238E27FC236}">
                  <a16:creationId xmlns:a16="http://schemas.microsoft.com/office/drawing/2014/main" xmlns="" id="{F079A71F-A309-BB63-DBEA-E4826F2E8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18" y="3599999"/>
              <a:ext cx="1922934" cy="938174"/>
            </a:xfrm>
            <a:prstGeom prst="rect">
              <a:avLst/>
            </a:prstGeom>
          </p:spPr>
        </p:pic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xmlns="" id="{21AD4FD0-3A94-9D9C-EA4A-7468276A3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218" y="2423813"/>
              <a:ext cx="1922934" cy="1134937"/>
            </a:xfrm>
            <a:prstGeom prst="rect">
              <a:avLst/>
            </a:prstGeom>
          </p:spPr>
        </p:pic>
        <p:pic>
          <p:nvPicPr>
            <p:cNvPr id="67" name="Рисунок 66">
              <a:extLst>
                <a:ext uri="{FF2B5EF4-FFF2-40B4-BE49-F238E27FC236}">
                  <a16:creationId xmlns:a16="http://schemas.microsoft.com/office/drawing/2014/main" xmlns="" id="{30979FDA-CB77-03CA-B3F4-2E86F4B48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7405" y="2423813"/>
              <a:ext cx="1626253" cy="2114360"/>
            </a:xfrm>
            <a:prstGeom prst="rect">
              <a:avLst/>
            </a:prstGeom>
          </p:spPr>
        </p:pic>
      </p:grpSp>
      <p:pic>
        <p:nvPicPr>
          <p:cNvPr id="69" name="Picture 15" descr="A picture containing yellow, blue, sitting&#10;&#10;Description automatically generated">
            <a:extLst>
              <a:ext uri="{FF2B5EF4-FFF2-40B4-BE49-F238E27FC236}">
                <a16:creationId xmlns="" xmlns:a16="http://schemas.microsoft.com/office/drawing/2014/main" id="{EE1455CD-C223-4229-BB82-37FF978647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1" r="7734" b="-664"/>
          <a:stretch/>
        </p:blipFill>
        <p:spPr>
          <a:xfrm>
            <a:off x="8971364" y="1791677"/>
            <a:ext cx="1466223" cy="1388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Рисунок 70">
            <a:extLst>
              <a:ext uri="{FF2B5EF4-FFF2-40B4-BE49-F238E27FC236}">
                <a16:creationId xmlns="" xmlns:a16="http://schemas.microsoft.com/office/drawing/2014/main" id="{47C1AB19-7066-4831-A498-BCDE095620E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276" b="11868"/>
          <a:stretch/>
        </p:blipFill>
        <p:spPr>
          <a:xfrm>
            <a:off x="10437587" y="1791454"/>
            <a:ext cx="1382529" cy="13885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" t="41371" r="5302" b="40311"/>
          <a:stretch/>
        </p:blipFill>
        <p:spPr>
          <a:xfrm>
            <a:off x="8973084" y="3283884"/>
            <a:ext cx="2837204" cy="1396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эффект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Почему БРД окупается на </a:t>
            </a:r>
            <a:r>
              <a:rPr lang="ru-RU" dirty="0" err="1" smtClean="0"/>
              <a:t>Мутновском</a:t>
            </a:r>
            <a:r>
              <a:rPr lang="ru-RU" dirty="0" smtClean="0"/>
              <a:t> месторождении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430000"/>
            <a:ext cx="114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Подтверждено международной практикой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Фигура 13"/>
          <p:cNvSpPr/>
          <p:nvPr/>
        </p:nvSpPr>
        <p:spPr>
          <a:xfrm>
            <a:off x="371364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4" name="TextBox 14"/>
          <p:cNvSpPr txBox="1"/>
          <p:nvPr/>
        </p:nvSpPr>
        <p:spPr>
          <a:xfrm>
            <a:off x="491364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Исландия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стандарт Hellisheidi: продуктивная зона бурится на аэрированной воде;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увеличение механической скорости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 базальтах — до 3×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263552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3263552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3383552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Кения, Олкария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средняя мощность скважин 58 МВт(т) с аэрацией против 23 МВт(т) при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бурении с поглощением на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воде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155740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155740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275740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 smtClean="0">
                <a:solidFill>
                  <a:srgbClr val="00326E"/>
                </a:solidFill>
                <a:latin typeface="+mn-lt"/>
              </a:rPr>
              <a:t>Кения, KenGen (19 скважин)</a:t>
            </a:r>
            <a:endParaRPr lang="ru-RU" sz="110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потери на поглощения — в среднем $128 тыс. на скважину; отношение выгод к затратам БРД — более 4 (расчёт)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9047928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Фигура 22"/>
          <p:cNvSpPr/>
          <p:nvPr/>
        </p:nvSpPr>
        <p:spPr>
          <a:xfrm>
            <a:off x="9047928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9167928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Новая Зеландия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сервис аэрированного бурения — 5,5 % стоимости скважины (2 600 м, 38 сут)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2980000"/>
            <a:ext cx="3716250" cy="3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52136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Камчатка сегодня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36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Продуктивные зоны вскрываются с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полным поглощением холодной технической воды в интервале коллектора; технология БРД никогда не применялась.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Дебит снижается из-за отложений кремнекислоты в стволе и прискважинной зоне; при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значительном ухудшении свойств коллектора,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скважину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останавливают.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Скв. 016 — падение дебита через 4 года, Гео-6 — через 2 года;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средний жизненный цикл скважин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≈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4</a:t>
            </a:r>
            <a:r>
              <a:rPr lang="en-US" sz="950" b="0" dirty="0" smtClean="0">
                <a:solidFill>
                  <a:schemeClr val="bg2"/>
                </a:solidFill>
                <a:latin typeface="+mn-lt"/>
              </a:rPr>
              <a:t>-6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лет.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7" name="Фигура 27"/>
          <p:cNvSpPr/>
          <p:nvPr/>
        </p:nvSpPr>
        <p:spPr>
          <a:xfrm>
            <a:off x="4237614" y="2980000"/>
            <a:ext cx="3716250" cy="30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438761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Производственный эффект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8761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Вывод скважины на режим без длительного прогрева — дебит в первоначальном объёме;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Сохранение проницаемости трещин — выше дебит и дольше межремонтный период;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Выше механическая скорость, меньше СПО,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проработок и расхода долот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Меньше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расхода воды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, простоев на её набор 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 на ее завоз автоцистернами.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0" name="Фигура 30"/>
          <p:cNvSpPr/>
          <p:nvPr/>
        </p:nvSpPr>
        <p:spPr>
          <a:xfrm>
            <a:off x="8103865" y="2980000"/>
            <a:ext cx="3716250" cy="3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8253865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Экономический эффект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53865" y="3400000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330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млн ₽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03865" y="3400000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новой скважины взамен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выбывшей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3865" y="4253333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20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03865" y="4253333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доля сервиса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БРД в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стоимости скважины (≈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65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 с учётом роста </a:t>
            </a:r>
            <a:r>
              <a:rPr lang="ru-RU" sz="850" b="0" dirty="0" err="1" smtClean="0">
                <a:solidFill>
                  <a:srgbClr val="FFFFFF"/>
                </a:solidFill>
                <a:latin typeface="+mn-lt"/>
              </a:rPr>
              <a:t>ком.скорости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)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253865" y="5106666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+20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03865" y="5106666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прирост мощности скважины (≈ +0,6 МВт к средним 2,9 МВт), при котором БРД окупается — расчёт на слайде 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604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C00000"/>
                </a:solidFill>
                <a:latin typeface="+mn-lt"/>
              </a:rPr>
              <a:t>Международные показатели — ориентиры с других месторождений; эффект для </a:t>
            </a:r>
            <a:r>
              <a:rPr lang="ru-RU" sz="850" b="0" dirty="0" err="1">
                <a:solidFill>
                  <a:srgbClr val="C00000"/>
                </a:solidFill>
                <a:latin typeface="+mn-lt"/>
              </a:rPr>
              <a:t>Мутновского</a:t>
            </a:r>
            <a:r>
              <a:rPr lang="ru-RU" sz="850" b="0" dirty="0">
                <a:solidFill>
                  <a:srgbClr val="C00000"/>
                </a:solidFill>
                <a:latin typeface="+mn-lt"/>
              </a:rPr>
              <a:t> </a:t>
            </a:r>
            <a:r>
              <a:rPr lang="ru-RU" sz="850" b="0" dirty="0" smtClean="0">
                <a:solidFill>
                  <a:srgbClr val="C00000"/>
                </a:solidFill>
                <a:latin typeface="+mn-lt"/>
              </a:rPr>
              <a:t>месторождения подтверждается </a:t>
            </a:r>
            <a:r>
              <a:rPr lang="ru-RU" sz="850" b="0" dirty="0">
                <a:solidFill>
                  <a:srgbClr val="C00000"/>
                </a:solidFill>
                <a:latin typeface="+mn-lt"/>
              </a:rPr>
              <a:t>ОПР на первой скважине. Расчёт окупаемости — ориентировочный.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1364" y="628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UNU-GTP 2008 Report 11; Birkisson, Hole, EGC 2007; Nzioka et al., 2014; Вестник РусГидро, 2018; Спектор и др., «Разведка и охрана недр», № 2, 2025; Чернев И.И., ИГД ДВО РАН.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Мощность и окупаемость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ru-RU" dirty="0" smtClean="0"/>
              <a:t>правка </a:t>
            </a:r>
            <a:r>
              <a:rPr lang="ru-RU" dirty="0"/>
              <a:t>добычи ПВС, январь–май 2024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5900000" cy="3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11000"/>
            <a:ext cx="5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21364" y="153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chemeClr val="tx2"/>
                </a:solidFill>
                <a:latin typeface="+mn-lt"/>
              </a:rPr>
              <a:t>Расчётная мощность добычных скважин участка Дачный, МВт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364" y="448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Расчёт: 40 МВт средней нагрузки МГеоЭС-1 распределены пропорционально добыче ПВС; паросодержание 26 % в справке принято единым для всех скважин.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71364" y="4960000"/>
            <a:ext cx="5900000" cy="119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521364" y="4960000"/>
            <a:ext cx="170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C00000"/>
                </a:solidFill>
                <a:latin typeface="+mn-lt"/>
              </a:rPr>
              <a:t>606 мг/л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SiO₂ в сепарате Гео-8 (2024)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1364" y="4960000"/>
            <a:ext cx="385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Растворимость аморфного кремнезёма при 100 °C ≈ 370 мг/л. При охлаждении флюида холодной технической водой кремнезём пересыщается и осаждается в трещинах —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гипотеза о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закупорке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трещин подтверждается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для </a:t>
            </a:r>
            <a:r>
              <a:rPr lang="ru-RU" sz="950" b="0" dirty="0" err="1" smtClean="0">
                <a:solidFill>
                  <a:schemeClr val="bg2"/>
                </a:solidFill>
                <a:latin typeface="+mn-lt"/>
              </a:rPr>
              <a:t>Мутновского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месторождения.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8" name="Фигура 18"/>
          <p:cNvSpPr/>
          <p:nvPr/>
        </p:nvSpPr>
        <p:spPr>
          <a:xfrm>
            <a:off x="6501364" y="1480000"/>
            <a:ext cx="5318752" cy="22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501364" y="1411000"/>
            <a:ext cx="531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651364" y="15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 smtClean="0">
                <a:solidFill>
                  <a:schemeClr val="tx2"/>
                </a:solidFill>
              </a:rPr>
              <a:t>Оценка фактической </a:t>
            </a:r>
            <a:r>
              <a:rPr lang="ru-RU" sz="1150" b="1" smtClean="0">
                <a:solidFill>
                  <a:schemeClr val="tx2"/>
                </a:solidFill>
              </a:rPr>
              <a:t>мощности скважин - </a:t>
            </a:r>
            <a:r>
              <a:rPr lang="ru-RU" sz="1150" b="1" smtClean="0">
                <a:solidFill>
                  <a:schemeClr val="tx2"/>
                </a:solidFill>
                <a:latin typeface="+mn-lt"/>
              </a:rPr>
              <a:t>3–4 МВт</a:t>
            </a:r>
            <a:endParaRPr lang="ru-RU" sz="11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51364" y="1860000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50 / ≈40 МВт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01364" y="1860000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установленная / средняя фактическая мощность МГеоЭС-1 (≈350 млн кВт·ч в год, КИУМ 78,5 %)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1364" y="2373333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2,9 МВт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1364" y="2373333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средняя мощность скважины (Дачный, 14 скв.); по месторождению ≈ 3,1 МВт (≈50 МВт / 16 скв.)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1364" y="2886666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1,9 МВт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1364" y="2886666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медиана: 5 скважин дают 64 % мощности участка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1364" y="340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Вывод: «3–4 МВт» верно как среднее (нижняя граница); типичная скважина — около 2 МВт.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6501364" y="3880000"/>
            <a:ext cx="5318752" cy="227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TextBox 29"/>
          <p:cNvSpPr txBox="1"/>
          <p:nvPr/>
        </p:nvSpPr>
        <p:spPr>
          <a:xfrm>
            <a:off x="6651364" y="39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Окупаемость БРД на одной скважине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1364" y="426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 smtClean="0">
                <a:solidFill>
                  <a:srgbClr val="FFFFFF"/>
                </a:solidFill>
                <a:latin typeface="+mn-lt"/>
              </a:rPr>
              <a:t>≈</a:t>
            </a:r>
            <a:r>
              <a:rPr lang="en-US" sz="1300" b="1" dirty="0" smtClean="0">
                <a:solidFill>
                  <a:srgbClr val="FFFFFF"/>
                </a:solidFill>
                <a:latin typeface="+mn-lt"/>
              </a:rPr>
              <a:t>114</a:t>
            </a:r>
            <a:r>
              <a:rPr lang="ru-RU" sz="1300" b="1" dirty="0" smtClean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1300" b="1" dirty="0">
                <a:solidFill>
                  <a:srgbClr val="FFFFFF"/>
                </a:solidFill>
                <a:latin typeface="+mn-lt"/>
              </a:rPr>
              <a:t>млн 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01364" y="426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1 МВт мощности новой скважины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(330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 / 2,9 МВт)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1364" y="487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+0,6 МВт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01364" y="487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точка окупаемости БРД </a:t>
            </a:r>
            <a:r>
              <a:rPr lang="en-US" sz="850" b="0" smtClean="0">
                <a:solidFill>
                  <a:srgbClr val="FFFFFF"/>
                </a:solidFill>
                <a:latin typeface="+mn-lt"/>
              </a:rPr>
              <a:t>65</a:t>
            </a:r>
            <a:r>
              <a:rPr lang="ru-RU" sz="850" b="0" smtClean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 — прирост +20 % к средней скважине (≈ 4 млн кВт·ч в год)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1364" y="548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+10 % … ×2,5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1364" y="548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ожидаемый прирост: минимум по руководству UBD (McLennan, 1997) — Олкария (23 → 58 МВт тепл.)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1364" y="623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справка добычи ПВС и хим. анализ Гео-8, ПАО «Камчатскэнерго», 2024; Спектор и др., 2025; растворимость SiO₂ — Dove et al.; Nzioka et al., 2014.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71364" y="1810000"/>
          <a:ext cx="5700000" cy="267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Анализ: разведка и добыча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Эффект БРД для МГеоЭС-2 помимо коммерческой скорости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624376" cy="35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562437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5364376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Разведка · 3 скважины</a:t>
            </a:r>
          </a:p>
        </p:txBody>
      </p:sp>
      <p:pic>
        <p:nvPicPr>
          <p:cNvPr id="14" name="Иконка 14" descr="TbFilterOff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364" y="1930000"/>
            <a:ext cx="300000" cy="30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1364" y="1880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Поглощения — главная статья экономии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Ликвидация поглощений — ≈10 % стоимости скважины на зрелых месторождениях и &gt;20 % на разведочных (Sandia, 2010); по более ранним оценкам — 25 % и более (Sandia, 1981).</a:t>
            </a:r>
          </a:p>
        </p:txBody>
      </p:sp>
      <p:pic>
        <p:nvPicPr>
          <p:cNvPr id="16" name="Иконка 16" descr="TbSearch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364" y="2544000"/>
            <a:ext cx="300000" cy="300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11364" y="2494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Достоверная оценка ресурса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Без повреждения ПЗП испытания показывают продуктивность пласта, а не последствия бурения. SK-2D (Филиппины): скин +27, предположительно от бурения; после перфорации и кислотной обработки — 4,3 МВт.</a:t>
            </a:r>
          </a:p>
        </p:txBody>
      </p:sp>
      <p:pic>
        <p:nvPicPr>
          <p:cNvPr id="18" name="Иконка 18" descr="TbStack2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364" y="3158000"/>
            <a:ext cx="300000" cy="30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1364" y="3108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Контроль геологии по стволу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Шлам выносится по большей части ствола, притоки фиксируются в процессе бурения — решения о конечном забое и зарезке бокового ствола принимаются по фактическим данным.</a:t>
            </a:r>
          </a:p>
        </p:txBody>
      </p:sp>
      <p:pic>
        <p:nvPicPr>
          <p:cNvPr id="20" name="Иконка 20" descr="TbCalendarTime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364" y="3772000"/>
            <a:ext cx="300000" cy="30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911364" y="3722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Сокращение сроков испытаний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Тепловое восстановление — 2 сут – 2 нед. вместо 2 нед. – 3 мес.: испытания начинаются раньше, снижается риск сдвига инвестиционного решения 2027 г.</a:t>
            </a:r>
          </a:p>
        </p:txBody>
      </p:sp>
      <p:pic>
        <p:nvPicPr>
          <p:cNvPr id="22" name="Иконка 22" descr="TbTool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364" y="4386000"/>
            <a:ext cx="300000" cy="300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911364" y="4336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Отработка режима на 3 скважинах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Режим аэрации, оборудование и квалификация персонала отрабатываются до бурения 12 добычных скважин; разведочная скважина при переводе в добычу не требует стимуляции.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6195740" y="1500000"/>
            <a:ext cx="5624376" cy="35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Фигура 25"/>
          <p:cNvSpPr/>
          <p:nvPr/>
        </p:nvSpPr>
        <p:spPr>
          <a:xfrm>
            <a:off x="6195740" y="1431000"/>
            <a:ext cx="562437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6325740" y="1540000"/>
            <a:ext cx="5364376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Добыча · 12 скважин</a:t>
            </a:r>
          </a:p>
        </p:txBody>
      </p:sp>
      <p:pic>
        <p:nvPicPr>
          <p:cNvPr id="27" name="Иконка 27" descr="TbChartLine_4BAF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5740" y="1930000"/>
            <a:ext cx="300000" cy="300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6735740" y="1880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Выше дебит или меньше скважин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Olkaria: скважины, пробуренные на аэрированной воде рядом с ранее пробуренными, — в среднем 58 МВт тепл. против 23 МВт при бурении с поглощением и ≈15 МВт на буровом растворе.</a:t>
            </a:r>
          </a:p>
        </p:txBody>
      </p:sp>
      <p:pic>
        <p:nvPicPr>
          <p:cNvPr id="29" name="Иконка 29" descr="TbRoute_4BAF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5740" y="2544000"/>
            <a:ext cx="300000" cy="30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735740" y="2494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Экономия на обустройстве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Меньше скважин для выработки той же мощности — меньше кустовых площадок, трубопроводов ПВС и системы сбора.</a:t>
            </a:r>
          </a:p>
        </p:txBody>
      </p:sp>
      <p:pic>
        <p:nvPicPr>
          <p:cNvPr id="31" name="Иконка 31" descr="TbDroplet_4BAF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5740" y="3158000"/>
            <a:ext cx="300000" cy="300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6735740" y="3108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Меньше расход материалов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Ниже расход бентонита, химреагентов, материалов для цементных мостов и пачек. При подтверждении эффекта — применение БРД и в верхних секциях (до фильтра-хвостовика).</a:t>
            </a:r>
          </a:p>
        </p:txBody>
      </p:sp>
      <p:pic>
        <p:nvPicPr>
          <p:cNvPr id="33" name="Иконка 33" descr="TbBolt_4BAF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5740" y="3772000"/>
            <a:ext cx="300000" cy="300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6735740" y="3722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Ранний пуск станции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Пар подаётся на энергоблоки к пуску без ожидания прогрева коллектора — выручка от продажи электроэнергии поступает раньше.</a:t>
            </a:r>
          </a:p>
        </p:txBody>
      </p:sp>
      <p:pic>
        <p:nvPicPr>
          <p:cNvPr id="35" name="Иконка 35" descr="TbCash_4BAF4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5740" y="4386000"/>
            <a:ext cx="300000" cy="30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735740" y="4336000"/>
            <a:ext cx="4944376" cy="61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Эффект масштаба сервиса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Новая Зеландия: сервис — 5,5 % стоимости скважины, 32 % его затрат — простой (оборудование работало 13 из 41 сут). На 12 скважинах мобилизация и простой распределяются — доля снижается.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371364" y="5130000"/>
            <a:ext cx="5624376" cy="1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501364" y="5130000"/>
            <a:ext cx="1500000" cy="10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1" dirty="0">
                <a:solidFill>
                  <a:srgbClr val="C00000"/>
                </a:solidFill>
                <a:latin typeface="+mn-lt"/>
              </a:rPr>
              <a:t>≈2 900 м³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холодной воды в сутки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0" dirty="0">
                <a:solidFill>
                  <a:srgbClr val="C00000"/>
                </a:solidFill>
                <a:latin typeface="+mn-lt"/>
              </a:rPr>
              <a:t>больше типового накопителя 2 000 м³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71364" y="5130000"/>
            <a:ext cx="3824376" cy="10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уходит в пласт при полном поглощении в стволе 8½″ (≈2 000 л/мин). Это охлаждает коллектор и пересыщает кремнезём: 606 мг/л SiO₂ в сепарате Гео-8 при растворимости ≈370 мг/л при 100 °C.</a:t>
            </a:r>
          </a:p>
        </p:txBody>
      </p:sp>
      <p:sp>
        <p:nvSpPr>
          <p:cNvPr id="40" name="Фигура 40"/>
          <p:cNvSpPr/>
          <p:nvPr/>
        </p:nvSpPr>
        <p:spPr>
          <a:xfrm>
            <a:off x="6195740" y="5130000"/>
            <a:ext cx="5624376" cy="1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TextBox 41"/>
          <p:cNvSpPr txBox="1"/>
          <p:nvPr/>
        </p:nvSpPr>
        <p:spPr>
          <a:xfrm>
            <a:off x="6325740" y="5150000"/>
            <a:ext cx="5364376" cy="2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Проверка ориентира: аналог МГеоЭС-1, 12 добычных скважин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25740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≈35 МВт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12 × 2,9 МВт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66834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+7 МВт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при +20 % — пороге окупаемости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07928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8CD17D"/>
                </a:solidFill>
                <a:latin typeface="+mn-lt"/>
              </a:rPr>
              <a:t>≈790 млн ₽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экономия: 2,4 скв. × 330 млн ₽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49022" y="5380000"/>
            <a:ext cx="1341094" cy="4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4A6A6"/>
                </a:solidFill>
                <a:latin typeface="+mn-lt"/>
              </a:rPr>
              <a:t>≈780 млн ₽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20" b="0" dirty="0">
                <a:solidFill>
                  <a:srgbClr val="FFFFFF"/>
                </a:solidFill>
                <a:latin typeface="+mn-lt"/>
              </a:rPr>
              <a:t>затраты на БРД: 12 × 65 млн ₽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25740" y="5850000"/>
            <a:ext cx="5364376" cy="2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60" b="0" dirty="0">
                <a:solidFill>
                  <a:srgbClr val="D7E4F2"/>
                </a:solidFill>
                <a:latin typeface="+mn-lt"/>
              </a:rPr>
              <a:t>При +20 % экономия равна затратам — это безубыточность. Каждые +10 % сверх порога ≈ +3,5 МВт ≈ +400 млн ₽; при доле сервиса ≈6 % (≈20 млн ₽) порог снижается до ≈+6 %.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Birkisson S.F., Hole H., EGC 2007; Finger J., Blankenship D., Sandia 2010; SAND-81-0036C; Buñing et al., SGW 1997; UNU-GTP SC-26. Расчёт ориентировочный (аналог МГеоЭС-1), без БРД разведочных скважин.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и допущения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Как управляются риски БРД и на чём основаны оценки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11448752" cy="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461364" y="1500000"/>
            <a:ext cx="21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Риск / допущение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61364" y="1500000"/>
            <a:ext cx="43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Данные мировой практики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11364" y="1500000"/>
            <a:ext cx="4608752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Позиция проекта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1364" y="187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Стоимость сервиса БРД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61364" y="187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Международная практика — ≈6 % стоимости скважины ($150–250 тыс.); Новая Зеландия — 5,49 % (2 600 м, 38 сут).</a:t>
            </a:r>
          </a:p>
        </p:txBody>
      </p:sp>
      <p:sp>
        <p:nvSpPr>
          <p:cNvPr id="17" name="Фигура 17"/>
          <p:cNvSpPr/>
          <p:nvPr/>
        </p:nvSpPr>
        <p:spPr>
          <a:xfrm>
            <a:off x="7121364" y="189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7211364" y="187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В расчёте принято ≈20 % (65 млн ₽) — консервативно. Для разведки доля выше (мобилизация), для 12 скважин — ниже; резерв для переговоров с подрядчиком.</a:t>
            </a:r>
          </a:p>
        </p:txBody>
      </p:sp>
      <p:cxnSp>
        <p:nvCxnSpPr>
          <p:cNvPr id="19" name="Линия 19"/>
          <p:cNvCxnSpPr/>
          <p:nvPr/>
        </p:nvCxnSpPr>
        <p:spPr>
          <a:xfrm>
            <a:off x="371364" y="240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461364" y="240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Прихват инструмента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1364" y="240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Olkaria: 65 % прихватов (54 случая, 2014–2019) — при аэрированной жидкости и пене; в Индонезии причина — неоптимальный режим аэрации.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7121364" y="243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7211364" y="240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Инженерный расчёт режима циркуляции (гидравлическая модель), контроль выноса шлама, отработка режима на разведочных скважинах.</a:t>
            </a:r>
          </a:p>
        </p:txBody>
      </p:sp>
      <p:cxnSp>
        <p:nvCxnSpPr>
          <p:cNvPr id="24" name="Линия 24"/>
          <p:cNvCxnSpPr/>
          <p:nvPr/>
        </p:nvCxnSpPr>
        <p:spPr>
          <a:xfrm>
            <a:off x="371364" y="2940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5" name="TextBox 25"/>
          <p:cNvSpPr txBox="1"/>
          <p:nvPr/>
        </p:nvSpPr>
        <p:spPr>
          <a:xfrm>
            <a:off x="461364" y="294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Газопроявление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61364" y="294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аэрации вероятность проявления выше, чем при бурении с поглощением; неконтролируемых выбросов в источниках не зафиксировано.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296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11364" y="294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Управление давлением на устье: РУГ, дроссельный манифольд, сепаратор, план действий при проявлении.</a:t>
            </a:r>
          </a:p>
        </p:txBody>
      </p:sp>
      <p:cxnSp>
        <p:nvCxnSpPr>
          <p:cNvPr id="29" name="Линия 29"/>
          <p:cNvCxnSpPr/>
          <p:nvPr/>
        </p:nvCxnSpPr>
        <p:spPr>
          <a:xfrm>
            <a:off x="371364" y="347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461364" y="347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Ресурс долот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61364" y="347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аэрации долота работают в более горячей среде: ресурс опор и уплотнений ниже.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350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11364" y="347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Долота PDC и контроль MSE; снижение ресурса компенсируется ростом механической скорости.</a:t>
            </a:r>
          </a:p>
        </p:txBody>
      </p:sp>
      <p:cxnSp>
        <p:nvCxnSpPr>
          <p:cNvPr id="34" name="Линия 34"/>
          <p:cNvCxnSpPr/>
          <p:nvPr/>
        </p:nvCxnSpPr>
        <p:spPr>
          <a:xfrm>
            <a:off x="371364" y="4010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5" name="TextBox 35"/>
          <p:cNvSpPr txBox="1"/>
          <p:nvPr/>
        </p:nvSpPr>
        <p:spPr>
          <a:xfrm>
            <a:off x="461364" y="401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Повреждение коллектора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61364" y="401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SK-2D (Филиппины): скин +27, предположительно от бурения; после перфорации и кислотной обработки — 4,3 МВт.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7121364" y="403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7211364" y="401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Международные примеры — ориентир; эффект для Мутновского подтверждается испытаниями разведочных скважин.</a:t>
            </a:r>
          </a:p>
        </p:txBody>
      </p:sp>
      <p:cxnSp>
        <p:nvCxnSpPr>
          <p:cNvPr id="39" name="Линия 39"/>
          <p:cNvCxnSpPr/>
          <p:nvPr/>
        </p:nvCxnSpPr>
        <p:spPr>
          <a:xfrm>
            <a:off x="371364" y="454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0" name="TextBox 40"/>
          <p:cNvSpPr txBox="1"/>
          <p:nvPr/>
        </p:nvSpPr>
        <p:spPr>
          <a:xfrm>
            <a:off x="461364" y="454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Падение дебита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1364" y="454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Sandia: падение дебита до 50 % за 20 лет эквивалентно росту стоимости скважины на 26 %; прямой связи с БРД в источнике нет.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7121364" y="457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7211364" y="454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Продление жизненного цикла скважин — потенциальный эффект; в расчёт окупаемости не включён.</a:t>
            </a:r>
          </a:p>
        </p:txBody>
      </p:sp>
      <p:cxnSp>
        <p:nvCxnSpPr>
          <p:cNvPr id="44" name="Линия 44"/>
          <p:cNvCxnSpPr/>
          <p:nvPr/>
        </p:nvCxnSpPr>
        <p:spPr>
          <a:xfrm>
            <a:off x="371364" y="5080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5" name="TextBox 45"/>
          <p:cNvSpPr txBox="1"/>
          <p:nvPr/>
        </p:nvSpPr>
        <p:spPr>
          <a:xfrm>
            <a:off x="461364" y="508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Сероводород и мышьяк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Риск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61364" y="508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Газ пара Мутновского: CO₂ и H₂S — более 90 %, H₂S 9–21 % об. (скв. 4Э). Сепарат Гео-8: запах H₂S, мышьяк 6,3 мг/л.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7121364" y="510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TextBox 48"/>
          <p:cNvSpPr txBox="1"/>
          <p:nvPr/>
        </p:nvSpPr>
        <p:spPr>
          <a:xfrm>
            <a:off x="7211364" y="508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При БРД пластовый флюид выходит на устье: оборудование в сероводородостойком исполнении, газоанализаторы, отвод газа на факел, вода и шлам — в накопители.</a:t>
            </a:r>
          </a:p>
        </p:txBody>
      </p:sp>
      <p:cxnSp>
        <p:nvCxnSpPr>
          <p:cNvPr id="49" name="Линия 49"/>
          <p:cNvCxnSpPr/>
          <p:nvPr/>
        </p:nvCxnSpPr>
        <p:spPr>
          <a:xfrm>
            <a:off x="371364" y="561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50" name="TextBox 50"/>
          <p:cNvSpPr txBox="1"/>
          <p:nvPr/>
        </p:nvSpPr>
        <p:spPr>
          <a:xfrm>
            <a:off x="461364" y="561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База расчёта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Допущение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61364" y="561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Расчёт на слайдах 3–4 выполнен по МГеоЭС-1 (участок Дачный, 16 скважин).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7121364" y="564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7211364" y="561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Показатели — аналог; уточняются по результатам бурения 3 разведочных скважин МГеоЭС-2.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Birkisson S.F., Hole H., EGC 2007; Mati et al., WGC 2021; Astra et al., JEEEST 2018; Buñing et al., SGW 1997; SAND82-0261C; Gorbach, Potapov, SGW 2005; хим. анализ сепарата Гео-8,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Доп. технологии: бурение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 усиливает эффект БРД при строительстве скважин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Target_4BAF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64" y="1590000"/>
            <a:ext cx="330000" cy="33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1364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Долота PDC + контроль MSE в реальном времени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364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364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Utah FORGE: −56…63 % суток бурения, −62 % часов на забое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The Geysers: скорость проходки +400 % (17½″) и +700 % (12¼″)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Fervo: стоимость скважины $9,4 → 4,8 млн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364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364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Оценка: −30…50 % суток в интервалах под колонны; подбор нагрузки и оборотов по MSE.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371364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При бурении на азоте PDC подвержены ударным нагрузкам (Geysers, воздух: ≈60 м против ≈90 м у шарошки) — MSE отслеживает вибрации.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 · 6–12 мес.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3271052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Фигура 23"/>
          <p:cNvSpPr/>
          <p:nvPr/>
        </p:nvSpPr>
        <p:spPr>
          <a:xfrm>
            <a:off x="3271052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Snowflake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52" y="1590000"/>
            <a:ext cx="330000" cy="33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71052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Охладители раствора и теплоизолированные трубы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1052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91052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Охладитель: −14…19 °C на поверхности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FORGE 16B: температура у MWD 107 → 65 °C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Eagle Ford: отказы по температуре 2 → 0, скважина на 2 сут быстрее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1052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1052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Ресурс телеметрии и ВЗД, меньше рейсов и коррозии; условие для наклонного бурения.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3271052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3391052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Аэрированная жидкость хуже охлаждает забой — охладитель становится обязательным элементом комплекта БРД.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1052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низкие–средние · 6–12 мес.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170740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6170740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PlugConnected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40" y="1590000"/>
            <a:ext cx="330000" cy="33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670740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Буровая на электроэнергии вместо дизеля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0740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740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KenGen: ≈350 тыс. л ДТ на скважину (≈$427 тыс.)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Тейстарейкир (Исландия): буровая 3–4 МВт от ГеоЭС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ON Power: экономия &gt;2 млн л ДТ на 8 скважинах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0740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0740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ЛЭП ГеоЭС-1 рядом; уходят завоз ДТ по снегу и риск роста цен на топливо.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6170740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290740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Азотные компрессоры — крупный потребитель энергии; их электропривод снижает расход ДТ на БРД (оценка).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0740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 · ≈1 год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9070428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9070428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Route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28" y="1590000"/>
            <a:ext cx="330000" cy="33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570428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Наклонные и многоствольные скважины на разломы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90428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90428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Olkaria Domes: 37 из 53 скважин наклонные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Максимум 24,7 МВт против 16 МВт у вертикальных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Бурение дороже на 22–41 %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90428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90428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Траектории поперёк разломов; несколько стволов с одной площадки — меньше дорог и работ в снегу.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9070428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428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БРД сохраняет проницаемость пересечённых трещин — наклонный ствол реализует свой потенциал.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428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 · 1–2 года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Samuel et al., SGW 2022; Su et al., SGW 2024; Fervo Energy, 12.02.2024; Eavor/FORGE 2023; SPE 2020 (mud chillers); NOV; KenGen; ON Power 2024; Ngugi, UNU-GTP 2002. Оценки для Мутновского — экспертные.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Доп. технологии: скважина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Сохранение дебита действующего фонда и рост выработки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Flask_4BAF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64" y="1590000"/>
            <a:ext cx="330000" cy="33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1364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Кислотная обработка HCl–HF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364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364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PNOC-EDC (Филиппины): 9 из 10 скважин +60…911 %; 110D: 4,1 → 12,4 МВт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Мексика: 15 из 17 обработок успешны, в среднем +176 %, окупаемость &lt;1 года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Стоимость $0,08–1,3 млн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364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364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Оценка: 7–110 млн ₽ (2–30 % цены новой скважины) — для скважин с отложениями SiO₂.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371364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БРД не вносит кольматант в новые скважины, кислота восстанавливает действующий фонд.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низкие–средние · 3–6 мес.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3271052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Фигура 23"/>
          <p:cNvSpPr/>
          <p:nvPr/>
        </p:nvSpPr>
        <p:spPr>
          <a:xfrm>
            <a:off x="3271052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Droplet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52" y="1590000"/>
            <a:ext cx="330000" cy="33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71052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Контроль кремнезёма: понижение pH сепарата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1052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91052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Хатчобару (Япония): SiO₂ 605–722 мг/л — как на Мутновском (606)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Падение приёмистости 30–70 → 10–30 % в год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Срок службы нагнетательных скважин ×3 (модель)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1052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1052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Сейчас pH сепарата 8,5 (Гео-8, 2024) — снизить до 5–6; защита нагнетательных скважин и шлейфов, нужен контроль коррозии.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3271052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3391052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Меньше перебуривания нагнетательных скважин; проницаемость сохраняется по всей цепочке «добыча — закачка».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1052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 · 6–12 мес.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170740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6170740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BuildingFactory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40" y="1590000"/>
            <a:ext cx="330000" cy="33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670740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Бинарный / комбинированный блок на сепарате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0740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740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Мутновский: до 8 МВт паровых + 5 МВт бинарных = +13 МВт без новых скважин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Повторное вскипание при 0,2 МПа + ORC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КИП теплоносителя +26 %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0740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0740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Рост выработки на существующем фонде скважин.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6170740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290740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Не зависит от бурения; охлаждение сепарата усиливает отложения SiO₂ — внедрять вместе с контролем pH.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0740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высокие · 3–4 года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9070428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9070428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Bolt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0428" y="1590000"/>
            <a:ext cx="330000" cy="33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570428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Модульные устьевые энергоблоки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90428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90428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KenGen: 15 блоков, 81 МВт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Строительство ≈6 мес., окупаемость ≤5 лет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≈$1,6 млн за МВт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90428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90428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Выработка с разведочных и удалённых скважин до ввода ГеоЭС-2; питание буровой.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9070428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428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Скважина после БРД быстро выходит на режим — устьевой блок превращает это в раннюю выручку.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428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средние–высокие · 1–2 года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Buñing et al., WGC 1995; Flores-Armenta, GRC 2010; UNU-GTP 2012; WGC 2000, Kiyota 2011 (Hatchobaru); Tomarov et al., Thermal Engineering 2016, 63(6); KenGen/GEG; ARGeo 2016. Оценки для Мутновского — экспертные.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Пеноцемент: свойства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 даёт азотированный цемент геотермальной скважине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11448752" cy="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461364" y="1500000"/>
            <a:ext cx="24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Свойство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11364" y="1500000"/>
            <a:ext cx="43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Что это означает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1364" y="1500000"/>
            <a:ext cx="4358752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Эффект для скважин Мутновского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71364" y="1895000"/>
            <a:ext cx="45000" cy="806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481364" y="1870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Теплоизоляция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A8F2D"/>
                </a:solidFill>
                <a:latin typeface="+mn-lt"/>
              </a:rPr>
              <a:t>0,25–0,5 Вт/(м·К)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в 2–10 раз лучше изолирует, чем обычный цемент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11364" y="1870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ПВС меньше остывает при подъёме к устью, особенно в холодных верхних интервалах ствола.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7371364" y="1895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7461364" y="1870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A5A1E"/>
                </a:solidFill>
                <a:latin typeface="+mn-lt"/>
              </a:rPr>
              <a:t>Выше температура и энтальпия на устье; меньше пересыщение SiO₂ (606 против ≈370 мг/л) и отложения в стволе; быстрее прогрев после пуска. Величину эффекта определяет тепловая модель скважины.</a:t>
            </a:r>
          </a:p>
        </p:txBody>
      </p:sp>
      <p:cxnSp>
        <p:nvCxnSpPr>
          <p:cNvPr id="20" name="Линия 20"/>
          <p:cNvCxnSpPr/>
          <p:nvPr/>
        </p:nvCxnSpPr>
        <p:spPr>
          <a:xfrm>
            <a:off x="371364" y="2726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1" name="Фигура 21"/>
          <p:cNvSpPr/>
          <p:nvPr/>
        </p:nvSpPr>
        <p:spPr>
          <a:xfrm>
            <a:off x="371364" y="2751000"/>
            <a:ext cx="45000" cy="806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481364" y="2726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Гибкость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A8F2D"/>
                </a:solidFill>
                <a:latin typeface="+mn-lt"/>
              </a:rPr>
              <a:t>&lt;5 ГПа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модуль упругости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11364" y="2726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Камень деформируется вместе с колонной при нагреве до 250 °C и остывании при остановках — не трескается и не отслаивается; пузырьки гасят рост давления запертой в затрубье воды.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7371364" y="2751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7461364" y="2726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A5A1E"/>
                </a:solidFill>
                <a:latin typeface="+mn-lt"/>
              </a:rPr>
              <a:t>Сохраняется изоляция заколонного пространства, ниже риск смятия колонны — дольше срок службы скважины. Coso (модель Halliburton): пеноцемент — лучший вариант при термоциклах.</a:t>
            </a:r>
          </a:p>
        </p:txBody>
      </p:sp>
      <p:cxnSp>
        <p:nvCxnSpPr>
          <p:cNvPr id="26" name="Линия 26"/>
          <p:cNvCxnSpPr/>
          <p:nvPr/>
        </p:nvCxnSpPr>
        <p:spPr>
          <a:xfrm>
            <a:off x="371364" y="3582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7" name="TextBox 27"/>
          <p:cNvSpPr txBox="1"/>
          <p:nvPr/>
        </p:nvSpPr>
        <p:spPr>
          <a:xfrm>
            <a:off x="481364" y="3582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Низкая плотность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1 140–1 440 кг/м³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обычный цемент 1 850–1 900 кг/м³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1364" y="3582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Давление столба цемента на пласт ниже: раствор не уходит в трещины и поднимается до устья за один приём.</a:t>
            </a:r>
          </a:p>
        </p:txBody>
      </p:sp>
      <p:sp>
        <p:nvSpPr>
          <p:cNvPr id="29" name="Фигура 29"/>
          <p:cNvSpPr/>
          <p:nvPr/>
        </p:nvSpPr>
        <p:spPr>
          <a:xfrm>
            <a:off x="7371364" y="3607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0" name="TextBox 30"/>
          <p:cNvSpPr txBox="1"/>
          <p:nvPr/>
        </p:nvSpPr>
        <p:spPr>
          <a:xfrm>
            <a:off x="7461364" y="3582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Puna KS-15: ЭЦП 1 350 против 1 650 кг/м³ (−4,4 МПа) — без поглощений и встречного цементирования. Цемент не закупоривает трещины, вскрытые при БРД.</a:t>
            </a:r>
          </a:p>
        </p:txBody>
      </p:sp>
      <p:cxnSp>
        <p:nvCxnSpPr>
          <p:cNvPr id="31" name="Линия 31"/>
          <p:cNvCxnSpPr/>
          <p:nvPr/>
        </p:nvCxnSpPr>
        <p:spPr>
          <a:xfrm>
            <a:off x="371364" y="4438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2" name="TextBox 32"/>
          <p:cNvSpPr txBox="1"/>
          <p:nvPr/>
        </p:nvSpPr>
        <p:spPr>
          <a:xfrm>
            <a:off x="481364" y="4438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Кварцевая мука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30–40 %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от массы цемента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11364" y="4438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Выше ≈110 °C портландцементный камень перекристаллизуется: прочность падает, проницаемость растёт. Кварцевая мука переводит его в термостойкие минералы. Стандарт для любого геотермального цемента.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7371364" y="4463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7461364" y="4438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Камень сохраняет прочность при 250–300 °C: на Puna — в скважинах со статической температурой &gt;260 °C.</a:t>
            </a:r>
          </a:p>
        </p:txBody>
      </p:sp>
      <p:cxnSp>
        <p:nvCxnSpPr>
          <p:cNvPr id="36" name="Линия 36"/>
          <p:cNvCxnSpPr/>
          <p:nvPr/>
        </p:nvCxnSpPr>
        <p:spPr>
          <a:xfrm>
            <a:off x="371364" y="5294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7" name="TextBox 37"/>
          <p:cNvSpPr txBox="1"/>
          <p:nvPr/>
        </p:nvSpPr>
        <p:spPr>
          <a:xfrm>
            <a:off x="481364" y="5294000"/>
            <a:ext cx="239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Стойкость к CO₂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до 371 °C</a:t>
            </a:r>
          </a:p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фосфатный цемент, лаборатория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11364" y="5294000"/>
            <a:ext cx="4250000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CO₂ в воде образует угольную кислоту: она вымывает известь из портландцемента (до 50 % массы) и открывает колонну коррозии. Кальций-фосфатный цемент извести не содержит.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7371364" y="5319000"/>
            <a:ext cx="4448752" cy="806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7461364" y="5294000"/>
            <a:ext cx="4268752" cy="856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Гео-8 (2024): pH 8,5 — свободного CO₂ в сепарате практически нет; CO₂ уходит с паром (газ 0,02–1 % масс.). Базовый вариант — цемент с кварцевой мукой; фосфатный — для скважин с высоким газосодержанием.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Benge, 1982; COMPASS, EGC 2025; Halliburton 2024; GRC 1030556; SPE-120845; OSTI 886101; анализ сепарата Гео-8, 2024; Максимов и др., 2019. Эффект для Мутновского — оценка.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Пеноцемент +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Мировой опыт, синергия и температурные ограничения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3900000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3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36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Опыт в геотермальных скважинах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501364" y="1920000"/>
            <a:ext cx="50000" cy="88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631364" y="187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Puna KS-15, Гавайи (≈2011)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ЭЦП ниже на 4,4 МПа, без поглощений и встречного цементирования, НПВ 0 ч. Азот — из баллонов: азотный насос в ≥3 раза дороже.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501364" y="2900000"/>
            <a:ext cx="50000" cy="88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631364" y="285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Blue Mountain, Невада (2009)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Пена вместо микросфер в цементе: дешевле в пересчёте на объём, колонна 253 м зацементирована без доливки.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501364" y="3880000"/>
            <a:ext cx="50000" cy="88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631364" y="383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Steamboat 42A-32, Невада (2018)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Часть цемента ушла в трещины: верх цемента на 188 м вместо устья. Исправлено докачкой пеноцемента сверху под давлением 0,95 МПа 12 ч — верх поднят до 65 м.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501364" y="4860000"/>
            <a:ext cx="50000" cy="880000"/>
          </a:xfrm>
          <a:prstGeom prst="rect">
            <a:avLst/>
          </a:prstGeom>
          <a:solidFill>
            <a:srgbClr val="D98A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631364" y="4810000"/>
            <a:ext cx="3540000" cy="9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B36B00"/>
                </a:solidFill>
                <a:latin typeface="+mn-lt"/>
              </a:rPr>
              <a:t>Урок Steamboat</a:t>
            </a:r>
          </a:p>
          <a:p>
            <a:pPr algn="l">
              <a:spcBef>
                <a:spcPts val="120"/>
              </a:spcBef>
              <a:buNone/>
            </a:pPr>
            <a:r>
              <a:rPr lang="ru-RU" sz="820" b="0" dirty="0">
                <a:solidFill>
                  <a:schemeClr val="bg2"/>
                </a:solidFill>
                <a:latin typeface="+mn-lt"/>
              </a:rPr>
              <a:t>Пена снижает, но не исключает поглощения. Нужны: расчёт плотности по глубине и лабораторные тесты (API RP 10B-4), автоматическая подача N₂, противодавление на устье, готовый план ремонтного цементирования, АКЦ.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1364" y="5790000"/>
            <a:ext cx="3640000" cy="3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rgbClr val="6B7785"/>
                </a:solidFill>
                <a:latin typeface="+mn-lt"/>
              </a:rPr>
              <a:t>В Индонезии, на Филиппинах, в Кении, Турции, Исландии и Новой Зеландии опубликованного опыта не найдено.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4441364" y="1500000"/>
            <a:ext cx="3450000" cy="465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4571364" y="1540000"/>
            <a:ext cx="319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FFFFFF"/>
                </a:solidFill>
                <a:latin typeface="+mn-lt"/>
              </a:rPr>
              <a:t>Синергия с БРД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71364" y="1880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Один источник азота: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азотный комплекс БРД вспенивает цемент вместо отдельного насоса или баллонов; проверить давление бустера (на 5,5–6,9 МПа выше давления закачки) и чистоту N₂ ≥95 %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71364" y="2724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Противодавление: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РУГ и дроссельный манифольд держат давление на устье при продавке и ОЗЦ (Puna ≈1 МПа, Steamboat 0,95 МПа)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71364" y="3568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Сепаратор: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приём вспененных буферов и газа на выходе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71364" y="4412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Сохранение эффекта БРД: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ствол, вскрытый без репрессии, не выдерживает тяжёлый цемент; лёгкий цемент не закупоривает трещины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71364" y="5256000"/>
            <a:ext cx="3190000" cy="8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30" b="1" dirty="0">
                <a:solidFill>
                  <a:srgbClr val="8CD17D"/>
                </a:solidFill>
                <a:latin typeface="+mn-lt"/>
              </a:rPr>
              <a:t>Одна мобилизация: </a:t>
            </a:r>
            <a:r>
              <a:rPr lang="ru-RU" sz="830" b="0" dirty="0">
                <a:solidFill>
                  <a:srgbClr val="FFFFFF"/>
                </a:solidFill>
                <a:latin typeface="+mn-lt"/>
              </a:rPr>
              <a:t>азот, оборудование и персонал уже на буровой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8061364" y="1500000"/>
            <a:ext cx="3758752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Фигура 31"/>
          <p:cNvSpPr/>
          <p:nvPr/>
        </p:nvSpPr>
        <p:spPr>
          <a:xfrm>
            <a:off x="8061364" y="1431000"/>
            <a:ext cx="375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8191364" y="1540000"/>
            <a:ext cx="349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Температура: где ограничение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91364" y="1840000"/>
            <a:ext cx="3498752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Ограничение — только при закачке. </a:t>
            </a:r>
            <a:r>
              <a:rPr lang="ru-RU" sz="800" b="0" dirty="0">
                <a:solidFill>
                  <a:schemeClr val="bg2"/>
                </a:solidFill>
                <a:latin typeface="+mn-lt"/>
              </a:rPr>
              <a:t>Температура размещения — температура раствора при закачке и схватывании, после охлаждения ствола промывкой. При перегреве пена может разрушиться до схватывания цемента.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8191364" y="2630000"/>
            <a:ext cx="1411163" cy="17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Фигура 35"/>
          <p:cNvSpPr/>
          <p:nvPr/>
        </p:nvSpPr>
        <p:spPr>
          <a:xfrm>
            <a:off x="9602527" y="2630000"/>
            <a:ext cx="338212" cy="170000"/>
          </a:xfrm>
          <a:prstGeom prst="rect">
            <a:avLst/>
          </a:prstGeom>
          <a:solidFill>
            <a:srgbClr val="D98A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6" name="Фигура 36"/>
          <p:cNvSpPr/>
          <p:nvPr/>
        </p:nvSpPr>
        <p:spPr>
          <a:xfrm>
            <a:off x="9940740" y="2630000"/>
            <a:ext cx="583125" cy="170000"/>
          </a:xfrm>
          <a:prstGeom prst="rect">
            <a:avLst/>
          </a:prstGeom>
          <a:solidFill>
            <a:srgbClr val="A9B4C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Фигура 37"/>
          <p:cNvSpPr/>
          <p:nvPr/>
        </p:nvSpPr>
        <p:spPr>
          <a:xfrm>
            <a:off x="10523865" y="2630000"/>
            <a:ext cx="1166250" cy="17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7991364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02527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121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40740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150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23865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200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90116" y="2810000"/>
            <a:ext cx="400000" cy="1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300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91364" y="2420000"/>
            <a:ext cx="349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1" dirty="0">
                <a:solidFill>
                  <a:srgbClr val="00326E"/>
                </a:solidFill>
                <a:latin typeface="+mn-lt"/>
              </a:rPr>
              <a:t>Температура размещения, °C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8191364" y="3100000"/>
            <a:ext cx="90000" cy="900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TextBox 45"/>
          <p:cNvSpPr txBox="1"/>
          <p:nvPr/>
        </p:nvSpPr>
        <p:spPr>
          <a:xfrm>
            <a:off x="8341364" y="303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&lt;121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все промысловые геотермальные работы</a:t>
            </a:r>
          </a:p>
        </p:txBody>
      </p:sp>
      <p:sp>
        <p:nvSpPr>
          <p:cNvPr id="46" name="Фигура 46"/>
          <p:cNvSpPr/>
          <p:nvPr/>
        </p:nvSpPr>
        <p:spPr>
          <a:xfrm>
            <a:off x="8191364" y="3330000"/>
            <a:ext cx="90000" cy="90000"/>
          </a:xfrm>
          <a:prstGeom prst="rect">
            <a:avLst/>
          </a:prstGeom>
          <a:solidFill>
            <a:srgbClr val="D98A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7" name="TextBox 47"/>
          <p:cNvSpPr txBox="1"/>
          <p:nvPr/>
        </p:nvSpPr>
        <p:spPr>
          <a:xfrm>
            <a:off x="8341364" y="326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до 150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подтверждено в лаборатории (COMPASS, 2025)</a:t>
            </a:r>
          </a:p>
        </p:txBody>
      </p:sp>
      <p:sp>
        <p:nvSpPr>
          <p:cNvPr id="48" name="Фигура 48"/>
          <p:cNvSpPr/>
          <p:nvPr/>
        </p:nvSpPr>
        <p:spPr>
          <a:xfrm>
            <a:off x="8191364" y="3560000"/>
            <a:ext cx="90000" cy="90000"/>
          </a:xfrm>
          <a:prstGeom prst="rect">
            <a:avLst/>
          </a:prstGeom>
          <a:solidFill>
            <a:srgbClr val="A9B4C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8341364" y="349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150–200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данных нет</a:t>
            </a:r>
          </a:p>
        </p:txBody>
      </p:sp>
      <p:sp>
        <p:nvSpPr>
          <p:cNvPr id="50" name="Фигура 50"/>
          <p:cNvSpPr/>
          <p:nvPr/>
        </p:nvSpPr>
        <p:spPr>
          <a:xfrm>
            <a:off x="8191364" y="3790000"/>
            <a:ext cx="90000" cy="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1" name="TextBox 51"/>
          <p:cNvSpPr txBox="1"/>
          <p:nvPr/>
        </p:nvSpPr>
        <p:spPr>
          <a:xfrm>
            <a:off x="8341364" y="3720000"/>
            <a:ext cx="3348752" cy="2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&gt;200 °C — </a:t>
            </a:r>
            <a:r>
              <a:rPr lang="ru-RU" sz="780" b="0" dirty="0">
                <a:solidFill>
                  <a:schemeClr val="bg2"/>
                </a:solidFill>
                <a:latin typeface="+mn-lt"/>
              </a:rPr>
              <a:t>не рекомендуется (Heathman, Beck, 2006)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91364" y="4010000"/>
            <a:ext cx="3498752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A8F2D"/>
                </a:solidFill>
                <a:latin typeface="+mn-lt"/>
              </a:rPr>
              <a:t>Работа после схватывания — не ограничение: </a:t>
            </a:r>
            <a:r>
              <a:rPr lang="ru-RU" sz="800" b="0" dirty="0">
                <a:solidFill>
                  <a:schemeClr val="bg2"/>
                </a:solidFill>
                <a:latin typeface="+mn-lt"/>
              </a:rPr>
              <a:t>с кварцевой мукой камень работает при &gt;260 °C (Puna), фосфатный стабилен до 371 °C.</a:t>
            </a:r>
          </a:p>
        </p:txBody>
      </p:sp>
      <p:sp>
        <p:nvSpPr>
          <p:cNvPr id="53" name="Фигура 53"/>
          <p:cNvSpPr/>
          <p:nvPr/>
        </p:nvSpPr>
        <p:spPr>
          <a:xfrm>
            <a:off x="8151364" y="4570000"/>
            <a:ext cx="3578752" cy="149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4" name="TextBox 54"/>
          <p:cNvSpPr txBox="1"/>
          <p:nvPr/>
        </p:nvSpPr>
        <p:spPr>
          <a:xfrm>
            <a:off x="8231364" y="4570000"/>
            <a:ext cx="3418752" cy="14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C00000"/>
                </a:solidFill>
                <a:latin typeface="+mn-lt"/>
              </a:rPr>
              <a:t>Для Мутновского</a:t>
            </a:r>
          </a:p>
          <a:p>
            <a:pPr algn="l">
              <a:spcBef>
                <a:spcPts val="80"/>
              </a:spcBef>
              <a:buNone/>
            </a:pPr>
            <a:r>
              <a:rPr lang="ru-RU" sz="780" b="0" dirty="0">
                <a:solidFill>
                  <a:schemeClr val="bg2"/>
                </a:solidFill>
                <a:latin typeface="+mn-lt"/>
              </a:rPr>
              <a:t>Рассчитать температуру размещения по термометрии; при БРД ствол остывает меньше — режим промывки перед цементированием задать расчётом. ОПР начать с кондуктора и технической колонны.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GRC 1030556 (Puna KS-15); GRC 1034125 (Steamboat); Niggemann et al., GRC 2009; Bouchair et al. (COMPASS), EGC 2025; Heathman, Beck, 2006; SPE-120845; US 5749422. Синергия — экспертная оценка.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12533</TotalTime>
  <Words>3093</Words>
  <Application>Microsoft Office PowerPoint</Application>
  <PresentationFormat>Широкоэкранный</PresentationFormat>
  <Paragraphs>313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TT Bluescreens Pro Normal Mediu</vt:lpstr>
      <vt:lpstr>TT Bluescreens Pro Normal</vt:lpstr>
      <vt:lpstr>Arial</vt:lpstr>
      <vt:lpstr>Wingdings</vt:lpstr>
      <vt:lpstr>TT Bluescreens Pro Expanded Med</vt:lpstr>
      <vt:lpstr>Calibri</vt:lpstr>
      <vt:lpstr>Тема Office 2013 – 2022</vt:lpstr>
      <vt:lpstr>Проблематика</vt:lpstr>
      <vt:lpstr>Технология БРД</vt:lpstr>
      <vt:lpstr>Заключение: эффект БРД</vt:lpstr>
      <vt:lpstr>Мощность и окупаемость</vt:lpstr>
      <vt:lpstr>Анализ: разведка и добыча</vt:lpstr>
      <vt:lpstr>Уточнения аргументации</vt:lpstr>
      <vt:lpstr>Доп. технологии: бурение</vt:lpstr>
      <vt:lpstr>Доп. технологии: скважина</vt:lpstr>
      <vt:lpstr>Пеноцемент + БРД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235</cp:revision>
  <dcterms:created xsi:type="dcterms:W3CDTF">2026-05-25T10:20:22Z</dcterms:created>
  <dcterms:modified xsi:type="dcterms:W3CDTF">2026-10-07T15:46:49Z</dcterms:modified>
</cp:coreProperties>
</file>