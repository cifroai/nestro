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73" r:id="rId2"/>
    <p:sldId id="288" r:id="rId3"/>
    <p:sldId id="287" r:id="rId4"/>
    <p:sldId id="286" r:id="rId5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Expanded Med" panose="020B0006030000020204" pitchFamily="34" charset="-52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T Bluescreens Pro Normal" panose="020B0006030000020204" pitchFamily="34" charset="-52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nowflake_4BAF46.png"/><Relationship Id="rId11" Type="http://schemas.openxmlformats.org/officeDocument/2006/relationships/image" Target="../media/yug_TbTool_4BAF46.png"/><Relationship Id="rId12" Type="http://schemas.openxmlformats.org/officeDocument/2006/relationships/image" Target="../media/yug_TbCalendarTime_4BAF4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tack2_4BAF46.png"/><Relationship Id="rId11" Type="http://schemas.openxmlformats.org/officeDocument/2006/relationships/image" Target="../media/yug_TbMountain_4BAF46.png"/><Relationship Id="rId12" Type="http://schemas.openxmlformats.org/officeDocument/2006/relationships/image" Target="../media/yug_TbDroplet_4BAF46.png"/><Relationship Id="rId13" Type="http://schemas.openxmlformats.org/officeDocument/2006/relationships/image" Target="../media/yug_TbTruck_4BAF46.png"/><Relationship Id="rId14" Type="http://schemas.openxmlformats.org/officeDocument/2006/relationships/image" Target="../media/yug_TbGasStation_4BAF46.png"/><Relationship Id="rId15" Type="http://schemas.openxmlformats.org/officeDocument/2006/relationships/image" Target="../media/yug_TbUsersPlus_FFFFFF.png"/><Relationship Id="rId16" Type="http://schemas.openxmlformats.org/officeDocument/2006/relationships/image" Target="../media/yug_TbTruckDelivery_FFFFFF.png"/><Relationship Id="rId17" Type="http://schemas.openxmlformats.org/officeDocument/2006/relationships/image" Target="../media/yug_TbHammer_FFFFFF.png"/><Relationship Id="rId18" Type="http://schemas.openxmlformats.org/officeDocument/2006/relationships/image" Target="../media/yug_TbArrowDownCircle_FFFFFF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ListCheck_4BAF46.png"/><Relationship Id="rId11" Type="http://schemas.openxmlformats.org/officeDocument/2006/relationships/image" Target="../media/yug_TbAlertTriangle_4BAF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4DEA05BC-9EDB-797F-154D-06DAF0BF5962}"/>
              </a:ext>
            </a:extLst>
          </p:cNvPr>
          <p:cNvSpPr/>
          <p:nvPr/>
        </p:nvSpPr>
        <p:spPr>
          <a:xfrm>
            <a:off x="371475" y="6141472"/>
            <a:ext cx="1750000" cy="34822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tx1"/>
                </a:solidFill>
                <a:latin typeface="+mj-lt"/>
              </a:rPr>
              <a:t>01.10.2026</a:t>
            </a:r>
            <a:endParaRPr lang="ru-RU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397A368-0B17-C256-D8F0-BB1C7269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45920"/>
            <a:ext cx="6567710" cy="2254704"/>
          </a:xfrm>
        </p:spPr>
        <p:txBody>
          <a:bodyPr/>
          <a:lstStyle/>
          <a:p>
            <a:r>
              <a:rPr lang="ru-RU" dirty="0"/>
              <a:t>Статус подготовительных работ и переезда МБУ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37C6F03-DA2D-52A5-1AE3-CE88BBA6B5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ПЛОЩАДКА СКВАЖИН ЮГ 1-3 ЮЖНОГО УЧАСТКА</a:t>
            </a:r>
          </a:p>
          <a:p>
            <a:r>
              <a:rPr lang="ru-RU" dirty="0"/>
              <a:t>МУТНОВСКОЕ МЕСТОРОЖДЕНИЕ ПАРОГЕОТЕРМ</a:t>
            </a:r>
          </a:p>
          <a:p>
            <a:r>
              <a:rPr lang="ru-RU" dirty="0"/>
              <a:t>Статус по состоянию на 01.10.2026</a:t>
            </a:r>
          </a:p>
        </p:txBody>
      </p:sp>
    </p:spTree>
    <p:extLst>
      <p:ext uri="{BB962C8B-B14F-4D97-AF65-F5344CB8AC3E}">
        <p14:creationId xmlns:p14="http://schemas.microsoft.com/office/powerpoint/2010/main" val="311215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Статус подготовки площадки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Площадка скважин ЮГ 1-3: выполнение работ на 01.10.2026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3050000" cy="4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305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71364" y="1710000"/>
            <a:ext cx="265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Общая готовность площадки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364" y="1990000"/>
            <a:ext cx="2650000" cy="8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6000" b="0" dirty="0">
                <a:solidFill>
                  <a:srgbClr val="00326E"/>
                </a:solidFill>
                <a:latin typeface="+mj-lt"/>
              </a:rPr>
              <a:t>45 %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71364" y="2860000"/>
            <a:ext cx="2650000" cy="1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571364" y="2860000"/>
            <a:ext cx="1192500" cy="1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Snowflake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3200000"/>
            <a:ext cx="360000" cy="36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51364" y="316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72 000 м³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364" y="3480000"/>
            <a:ext cx="2170000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снега убрано с подъездного пути к площадке ЮГ 1-3 (16.07–14.08, 3 ед. бульдозерной техники)</a:t>
            </a:r>
          </a:p>
        </p:txBody>
      </p:sp>
      <p:pic>
        <p:nvPicPr>
          <p:cNvPr id="20" name="Иконка 20" descr="TbTool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364" y="4200000"/>
            <a:ext cx="360000" cy="36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51364" y="416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3 скважины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1364" y="4480000"/>
            <a:ext cx="2170000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расконсервированы О1, О4, 8Э (01.08–07.09); на 8Э — РИР межколонного пространства 324×426 мм</a:t>
            </a:r>
          </a:p>
        </p:txBody>
      </p:sp>
      <p:pic>
        <p:nvPicPr>
          <p:cNvPr id="23" name="Иконка 23" descr="TbCalendarTime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364" y="5200000"/>
            <a:ext cx="360000" cy="360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51364" y="5160000"/>
            <a:ext cx="217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до 10.10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1364" y="5480000"/>
            <a:ext cx="2170000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поставка устьевого оборудования для замены на скв. № 42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51364" y="1500000"/>
            <a:ext cx="816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Готовность по видам работ (табл. 1 докладной записки)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651364" y="1860000"/>
            <a:ext cx="8168752" cy="4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751364" y="186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Расчистка территории площадки под планировку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выполнено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8201364" y="203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Фигура 30"/>
          <p:cNvSpPr/>
          <p:nvPr/>
        </p:nvSpPr>
        <p:spPr>
          <a:xfrm>
            <a:off x="8201364" y="2030000"/>
            <a:ext cx="2818752" cy="14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11070116" y="186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100 %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51364" y="234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Вскрышные работы на Гео-9/Гео-12, вывоз грунта на площадку накопления (2 км)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5 620 из 10 000 м³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8201364" y="251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8201364" y="2510000"/>
            <a:ext cx="1584138" cy="14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1070116" y="234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56,2 %</a:t>
            </a:r>
          </a:p>
        </p:txBody>
      </p:sp>
      <p:sp>
        <p:nvSpPr>
          <p:cNvPr id="36" name="Фигура 36"/>
          <p:cNvSpPr/>
          <p:nvPr/>
        </p:nvSpPr>
        <p:spPr>
          <a:xfrm>
            <a:off x="3651364" y="2820000"/>
            <a:ext cx="8168752" cy="4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3751364" y="282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Обустройство подъёма дороги (3 км)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отсыпка 1 000 м³; георешётка, «ТЕХНОНИКОЛЬ» — 200 из 300 м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8201364" y="299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Фигура 39"/>
          <p:cNvSpPr/>
          <p:nvPr/>
        </p:nvSpPr>
        <p:spPr>
          <a:xfrm>
            <a:off x="8201364" y="2990000"/>
            <a:ext cx="2536876" cy="14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11070116" y="282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90 %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51364" y="330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Транспортировка грунта на площадку скважин (3 км)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3 300 из 8 000 м³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8201364" y="347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8201364" y="3470000"/>
            <a:ext cx="1161325" cy="14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11070116" y="330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41,2 %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3651364" y="3780000"/>
            <a:ext cx="8168752" cy="4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3751364" y="378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Площадка временного хранения оборудования и МТР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2 000 из 2 500 м², h = 1,0 м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8201364" y="395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Фигура 48"/>
          <p:cNvSpPr/>
          <p:nvPr/>
        </p:nvSpPr>
        <p:spPr>
          <a:xfrm>
            <a:off x="8201364" y="3950000"/>
            <a:ext cx="2255001" cy="14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11070116" y="378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80 %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751364" y="426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Площадка под вахтовый посёлок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840 из 1 050 м², h = 0,5 м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8201364" y="443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Фигура 52"/>
          <p:cNvSpPr/>
          <p:nvPr/>
        </p:nvSpPr>
        <p:spPr>
          <a:xfrm>
            <a:off x="8201364" y="4430000"/>
            <a:ext cx="2255001" cy="14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11070116" y="426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80 %</a:t>
            </a:r>
          </a:p>
        </p:txBody>
      </p:sp>
      <p:sp>
        <p:nvSpPr>
          <p:cNvPr id="54" name="Фигура 54"/>
          <p:cNvSpPr/>
          <p:nvPr/>
        </p:nvSpPr>
        <p:spPr>
          <a:xfrm>
            <a:off x="3651364" y="4740000"/>
            <a:ext cx="8168752" cy="4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5" name="TextBox 55"/>
          <p:cNvSpPr txBox="1"/>
          <p:nvPr/>
        </p:nvSpPr>
        <p:spPr>
          <a:xfrm>
            <a:off x="3751364" y="474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Площадка под буровую установку ZJ-30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2 536 из 8 000 м²; черновая отсыпка — 31,7 %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8201364" y="491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Фигура 57"/>
          <p:cNvSpPr/>
          <p:nvPr/>
        </p:nvSpPr>
        <p:spPr>
          <a:xfrm>
            <a:off x="8201364" y="4910000"/>
            <a:ext cx="394625" cy="14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TextBox 58"/>
          <p:cNvSpPr txBox="1"/>
          <p:nvPr/>
        </p:nvSpPr>
        <p:spPr>
          <a:xfrm>
            <a:off x="11070116" y="474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14 %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51364" y="522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8.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Обустройство шламового амбара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план 500 м², h = 0,5 м — не начато</a:t>
            </a:r>
          </a:p>
        </p:txBody>
      </p:sp>
      <p:sp>
        <p:nvSpPr>
          <p:cNvPr id="60" name="Фигура 60"/>
          <p:cNvSpPr/>
          <p:nvPr/>
        </p:nvSpPr>
        <p:spPr>
          <a:xfrm>
            <a:off x="8201364" y="539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1" name="TextBox 61"/>
          <p:cNvSpPr txBox="1"/>
          <p:nvPr/>
        </p:nvSpPr>
        <p:spPr>
          <a:xfrm>
            <a:off x="11070116" y="522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C00000"/>
                </a:solidFill>
                <a:latin typeface="+mn-lt"/>
              </a:rPr>
              <a:t>0 %</a:t>
            </a:r>
          </a:p>
        </p:txBody>
      </p:sp>
      <p:sp>
        <p:nvSpPr>
          <p:cNvPr id="62" name="Фигура 62"/>
          <p:cNvSpPr/>
          <p:nvPr/>
        </p:nvSpPr>
        <p:spPr>
          <a:xfrm>
            <a:off x="3651364" y="5700000"/>
            <a:ext cx="8168752" cy="4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3" name="TextBox 63"/>
          <p:cNvSpPr txBox="1"/>
          <p:nvPr/>
        </p:nvSpPr>
        <p:spPr>
          <a:xfrm>
            <a:off x="3751364" y="5700000"/>
            <a:ext cx="4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chemeClr val="tx2"/>
                </a:solidFill>
                <a:latin typeface="+mn-lt"/>
              </a:rPr>
              <a:t>9.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Водозабор и монтаж коммуникаций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L = 600 м — не начато</a:t>
            </a:r>
          </a:p>
        </p:txBody>
      </p:sp>
      <p:sp>
        <p:nvSpPr>
          <p:cNvPr id="64" name="Фигура 64"/>
          <p:cNvSpPr/>
          <p:nvPr/>
        </p:nvSpPr>
        <p:spPr>
          <a:xfrm>
            <a:off x="8201364" y="5870000"/>
            <a:ext cx="2818752" cy="14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5" name="TextBox 65"/>
          <p:cNvSpPr txBox="1"/>
          <p:nvPr/>
        </p:nvSpPr>
        <p:spPr>
          <a:xfrm>
            <a:off x="11070116" y="5700000"/>
            <a:ext cx="700000" cy="480000"/>
          </a:xfrm>
          <a:prstGeom prst="rect">
            <a:avLst/>
          </a:prstGeom>
          <a:noFill/>
        </p:spPr>
        <p:txBody>
          <a:bodyPr wrap="square" lIns="0" tIns="0" rIns="6000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C00000"/>
                </a:solidFill>
                <a:latin typeface="+mn-lt"/>
              </a:rPr>
              <a:t>0 %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отставания и меры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Факторы, влияющие на сроки подготовки (разд. 2–3 записки)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65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Основные причины продолжительной подготовки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890000"/>
            <a:ext cx="65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Stack2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364" y="2087000"/>
            <a:ext cx="400000" cy="40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91364" y="1890000"/>
            <a:ext cx="185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326E"/>
                </a:solidFill>
                <a:latin typeface="+mj-lt"/>
              </a:rPr>
              <a:t>Глинистые грунты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21364" y="1890000"/>
            <a:ext cx="367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70 % дороги от станции — глинистый грунт с низкой несущей способностью, проезд только для вездеходной техники 6×6.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371364" y="2764000"/>
            <a:ext cx="65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Mountain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364" y="2961000"/>
            <a:ext cx="400000" cy="40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91364" y="2764000"/>
            <a:ext cx="185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326E"/>
                </a:solidFill>
                <a:latin typeface="+mj-lt"/>
              </a:rPr>
              <a:t>Большой уклон подъёма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21364" y="2764000"/>
            <a:ext cx="367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Срезка ПРС и доп. отсыпка; техника идёт с сопровождением бульдозеров, после осадков — съезды самосвалов в кювет.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71364" y="3638000"/>
            <a:ext cx="65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1" name="Иконка 21" descr="TbDroplet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364" y="3835000"/>
            <a:ext cx="400000" cy="400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91364" y="3638000"/>
            <a:ext cx="185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326E"/>
                </a:solidFill>
                <a:latin typeface="+mj-lt"/>
              </a:rPr>
              <a:t>Заболоченность площадки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21364" y="3638000"/>
            <a:ext cx="367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Отсыпка под МБУ высотой 1,0 м после дождей дала осадку до 0,4 м.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4512000"/>
            <a:ext cx="65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5" name="Иконка 25" descr="TbTruck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364" y="4709000"/>
            <a:ext cx="400000" cy="400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091364" y="4512000"/>
            <a:ext cx="185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326E"/>
                </a:solidFill>
                <a:latin typeface="+mj-lt"/>
              </a:rPr>
              <a:t>Дефицит техники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21364" y="4512000"/>
            <a:ext cx="367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 Камчатском регионе нет свободных самосвалов вездеходного типа 6×6.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371364" y="5386000"/>
            <a:ext cx="6500000" cy="794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9" name="Иконка 29" descr="TbGasStation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364" y="5583000"/>
            <a:ext cx="400000" cy="40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091364" y="5386000"/>
            <a:ext cx="185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326E"/>
                </a:solidFill>
                <a:latin typeface="+mj-lt"/>
              </a:rPr>
              <a:t>Рост стоимости ДТ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21364" y="5386000"/>
            <a:ext cx="3670000" cy="79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Рост цен более 60 % — действующий подрядчик не готов работать в договорных ценах.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01364" y="1491000"/>
            <a:ext cx="4718752" cy="4689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321364" y="1650000"/>
            <a:ext cx="4278752" cy="3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FFFFFF"/>
                </a:solidFill>
                <a:latin typeface="+mj-lt"/>
              </a:rPr>
              <a:t>Компенсационные мероприятия</a:t>
            </a:r>
          </a:p>
        </p:txBody>
      </p:sp>
      <p:pic>
        <p:nvPicPr>
          <p:cNvPr id="34" name="Иконка 34" descr="TbUsersPlus_FFFFF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1364" y="2140000"/>
            <a:ext cx="360000" cy="3600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7821364" y="2120000"/>
            <a:ext cx="3778752" cy="9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Сокращение сроков вышкомонтажа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Доп. персонал из Усинского региона: руководитель работ, сварщик, электрик, 2 помощника бурильщика-стропальщика.</a:t>
            </a:r>
          </a:p>
        </p:txBody>
      </p:sp>
      <p:pic>
        <p:nvPicPr>
          <p:cNvPr id="36" name="Иконка 36" descr="TbTruckDelivery_FFFF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21364" y="3140000"/>
            <a:ext cx="360000" cy="360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7821364" y="3120000"/>
            <a:ext cx="3778752" cy="9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Опережающий переезд — с 28.09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Мобилизация МТР (обсадная труба, химреагенты) из г. Петропавловск-Камчатский; вывоз неиспользуемого оборудования с Гео-12.</a:t>
            </a:r>
          </a:p>
        </p:txBody>
      </p:sp>
      <p:pic>
        <p:nvPicPr>
          <p:cNvPr id="38" name="Иконка 38" descr="TbHammer_FFFFF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1364" y="4140000"/>
            <a:ext cx="360000" cy="360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7821364" y="4120000"/>
            <a:ext cx="3778752" cy="9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Опережающий демонтаж МБУ — с 10.10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Демонтаж не задействованного оборудования после достижения проектной глубины скв. Гео-12.</a:t>
            </a:r>
          </a:p>
        </p:txBody>
      </p:sp>
      <p:pic>
        <p:nvPicPr>
          <p:cNvPr id="40" name="Иконка 40" descr="TbArrowDownCircle_FFFFF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1364" y="5140000"/>
            <a:ext cx="360000" cy="36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7821364" y="5120000"/>
            <a:ext cx="3778752" cy="9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Опережающая забурка ЮГ-1 — 05.11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Начало бурения до окончания монтажа не задействованного оборудования МБУ.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и риски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Ключевые сроки и остаток работ (разд. 4–5 записки)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1144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График выполнения работ</a:t>
            </a:r>
          </a:p>
        </p:txBody>
      </p:sp>
      <p:cxnSp>
        <p:nvCxnSpPr>
          <p:cNvPr id="12" name="Линия 12"/>
          <p:cNvCxnSpPr/>
          <p:nvPr/>
        </p:nvCxnSpPr>
        <p:spPr>
          <a:xfrm>
            <a:off x="1086911" y="2280000"/>
            <a:ext cx="10017658" cy="0"/>
          </a:xfrm>
          <a:prstGeom prst="line">
            <a:avLst/>
          </a:prstGeom>
          <a:ln w="38100">
            <a:solidFill>
              <a:srgbClr val="BFC8D3"/>
            </a:solidFill>
          </a:ln>
        </p:spPr>
      </p:cxnSp>
      <p:cxnSp>
        <p:nvCxnSpPr>
          <p:cNvPr id="13" name="Линия 13"/>
          <p:cNvCxnSpPr/>
          <p:nvPr/>
        </p:nvCxnSpPr>
        <p:spPr>
          <a:xfrm>
            <a:off x="1086911" y="2280000"/>
            <a:ext cx="4293282" cy="0"/>
          </a:xfrm>
          <a:prstGeom prst="line">
            <a:avLst/>
          </a:prstGeom>
          <a:ln w="38100">
            <a:solidFill>
              <a:srgbClr val="4BAF46"/>
            </a:solidFill>
          </a:ln>
        </p:spPr>
      </p:cxnSp>
      <p:sp>
        <p:nvSpPr>
          <p:cNvPr id="14" name="Фигура 14"/>
          <p:cNvSpPr/>
          <p:nvPr/>
        </p:nvSpPr>
        <p:spPr>
          <a:xfrm>
            <a:off x="956911" y="215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391364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chemeClr val="tx2"/>
                </a:solidFill>
                <a:latin typeface="+mn-lt"/>
              </a:rPr>
              <a:t>16.07–14.08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364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Расчистка подъездного пути от снега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2388005" y="215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1822458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chemeClr val="tx2"/>
                </a:solidFill>
                <a:latin typeface="+mn-lt"/>
              </a:rPr>
              <a:t>01.08–07.09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2458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Расконсервация скв. О1, О4, 8Э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819099" y="2150000"/>
            <a:ext cx="260000" cy="2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3253552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chemeClr val="tx2"/>
                </a:solidFill>
                <a:latin typeface="+mn-lt"/>
              </a:rPr>
              <a:t>28.09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73552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Начало мобилизации МТР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5210193" y="2110000"/>
            <a:ext cx="340000" cy="34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4684646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chemeClr val="tx2"/>
                </a:solidFill>
                <a:latin typeface="+mn-lt"/>
              </a:rPr>
              <a:t>01.10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4646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Готовность площадки — 45 %</a:t>
            </a:r>
          </a:p>
        </p:txBody>
      </p:sp>
      <p:sp>
        <p:nvSpPr>
          <p:cNvPr id="26" name="Фигура 26"/>
          <p:cNvSpPr/>
          <p:nvPr/>
        </p:nvSpPr>
        <p:spPr>
          <a:xfrm>
            <a:off x="6681287" y="215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7" name="TextBox 27"/>
          <p:cNvSpPr txBox="1"/>
          <p:nvPr/>
        </p:nvSpPr>
        <p:spPr>
          <a:xfrm>
            <a:off x="6115740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10.10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35740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Начало демонтажа МБУ; поставка УО для скв. № 42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8112381" y="215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7546834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25.10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6834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Окончание обустройства площадки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9543475" y="215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8977928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05.11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97928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Начало бурения ЮГ-1 (опережающая забурка)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10974569" y="215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TextBox 36"/>
          <p:cNvSpPr txBox="1"/>
          <p:nvPr/>
        </p:nvSpPr>
        <p:spPr>
          <a:xfrm>
            <a:off x="10409022" y="1790000"/>
            <a:ext cx="1391094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326E"/>
                </a:solidFill>
                <a:latin typeface="+mn-lt"/>
              </a:rPr>
              <a:t>10.11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29022" y="2510000"/>
            <a:ext cx="1351094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Окончание мобилизации оборудования и МТР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3100000"/>
            <a:ext cx="11448752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tx2"/>
                </a:solidFill>
                <a:latin typeface="+mn-lt"/>
              </a:rPr>
              <a:t>●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выполнено    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○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план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371364" y="3480000"/>
            <a:ext cx="5632936" cy="27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Фигура 40"/>
          <p:cNvSpPr/>
          <p:nvPr/>
        </p:nvSpPr>
        <p:spPr>
          <a:xfrm>
            <a:off x="371364" y="341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1" name="Иконка 41" descr="TbListCheck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3630000"/>
            <a:ext cx="400000" cy="400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111364" y="3630000"/>
            <a:ext cx="4692936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Остаток работ до 25.10.2026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364" y="4160000"/>
            <a:ext cx="5232936" cy="19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Перевезти на площадку скважин 4 700 м³ грунта, вывезти на площадку накопления 4 380 м³;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Отсыпать площадку под ZJ-30 — 5 464 м² (готовность 14 %);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Обустроить шламовый амбар (500 м²), водозабор и коммуникации (600 м);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Завершить площадки хранения МТР (500 м²), вахтового посёлка (210 м²) и укладку «ТЕХНОНИКОЛЬ» (100 м).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6187180" y="3480000"/>
            <a:ext cx="5632936" cy="27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6187180" y="341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AlertTriangle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180" y="3630000"/>
            <a:ext cx="400000" cy="40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6927180" y="3630000"/>
            <a:ext cx="4692936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Риски срыва графика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87180" y="4160000"/>
            <a:ext cx="5232936" cy="19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Дефицит самосвалов 6×6 и отказ подрядчика от договорных цен;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Повторная осадка отсыпки на заболоченных участках при осадках;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Ливневые дожди в октябре — ухудшение проходимости подъёма;</a:t>
            </a:r>
          </a:p>
          <a:p>
            <a:pPr marL="171450" indent="-171450" algn="l">
              <a:spcBef>
                <a:spcPts val="700"/>
              </a:spcBef>
              <a:buFont typeface="Wingdings" pitchFamily="2" charset="2"/>
              <a:buChar char="v"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Бурение ЮГ-1 с 05.11 при окончании переезда 10.11 — резерв на вышкомонтаж отсутствует.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12148</TotalTime>
  <Words>477</Words>
  <Application>Microsoft Office PowerPoint</Application>
  <PresentationFormat>Широкоэкранный</PresentationFormat>
  <Paragraphs>85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TT Bluescreens Pro Normal Mediu</vt:lpstr>
      <vt:lpstr>TT Bluescreens Pro Expanded Med</vt:lpstr>
      <vt:lpstr>Arial</vt:lpstr>
      <vt:lpstr>Wingdings</vt:lpstr>
      <vt:lpstr>Calibri</vt:lpstr>
      <vt:lpstr>TT Bluescreens Pro Normal</vt:lpstr>
      <vt:lpstr>Тема Office 2013 – 2022</vt:lpstr>
      <vt:lpstr>Подготовка площадки скважин Южного участка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215</cp:revision>
  <dcterms:created xsi:type="dcterms:W3CDTF">2026-05-25T10:20:22Z</dcterms:created>
  <dcterms:modified xsi:type="dcterms:W3CDTF">2026-10-01T09:02:29Z</dcterms:modified>
</cp:coreProperties>
</file>