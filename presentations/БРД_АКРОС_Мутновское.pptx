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6"/>
  </p:notesMasterIdLst>
  <p:handoutMasterIdLst>
    <p:handoutMasterId r:id="rId7"/>
  </p:handoutMasterIdLst>
  <p:sldIdLst>
    <p:sldId id="288" r:id="rId3"/>
    <p:sldId id="297" r:id="rId28"/>
  </p:sldIdLst>
  <p:sldSz cx="12192000" cy="6858000"/>
  <p:notesSz cx="6858000" cy="9144000"/>
  <p:embeddedFontLst>
    <p:embeddedFont>
      <p:font typeface="TT Bluescreens Pro Normal Mediu" panose="020B0006030000020204" pitchFamily="34" charset="-52"/>
      <p:regular r:id="rId8"/>
    </p:embeddedFont>
    <p:embeddedFont>
      <p:font typeface="TT Bluescreens Pro Normal" panose="020B0006030000020204" pitchFamily="34" charset="-52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TT Bluescreens Pro Expanded Med" panose="020B0006030000020204" pitchFamily="34" charset="-5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6327" autoAdjust="0"/>
  </p:normalViewPr>
  <p:slideViewPr>
    <p:cSldViewPr snapToGrid="0" snapToObjects="1">
      <p:cViewPr varScale="1">
        <p:scale>
          <a:sx n="89" d="100"/>
          <a:sy n="89" d="100"/>
        </p:scale>
        <p:origin x="108" y="4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9" Type="http://schemas.openxmlformats.org/officeDocument/2006/relationships/font" Target="fonts/font2.fntdata"/><Relationship Id="rId14" Type="http://schemas.openxmlformats.org/officeDocument/2006/relationships/font" Target="fonts/font7.fntdata"/>  
  
  
  
  
  
  
  
  <Relationship Id="rId28" Type="http://schemas.openxmlformats.org/officeDocument/2006/relationships/slide" Target="slides/slide1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:a16="http://schemas.microsoft.com/office/drawing/2014/main" xmlns="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xmlns="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xmlns="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xmlns="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xmlns="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xmlns="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:a16="http://schemas.microsoft.com/office/drawing/2014/main" xmlns="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xmlns="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xmlns="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xmlns="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xmlns="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xmlns="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xmlns="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:a16="http://schemas.microsoft.com/office/drawing/2014/main" xmlns="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:a16="http://schemas.microsoft.com/office/drawing/2014/main" xmlns="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:a16="http://schemas.microsoft.com/office/drawing/2014/main" xmlns="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:a16="http://schemas.microsoft.com/office/drawing/2014/main" xmlns="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:a16="http://schemas.microsoft.com/office/drawing/2014/main" xmlns="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:a16="http://schemas.microsoft.com/office/drawing/2014/main" xmlns="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:a16="http://schemas.microsoft.com/office/drawing/2014/main" xmlns="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xmlns="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:a16="http://schemas.microsoft.com/office/drawing/2014/main" xmlns="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:a16="http://schemas.microsoft.com/office/drawing/2014/main" xmlns="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xmlns="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:a16="http://schemas.microsoft.com/office/drawing/2014/main" xmlns="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xmlns="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xmlns="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MapPin_4BAF46.png"/><Relationship Id="rId11" Type="http://schemas.openxmlformats.org/officeDocument/2006/relationships/image" Target="../media/yug_TbWorld_4BAF46.png"/><Relationship Id="rId12" Type="http://schemas.openxmlformats.org/officeDocument/2006/relationships/image" Target="../media/yug_TbClipboardCheck_FFFFFF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Бурение на депрессии (БРД)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Технология и комплекс оборудования ООО «АКРОС»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600000" cy="46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56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71364" y="1580000"/>
            <a:ext cx="52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Принцип: замкнутая циркуляция, Pзаб &lt; Pпл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1021364" y="3150000"/>
            <a:ext cx="900000" cy="24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7A8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Фигура 15"/>
          <p:cNvSpPr/>
          <p:nvPr/>
        </p:nvSpPr>
        <p:spPr>
          <a:xfrm>
            <a:off x="1381364" y="3090000"/>
            <a:ext cx="180000" cy="21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cxnSp>
        <p:nvCxnSpPr>
          <p:cNvPr id="16" name="Стрелка 16"/>
          <p:cNvCxnSpPr/>
          <p:nvPr/>
        </p:nvCxnSpPr>
        <p:spPr>
          <a:xfrm>
            <a:off x="1471364" y="3300000"/>
            <a:ext cx="0" cy="188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cxnSp>
        <p:nvCxnSpPr>
          <p:cNvPr id="17" name="Стрелка 17"/>
          <p:cNvCxnSpPr/>
          <p:nvPr/>
        </p:nvCxnSpPr>
        <p:spPr>
          <a:xfrm flipV="1">
            <a:off x="1201364" y="3300000"/>
            <a:ext cx="0" cy="191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cxnSp>
        <p:nvCxnSpPr>
          <p:cNvPr id="18" name="Стрелка 18"/>
          <p:cNvCxnSpPr/>
          <p:nvPr/>
        </p:nvCxnSpPr>
        <p:spPr>
          <a:xfrm flipV="1">
            <a:off x="1741364" y="3300000"/>
            <a:ext cx="0" cy="191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sp>
        <p:nvSpPr>
          <p:cNvPr id="19" name="Фигура 19"/>
          <p:cNvSpPr/>
          <p:nvPr/>
        </p:nvSpPr>
        <p:spPr>
          <a:xfrm>
            <a:off x="521364" y="5300000"/>
            <a:ext cx="5300000" cy="330000"/>
          </a:xfrm>
          <a:prstGeom prst="rect">
            <a:avLst/>
          </a:prstGeom>
          <a:solidFill>
            <a:srgbClr val="FDE9C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521364" y="5300000"/>
            <a:ext cx="530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00326E"/>
                </a:solidFill>
                <a:latin typeface="+mn-lt"/>
              </a:rPr>
              <a:t>Продуктивная зона: Pзаб &lt; Pпл → приток, трещины не кольматируются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1364" y="1930000"/>
            <a:ext cx="260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Насосы + азот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аэрированная жидкость / ГЖС в бурильную колонну</a:t>
            </a:r>
          </a:p>
        </p:txBody>
      </p:sp>
      <p:cxnSp>
        <p:nvCxnSpPr>
          <p:cNvPr id="22" name="Стрелка 22"/>
          <p:cNvCxnSpPr/>
          <p:nvPr/>
        </p:nvCxnSpPr>
        <p:spPr>
          <a:xfrm>
            <a:off x="971364" y="2430000"/>
            <a:ext cx="440000" cy="2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23" name="Фигура 23"/>
          <p:cNvSpPr/>
          <p:nvPr/>
        </p:nvSpPr>
        <p:spPr>
          <a:xfrm>
            <a:off x="891364" y="2720000"/>
            <a:ext cx="1160000" cy="33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931364" y="2720000"/>
            <a:ext cx="108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1" dirty="0">
                <a:solidFill>
                  <a:srgbClr val="FFFFFF"/>
                </a:solidFill>
                <a:latin typeface="+mn-lt"/>
              </a:rPr>
              <a:t>RCD TITAN</a:t>
            </a:r>
          </a:p>
        </p:txBody>
      </p:sp>
      <p:sp>
        <p:nvSpPr>
          <p:cNvPr id="25" name="Фигура 25"/>
          <p:cNvSpPr/>
          <p:nvPr/>
        </p:nvSpPr>
        <p:spPr>
          <a:xfrm>
            <a:off x="2221364" y="2720000"/>
            <a:ext cx="1300000" cy="60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2261364" y="2720000"/>
            <a:ext cx="1220000" cy="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1" dirty="0">
                <a:solidFill>
                  <a:srgbClr val="FFFFFF"/>
                </a:solidFill>
                <a:latin typeface="+mn-lt"/>
              </a:rPr>
              <a:t>Дроссельный манифольд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800" b="0" dirty="0">
                <a:solidFill>
                  <a:srgbClr val="FFFFFF"/>
                </a:solidFill>
                <a:latin typeface="+mn-lt"/>
              </a:rPr>
              <a:t>противодавление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3701364" y="2720000"/>
            <a:ext cx="1300000" cy="600000"/>
          </a:xfrm>
          <a:prstGeom prst="rect">
            <a:avLst/>
          </a:prstGeom>
          <a:solidFill>
            <a:srgbClr val="0A8F2D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3741364" y="2720000"/>
            <a:ext cx="1220000" cy="6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1" dirty="0">
                <a:solidFill>
                  <a:srgbClr val="FFFFFF"/>
                </a:solidFill>
                <a:latin typeface="+mn-lt"/>
              </a:rPr>
              <a:t>4-фазный сепаратор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800" b="0" dirty="0">
                <a:solidFill>
                  <a:srgbClr val="FFFFFF"/>
                </a:solidFill>
                <a:latin typeface="+mn-lt"/>
              </a:rPr>
              <a:t>газ · жидкость · шлам</a:t>
            </a:r>
          </a:p>
        </p:txBody>
      </p:sp>
      <p:cxnSp>
        <p:nvCxnSpPr>
          <p:cNvPr id="29" name="Стрелка 29"/>
          <p:cNvCxnSpPr/>
          <p:nvPr/>
        </p:nvCxnSpPr>
        <p:spPr>
          <a:xfrm>
            <a:off x="2051364" y="2885000"/>
            <a:ext cx="170000" cy="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cxnSp>
        <p:nvCxnSpPr>
          <p:cNvPr id="30" name="Стрелка 30"/>
          <p:cNvCxnSpPr/>
          <p:nvPr/>
        </p:nvCxnSpPr>
        <p:spPr>
          <a:xfrm>
            <a:off x="3521364" y="3020000"/>
            <a:ext cx="180000" cy="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1" name="Фигура 31"/>
          <p:cNvSpPr/>
          <p:nvPr/>
        </p:nvSpPr>
        <p:spPr>
          <a:xfrm>
            <a:off x="3701364" y="3700000"/>
            <a:ext cx="1300000" cy="40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TextBox 32"/>
          <p:cNvSpPr txBox="1"/>
          <p:nvPr/>
        </p:nvSpPr>
        <p:spPr>
          <a:xfrm>
            <a:off x="3741364" y="3700000"/>
            <a:ext cx="12200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1" dirty="0">
                <a:solidFill>
                  <a:srgbClr val="FFFFFF"/>
                </a:solidFill>
                <a:latin typeface="+mn-lt"/>
              </a:rPr>
              <a:t>Факел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2221364" y="3700000"/>
            <a:ext cx="1300000" cy="40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TextBox 34"/>
          <p:cNvSpPr txBox="1"/>
          <p:nvPr/>
        </p:nvSpPr>
        <p:spPr>
          <a:xfrm>
            <a:off x="2261364" y="3700000"/>
            <a:ext cx="12200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50" b="1" dirty="0">
                <a:solidFill>
                  <a:srgbClr val="FFFFFF"/>
                </a:solidFill>
                <a:latin typeface="+mn-lt"/>
              </a:rPr>
              <a:t>Возврат в ЦС</a:t>
            </a:r>
          </a:p>
        </p:txBody>
      </p:sp>
      <p:cxnSp>
        <p:nvCxnSpPr>
          <p:cNvPr id="35" name="Стрелка 35"/>
          <p:cNvCxnSpPr/>
          <p:nvPr/>
        </p:nvCxnSpPr>
        <p:spPr>
          <a:xfrm>
            <a:off x="4351364" y="3320000"/>
            <a:ext cx="0" cy="3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cxnSp>
        <p:nvCxnSpPr>
          <p:cNvPr id="36" name="Стрелка 36"/>
          <p:cNvCxnSpPr/>
          <p:nvPr/>
        </p:nvCxnSpPr>
        <p:spPr>
          <a:xfrm flipH="1">
            <a:off x="3371364" y="3320000"/>
            <a:ext cx="480000" cy="3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7" name="TextBox 37"/>
          <p:cNvSpPr txBox="1"/>
          <p:nvPr/>
        </p:nvSpPr>
        <p:spPr>
          <a:xfrm>
            <a:off x="2221364" y="4180000"/>
            <a:ext cx="2780000" cy="1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Забойное давление управляется противодавлением на устье и долей газа в потоке — без утяжеления раствора.</a:t>
            </a:r>
          </a:p>
          <a:p>
            <a:pPr algn="l">
              <a:spcBef>
                <a:spcPts val="40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При остановке насосов противодавление поддерживается закачкой азота.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01364" y="1440000"/>
            <a:ext cx="561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Комплекс БРД/MPD АКРОС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6201364" y="1760000"/>
            <a:ext cx="5618752" cy="52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6321364" y="1760000"/>
            <a:ext cx="5378752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Роторный герметизатор TITAN 3 / 5</a:t>
            </a:r>
          </a:p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3 000 / 5 000 psi (20,7 / 34,5 МПа); подшипниковые узлы ZEUS/ARES по API 16RCD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21364" y="2280000"/>
            <a:ext cx="5378752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Дроссельный манифольд</a:t>
            </a:r>
          </a:p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2 гидравлических дросселя, расходомер, автоматический контроль противодавления; 5 000 psi (34,5 МПа); утеплённый контейнер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6201364" y="2800000"/>
            <a:ext cx="5618752" cy="52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3"/>
          <p:cNvSpPr txBox="1"/>
          <p:nvPr/>
        </p:nvSpPr>
        <p:spPr>
          <a:xfrm>
            <a:off x="6321364" y="2800000"/>
            <a:ext cx="5378752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4-фазный сепаратор</a:t>
            </a:r>
          </a:p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для азотированной промывочной жидкости; 250 psi (1,72 МПа), 18 м³, −46…+121 °C; утеплённый модуль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21364" y="3320000"/>
            <a:ext cx="5378752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Факельная вышка Beyond</a:t>
            </a:r>
          </a:p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сжигание газа; самоустанавливающаяся, без крана</a:t>
            </a:r>
          </a:p>
        </p:txBody>
      </p:sp>
      <p:sp>
        <p:nvSpPr>
          <p:cNvPr id="45" name="Фигура 45"/>
          <p:cNvSpPr/>
          <p:nvPr/>
        </p:nvSpPr>
        <p:spPr>
          <a:xfrm>
            <a:off x="6201364" y="3840000"/>
            <a:ext cx="5618752" cy="52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6" name="TextBox 46"/>
          <p:cNvSpPr txBox="1"/>
          <p:nvPr/>
        </p:nvSpPr>
        <p:spPr>
          <a:xfrm>
            <a:off x="6321364" y="3840000"/>
            <a:ext cx="5378752" cy="5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Сервис</a:t>
            </a:r>
          </a:p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супервайзеры со стажем &gt; 15 лет в MPD/UBD; инженерная поддержка 24/7</a:t>
            </a:r>
          </a:p>
        </p:txBody>
      </p:sp>
      <p:sp>
        <p:nvSpPr>
          <p:cNvPr id="47" name="Фигура 47"/>
          <p:cNvSpPr/>
          <p:nvPr/>
        </p:nvSpPr>
        <p:spPr>
          <a:xfrm>
            <a:off x="6201364" y="4480000"/>
            <a:ext cx="2749376" cy="17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Фигура 48"/>
          <p:cNvSpPr/>
          <p:nvPr/>
        </p:nvSpPr>
        <p:spPr>
          <a:xfrm>
            <a:off x="6201364" y="4430000"/>
            <a:ext cx="2749376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6321364" y="4530000"/>
            <a:ext cx="2509376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8 vs 25 сут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21364" y="4910000"/>
            <a:ext cx="2509376" cy="1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интервал под хвостовик на ГЖС MEX-FOAM против среднего по прежним технологиям (Вост. Сибирь)</a:t>
            </a:r>
          </a:p>
        </p:txBody>
      </p:sp>
      <p:sp>
        <p:nvSpPr>
          <p:cNvPr id="51" name="Фигура 51"/>
          <p:cNvSpPr/>
          <p:nvPr/>
        </p:nvSpPr>
        <p:spPr>
          <a:xfrm>
            <a:off x="9070740" y="4480000"/>
            <a:ext cx="2749376" cy="17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Фигура 52"/>
          <p:cNvSpPr/>
          <p:nvPr/>
        </p:nvSpPr>
        <p:spPr>
          <a:xfrm>
            <a:off x="9070740" y="4430000"/>
            <a:ext cx="2749376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9190740" y="4530000"/>
            <a:ext cx="2509376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−70 %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90740" y="4910000"/>
            <a:ext cx="2509376" cy="1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расход воды на пенной системе MAX-FOAM при катастрофических поглощениях (Куюмба)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364" y="625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akros-llc.com (разделы «Бурение с управляемым давлением», оборудование, проекты); «Бурение и нефть» — статья о MEX-FOAM®. Параметры — по данным производителя.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Мутновское месторождение: специфика и условия внедрения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3694330" cy="44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369433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MapPin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364" y="1630000"/>
            <a:ext cx="360000" cy="36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91364" y="1610000"/>
            <a:ext cx="289433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Специфика Мутновского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1364" y="2140000"/>
            <a:ext cx="3334330" cy="37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150" b="0" dirty="0">
                <a:solidFill>
                  <a:schemeClr val="bg2"/>
                </a:solidFill>
                <a:latin typeface="+mn-lt"/>
              </a:rPr>
              <a:t>АНПД на разных глубинах: при поглощении можно потерять весь объём промывочной жидкости;</a:t>
            </a:r>
          </a:p>
          <a:p>
            <a:pPr marL="171450" indent="-171450" algn="l">
              <a:spcBef>
                <a:spcPts val="1000"/>
              </a:spcBef>
              <a:buFont typeface="Wingdings" pitchFamily="2" charset="2"/>
              <a:buChar char="v"/>
            </a:pPr>
            <a:r>
              <a:rPr lang="ru-RU" sz="1150" b="0" dirty="0">
                <a:solidFill>
                  <a:schemeClr val="bg2"/>
                </a:solidFill>
                <a:latin typeface="+mn-lt"/>
              </a:rPr>
              <a:t>Забойная температура до 350 °C; раствор нагревается до 90 °C за цикл — охлаждение на градирне;</a:t>
            </a:r>
          </a:p>
          <a:p>
            <a:pPr marL="171450" indent="-171450" algn="l">
              <a:spcBef>
                <a:spcPts val="1000"/>
              </a:spcBef>
              <a:buFont typeface="Wingdings" pitchFamily="2" charset="2"/>
              <a:buChar char="v"/>
            </a:pPr>
            <a:r>
              <a:rPr lang="ru-RU" sz="1150" b="0" dirty="0">
                <a:solidFill>
                  <a:schemeClr val="bg2"/>
                </a:solidFill>
                <a:latin typeface="+mn-lt"/>
              </a:rPr>
              <a:t>Трещинно-жильный коллектор: кольматация трещин снижает продуктивность;</a:t>
            </a:r>
          </a:p>
          <a:p>
            <a:pPr marL="171450" indent="-171450" algn="l">
              <a:spcBef>
                <a:spcPts val="1000"/>
              </a:spcBef>
              <a:buFont typeface="Wingdings" pitchFamily="2" charset="2"/>
              <a:buChar char="v"/>
            </a:pPr>
            <a:r>
              <a:rPr lang="ru-RU" sz="1150" b="0" dirty="0">
                <a:solidFill>
                  <a:schemeClr val="bg2"/>
                </a:solidFill>
                <a:latin typeface="+mn-lt"/>
              </a:rPr>
              <a:t>Пластовое давление снижается при эксплуатации; допустимая депрессия для типовой скважины ≈ 2,5 МПа.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4248574" y="1500000"/>
            <a:ext cx="3694330" cy="44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Фигура 17"/>
          <p:cNvSpPr/>
          <p:nvPr/>
        </p:nvSpPr>
        <p:spPr>
          <a:xfrm>
            <a:off x="4248574" y="1431000"/>
            <a:ext cx="369433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8" name="Иконка 18" descr="TbWorld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8574" y="1630000"/>
            <a:ext cx="360000" cy="36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868574" y="1610000"/>
            <a:ext cx="289433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chemeClr val="tx2"/>
                </a:solidFill>
                <a:latin typeface="+mj-lt"/>
              </a:rPr>
              <a:t>Международный опыт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28574" y="2120000"/>
            <a:ext cx="3334330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58 vs 23 МВт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28574" y="2450000"/>
            <a:ext cx="3334330" cy="597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средняя тепловая мощность скважин: с аэрацией vs без выхода циркуляции на воде (Олкария, Кения)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28574" y="3057500"/>
            <a:ext cx="3334330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3–5 → 16 МВт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28574" y="3387500"/>
            <a:ext cx="3334330" cy="597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мощность скважины после внедрения аэрированного и наклонного бурения (Кения, 57 скважин)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28574" y="3995000"/>
            <a:ext cx="3334330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до 3×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28574" y="4325000"/>
            <a:ext cx="3334330" cy="597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рост механической скорости в базальтовых лавах (Исландия)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28574" y="4932500"/>
            <a:ext cx="3334330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700" b="0" dirty="0">
                <a:solidFill>
                  <a:srgbClr val="00326E"/>
                </a:solidFill>
                <a:latin typeface="+mj-lt"/>
              </a:rPr>
              <a:t>3 203 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28574" y="5262500"/>
            <a:ext cx="3334330" cy="597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скважина пробурена с аэрацией через зоны полного поглощения (Хулулаис, Индонезия)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8125785" y="1431000"/>
            <a:ext cx="3694330" cy="4499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9" name="Иконка 29" descr="TbClipboardCheck_FFFFF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5785" y="1630000"/>
            <a:ext cx="360000" cy="36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8745785" y="1610000"/>
            <a:ext cx="289433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0" dirty="0">
                <a:solidFill>
                  <a:srgbClr val="FFFFFF"/>
                </a:solidFill>
                <a:latin typeface="+mj-lt"/>
              </a:rPr>
              <a:t>Эффект и условия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05785" y="2140000"/>
            <a:ext cx="3334330" cy="37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FFFFFF"/>
                </a:solidFill>
                <a:latin typeface="+mn-lt"/>
              </a:rPr>
              <a:t>Ожидаемый эффект: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1000" b="0" dirty="0">
                <a:solidFill>
                  <a:srgbClr val="FFFFFF"/>
                </a:solidFill>
                <a:latin typeface="+mn-lt"/>
              </a:rPr>
              <a:t>сохранение проницаемости продуктивной зоны, вынос шлама при поглощениях, меньше прихватов, ниже расход воды</a:t>
            </a:r>
          </a:p>
          <a:p>
            <a:pPr algn="l">
              <a:spcBef>
                <a:spcPts val="900"/>
              </a:spcBef>
              <a:buNone/>
            </a:pPr>
            <a:r>
              <a:rPr lang="ru-RU" sz="1100" b="1" dirty="0">
                <a:solidFill>
                  <a:srgbClr val="FFFFFF"/>
                </a:solidFill>
                <a:latin typeface="+mn-lt"/>
              </a:rPr>
              <a:t>Проработать с АКРОС: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1000" b="0" dirty="0">
                <a:solidFill>
                  <a:srgbClr val="FFFFFF"/>
                </a:solidFill>
                <a:latin typeface="+mn-lt"/>
              </a:rPr>
              <a:t>• высокотемпературное исполнение: сепаратор — до +121 °C, температура уплотнений RCD не указана;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1000" b="0" dirty="0">
                <a:solidFill>
                  <a:srgbClr val="FFFFFF"/>
                </a:solidFill>
                <a:latin typeface="+mn-lt"/>
              </a:rPr>
              <a:t>• охлаждение и сепарация пароводяного потока, H₂S/CO₂ и коррозия;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1000" b="0" dirty="0">
                <a:solidFill>
                  <a:srgbClr val="FFFFFF"/>
                </a:solidFill>
                <a:latin typeface="+mn-lt"/>
              </a:rPr>
              <a:t>• совместимость ГЖС с телесистемой и ВЗД, гидравлическая модель;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1000" b="0" dirty="0">
                <a:solidFill>
                  <a:srgbClr val="FFFFFF"/>
                </a:solidFill>
                <a:latin typeface="+mn-lt"/>
              </a:rPr>
              <a:t>• производительность азотной установки.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1364" y="5990000"/>
            <a:ext cx="11448752" cy="2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C00000"/>
                </a:solidFill>
                <a:latin typeface="+mn-lt"/>
              </a:rPr>
              <a:t>Международные показатели — ориентиры с других месторождений, не гарантия результата на Мутновском; эффект подтверждается ОПР.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1364" y="625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Вестник РусГидро (2018); Шулюпин и др., СО РАН; UNU-GTP 2008 Report 11 (Putra); Zhang et al., SPE (2012); GRC — Hululais HLS-E1.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12242</TotalTime>
  <Words>708</Words>
  <Application>Microsoft Office PowerPoint</Application>
  <PresentationFormat>Широкоэкранный</PresentationFormat>
  <Paragraphs>98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Wingdings</vt:lpstr>
      <vt:lpstr>TT Bluescreens Pro Normal Mediu</vt:lpstr>
      <vt:lpstr>TT Bluescreens Pro Normal</vt:lpstr>
      <vt:lpstr>Calibri</vt:lpstr>
      <vt:lpstr>TT Bluescreens Pro Expanded Med</vt:lpstr>
      <vt:lpstr>Тема Office 2013 – 2022</vt:lpstr>
      <vt:lpstr>Статус подготовительных работ и переезда МБУ</vt:lpstr>
      <vt:lpstr>Статус подготовки площадки</vt:lpstr>
      <vt:lpstr>Причины отставания и меры</vt:lpstr>
      <vt:lpstr>График и риски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220</cp:revision>
  <dcterms:created xsi:type="dcterms:W3CDTF">2026-05-25T10:20:22Z</dcterms:created>
  <dcterms:modified xsi:type="dcterms:W3CDTF">2026-10-01T11:18:30Z</dcterms:modified>
</cp:coreProperties>
</file>