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22"/>
  </p:notesMasterIdLst>
  <p:handoutMasterIdLst>
    <p:handoutMasterId r:id="rId23"/>
  </p:handoutMasterIdLst>
  <p:sldIdLst>
    <p:sldId id="273" r:id="rId2"/>
    <p:sldId id="288" r:id="rId42"/>
    <p:sldId id="287" r:id="rId41"/>
    <p:sldId id="286" r:id="rId40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24"/>
    </p:embeddedFont>
    <p:embeddedFont>
      <p:font typeface="TT Bluescreens Pro Expanded" panose="020B0006030000020204" pitchFamily="34" charset="-52"/>
      <p:regular r:id="rId25"/>
      <p:bold r:id="rId26"/>
    </p:embeddedFont>
    <p:embeddedFont>
      <p:font typeface="Tahoma" panose="020B0604030504040204" pitchFamily="34" charset="0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TT Bluescreens Pro Expanded Med" panose="020B0006030000020204" pitchFamily="34" charset="-52"/>
      <p:regular r:id="rId33"/>
    </p:embeddedFont>
    <p:embeddedFont>
      <p:font typeface="TT Bluescreens Pro Normal" panose="020B0006030000020204" pitchFamily="34" charset="-52"/>
      <p:regular r:id="rId34"/>
      <p:bold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112" d="100"/>
          <a:sy n="112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34" Type="http://schemas.openxmlformats.org/officeDocument/2006/relationships/font" Target="fonts/font11.fntdata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31" Type="http://schemas.openxmlformats.org/officeDocument/2006/relationships/font" Target="fonts/font8.fntdata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  <Relationship Id="rId40" Type="http://schemas.openxmlformats.org/officeDocument/2006/relationships/slide" Target="slides/slide21.xml"/>
  <Relationship Id="rId41" Type="http://schemas.openxmlformats.org/officeDocument/2006/relationships/slide" Target="slides/slide22.xml"/>
  <Relationship Id="rId42" Type="http://schemas.openxmlformats.org/officeDocument/2006/relationships/slide" Target="slides/slide2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="" xmlns:a16="http://schemas.microsoft.com/office/drawing/2014/main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="" xmlns:a16="http://schemas.microsoft.com/office/drawing/2014/main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="" xmlns:a16="http://schemas.microsoft.com/office/drawing/2014/main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="" xmlns:a16="http://schemas.microsoft.com/office/drawing/2014/main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="" xmlns:a16="http://schemas.microsoft.com/office/drawing/2014/main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="" xmlns:a16="http://schemas.microsoft.com/office/drawing/2014/main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="" xmlns:a16="http://schemas.microsoft.com/office/drawing/2014/main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="" xmlns:a16="http://schemas.microsoft.com/office/drawing/2014/main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="" xmlns:a16="http://schemas.microsoft.com/office/drawing/2014/main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="" xmlns:a16="http://schemas.microsoft.com/office/drawing/2014/main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="" xmlns:a16="http://schemas.microsoft.com/office/drawing/2014/main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="" xmlns:a16="http://schemas.microsoft.com/office/drawing/2014/main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="" xmlns:a16="http://schemas.microsoft.com/office/drawing/2014/main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="" xmlns:a16="http://schemas.microsoft.com/office/drawing/2014/main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="" xmlns:a16="http://schemas.microsoft.com/office/drawing/2014/main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="" xmlns:a16="http://schemas.microsoft.com/office/drawing/2014/main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="" xmlns:a16="http://schemas.microsoft.com/office/drawing/2014/main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="" xmlns:a16="http://schemas.microsoft.com/office/drawing/2014/main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="" xmlns:a16="http://schemas.microsoft.com/office/drawing/2014/main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="" xmlns:a16="http://schemas.microsoft.com/office/drawing/2014/main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="" xmlns:a16="http://schemas.microsoft.com/office/drawing/2014/main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="" xmlns:a16="http://schemas.microsoft.com/office/drawing/2014/main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="" xmlns:a16="http://schemas.microsoft.com/office/drawing/2014/main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="" xmlns:a16="http://schemas.microsoft.com/office/drawing/2014/main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="" xmlns:a16="http://schemas.microsoft.com/office/drawing/2014/main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="" xmlns:a16="http://schemas.microsoft.com/office/drawing/2014/main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="" xmlns:a16="http://schemas.microsoft.com/office/drawing/2014/main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="" xmlns:a16="http://schemas.microsoft.com/office/drawing/2014/main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="" xmlns:a16="http://schemas.microsoft.com/office/drawing/2014/main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="" xmlns:a16="http://schemas.microsoft.com/office/drawing/2014/main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="" xmlns:a16="http://schemas.microsoft.com/office/drawing/2014/main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="" xmlns:a16="http://schemas.microsoft.com/office/drawing/2014/main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="" xmlns:a16="http://schemas.microsoft.com/office/drawing/2014/main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="" xmlns:a16="http://schemas.microsoft.com/office/drawing/2014/main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="" xmlns:a16="http://schemas.microsoft.com/office/drawing/2014/main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="" xmlns:a16="http://schemas.microsoft.com/office/drawing/2014/main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="" xmlns:a16="http://schemas.microsoft.com/office/drawing/2014/main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="" xmlns:a16="http://schemas.microsoft.com/office/drawing/2014/main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="" xmlns:a16="http://schemas.microsoft.com/office/drawing/2014/main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="" xmlns:a16="http://schemas.microsoft.com/office/drawing/2014/main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="" xmlns:a16="http://schemas.microsoft.com/office/drawing/2014/main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="" xmlns:a16="http://schemas.microsoft.com/office/drawing/2014/main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="" xmlns:a16="http://schemas.microsoft.com/office/drawing/2014/main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="" xmlns:a16="http://schemas.microsoft.com/office/drawing/2014/main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="" xmlns:a16="http://schemas.microsoft.com/office/drawing/2014/main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="" xmlns:a16="http://schemas.microsoft.com/office/drawing/2014/main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="" xmlns:a16="http://schemas.microsoft.com/office/drawing/2014/main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="" xmlns:a16="http://schemas.microsoft.com/office/drawing/2014/main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="" xmlns:a16="http://schemas.microsoft.com/office/drawing/2014/main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="" xmlns:a16="http://schemas.microsoft.com/office/drawing/2014/main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="" xmlns:a16="http://schemas.microsoft.com/office/drawing/2014/main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="" xmlns:a16="http://schemas.microsoft.com/office/drawing/2014/main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ListCheck_4BAF46.png"/><Relationship Id="rId11" Type="http://schemas.openxmlformats.org/officeDocument/2006/relationships/image" Target="../media/yug_TbAlertTriangle_4BAF4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Stack2_4BAF46.png"/><Relationship Id="rId11" Type="http://schemas.openxmlformats.org/officeDocument/2006/relationships/image" Target="../media/yug_TbMountain_4BAF46.png"/><Relationship Id="rId12" Type="http://schemas.openxmlformats.org/officeDocument/2006/relationships/image" Target="../media/yug_TbDroplet_4BAF46.png"/><Relationship Id="rId13" Type="http://schemas.openxmlformats.org/officeDocument/2006/relationships/image" Target="../media/yug_TbTruck_4BAF46.png"/><Relationship Id="rId14" Type="http://schemas.openxmlformats.org/officeDocument/2006/relationships/image" Target="../media/yug_TbGasStation_4BAF46.png"/><Relationship Id="rId15" Type="http://schemas.openxmlformats.org/officeDocument/2006/relationships/image" Target="../media/yug_TbUsersPlus_FFFFFF.png"/><Relationship Id="rId16" Type="http://schemas.openxmlformats.org/officeDocument/2006/relationships/image" Target="../media/yug_TbTruckDelivery_FFFFFF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Snowflake_4BAF46.png"/><Relationship Id="rId11" Type="http://schemas.openxmlformats.org/officeDocument/2006/relationships/image" Target="../media/yug_TbRoad_4BAF46.png"/><Relationship Id="rId12" Type="http://schemas.openxmlformats.org/officeDocument/2006/relationships/image" Target="../media/yug_TbBarrierBlock_4BAF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="" xmlns:a16="http://schemas.microsoft.com/office/drawing/2014/main" id="{4DEA05BC-9EDB-797F-154D-06DAF0BF5962}"/>
              </a:ext>
            </a:extLst>
          </p:cNvPr>
          <p:cNvSpPr/>
          <p:nvPr/>
        </p:nvSpPr>
        <p:spPr>
          <a:xfrm>
            <a:off x="371475" y="6141472"/>
            <a:ext cx="1750000" cy="34822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 smtClean="0">
                <a:solidFill>
                  <a:schemeClr val="tx1"/>
                </a:solidFill>
                <a:latin typeface="+mj-lt"/>
              </a:rPr>
              <a:t>30.09.2026</a:t>
            </a:r>
            <a:endParaRPr lang="ru-RU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2397A368-0B17-C256-D8F0-BB1C7269A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Подготовка площадки Южного блока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D37C6F03-DA2D-52A5-1AE3-CE88BBA6B5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 smtClean="0"/>
              <a:t>МУТНОВСКОЕ МЕСТОРОЖДЕНИЕ ПАРОГЕОТЕРМ</a:t>
            </a:r>
          </a:p>
          <a:p>
            <a:r>
              <a:rPr lang="ru-RU" dirty="0" smtClean="0"/>
              <a:t>Статус работ по состоянию на 30.09.2026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152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и риски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Ключевые сроки и остаток работ по Южному блоку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Южный блок Мутновского месторождения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500000"/>
            <a:ext cx="1144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График выполнения работ</a:t>
            </a:r>
          </a:p>
        </p:txBody>
      </p:sp>
      <p:cxnSp>
        <p:nvCxnSpPr>
          <p:cNvPr id="12" name="Линия 12"/>
          <p:cNvCxnSpPr/>
          <p:nvPr/>
        </p:nvCxnSpPr>
        <p:spPr>
          <a:xfrm>
            <a:off x="1325426" y="2310000"/>
            <a:ext cx="9540626" cy="0"/>
          </a:xfrm>
          <a:prstGeom prst="line">
            <a:avLst/>
          </a:prstGeom>
          <a:ln w="38100">
            <a:solidFill>
              <a:srgbClr val="BFC8D3"/>
            </a:solidFill>
          </a:ln>
        </p:spPr>
      </p:cxnSp>
      <p:cxnSp>
        <p:nvCxnSpPr>
          <p:cNvPr id="13" name="Линия 13"/>
          <p:cNvCxnSpPr/>
          <p:nvPr/>
        </p:nvCxnSpPr>
        <p:spPr>
          <a:xfrm>
            <a:off x="1325426" y="2310000"/>
            <a:ext cx="3816250" cy="0"/>
          </a:xfrm>
          <a:prstGeom prst="line">
            <a:avLst/>
          </a:prstGeom>
          <a:ln w="38100">
            <a:solidFill>
              <a:srgbClr val="4BAF46"/>
            </a:solidFill>
          </a:ln>
        </p:spPr>
      </p:cxnSp>
      <p:sp>
        <p:nvSpPr>
          <p:cNvPr id="14" name="Фигура 14"/>
          <p:cNvSpPr/>
          <p:nvPr/>
        </p:nvSpPr>
        <p:spPr>
          <a:xfrm>
            <a:off x="1175426" y="2160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411363" y="1810000"/>
            <a:ext cx="1828125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2"/>
                </a:solidFill>
                <a:latin typeface="+mn-lt"/>
              </a:rPr>
              <a:t>16.07–14.08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1363" y="2570000"/>
            <a:ext cx="1788125" cy="5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Расчистка подъездного пути</a:t>
            </a:r>
          </a:p>
        </p:txBody>
      </p:sp>
      <p:sp>
        <p:nvSpPr>
          <p:cNvPr id="17" name="Фигура 17"/>
          <p:cNvSpPr/>
          <p:nvPr/>
        </p:nvSpPr>
        <p:spPr>
          <a:xfrm>
            <a:off x="3083552" y="2160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2319489" y="1810000"/>
            <a:ext cx="1828125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2"/>
                </a:solidFill>
                <a:latin typeface="+mn-lt"/>
              </a:rPr>
              <a:t>28.09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39489" y="2570000"/>
            <a:ext cx="1788125" cy="5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Начало мобилизации МТР (опережающий переезд)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4951677" y="2120000"/>
            <a:ext cx="380000" cy="38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TextBox 21"/>
          <p:cNvSpPr txBox="1"/>
          <p:nvPr/>
        </p:nvSpPr>
        <p:spPr>
          <a:xfrm>
            <a:off x="4227614" y="1810000"/>
            <a:ext cx="1828125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chemeClr val="tx2"/>
                </a:solidFill>
                <a:latin typeface="+mn-lt"/>
              </a:rPr>
              <a:t>30.09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47614" y="2570000"/>
            <a:ext cx="1788125" cy="5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Готовность площадки — 44 %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6899802" y="2160000"/>
            <a:ext cx="300000" cy="3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6135739" y="1810000"/>
            <a:ext cx="1828125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15.10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55739" y="2570000"/>
            <a:ext cx="1788125" cy="5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Окончание обустройства площадки</a:t>
            </a:r>
          </a:p>
        </p:txBody>
      </p:sp>
      <p:sp>
        <p:nvSpPr>
          <p:cNvPr id="26" name="Фигура 26"/>
          <p:cNvSpPr/>
          <p:nvPr/>
        </p:nvSpPr>
        <p:spPr>
          <a:xfrm>
            <a:off x="8807928" y="2160000"/>
            <a:ext cx="300000" cy="3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7" name="TextBox 27"/>
          <p:cNvSpPr txBox="1"/>
          <p:nvPr/>
        </p:nvSpPr>
        <p:spPr>
          <a:xfrm>
            <a:off x="8043865" y="1810000"/>
            <a:ext cx="1828125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25.10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63865" y="2570000"/>
            <a:ext cx="1788125" cy="5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Окончание мобилизации оборудования и МТР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10716053" y="2160000"/>
            <a:ext cx="300000" cy="30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326E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9951990" y="1810000"/>
            <a:ext cx="1828125" cy="3000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25.10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71990" y="2570000"/>
            <a:ext cx="1788125" cy="5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Начало бурения скважины ЮГ-1 (ориентировочно)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1364" y="3130000"/>
            <a:ext cx="11448752" cy="24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tx2"/>
                </a:solidFill>
                <a:latin typeface="+mn-lt"/>
              </a:rPr>
              <a:t>●</a:t>
            </a:r>
            <a:r>
              <a:rPr lang="ru-RU" sz="1000" b="0" dirty="0">
                <a:solidFill>
                  <a:schemeClr val="bg2"/>
                </a:solidFill>
                <a:latin typeface="+mn-lt"/>
              </a:rPr>
              <a:t> выполнено     </a:t>
            </a:r>
            <a:r>
              <a:rPr lang="ru-RU" sz="1000" b="0" dirty="0">
                <a:solidFill>
                  <a:srgbClr val="00326E"/>
                </a:solidFill>
                <a:latin typeface="+mn-lt"/>
              </a:rPr>
              <a:t>○</a:t>
            </a:r>
            <a:r>
              <a:rPr lang="ru-RU" sz="1000" b="0" dirty="0">
                <a:solidFill>
                  <a:schemeClr val="bg2"/>
                </a:solidFill>
                <a:latin typeface="+mn-lt"/>
              </a:rPr>
              <a:t> план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371364" y="3500000"/>
            <a:ext cx="5632936" cy="26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371364" y="343100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ListCheck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364" y="3650000"/>
            <a:ext cx="420000" cy="42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131364" y="3650000"/>
            <a:ext cx="4672936" cy="4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chemeClr val="tx2"/>
                </a:solidFill>
                <a:latin typeface="+mj-lt"/>
              </a:rPr>
              <a:t>Остаток работ до 15.10.2026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1364" y="4220000"/>
            <a:ext cx="5232936" cy="18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Перевезти на Южный блок 4 700 м³ грунта (58,8 %), доставить к подножию 5 000 м³;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Завершить площадку под ZJ-30 (готовность 15 %) и подъём на блок (90 %);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Обустроить шламовый амбар, водозабор и подвести коммуникации (работы не начаты);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Завершить площадку под вахтовый посёлок (80 %).</a:t>
            </a:r>
          </a:p>
        </p:txBody>
      </p:sp>
      <p:sp>
        <p:nvSpPr>
          <p:cNvPr id="38" name="Фигура 38"/>
          <p:cNvSpPr/>
          <p:nvPr/>
        </p:nvSpPr>
        <p:spPr>
          <a:xfrm>
            <a:off x="6187180" y="3500000"/>
            <a:ext cx="5632936" cy="26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Фигура 39"/>
          <p:cNvSpPr/>
          <p:nvPr/>
        </p:nvSpPr>
        <p:spPr>
          <a:xfrm>
            <a:off x="6187180" y="3431000"/>
            <a:ext cx="563293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0" name="Иконка 40" descr="TbAlertTriangle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7180" y="3650000"/>
            <a:ext cx="420000" cy="420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6947180" y="3650000"/>
            <a:ext cx="4672936" cy="4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chemeClr val="tx2"/>
                </a:solidFill>
                <a:latin typeface="+mj-lt"/>
              </a:rPr>
              <a:t>Риски срыва графика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87180" y="4220000"/>
            <a:ext cx="5232936" cy="18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Дефицит самосвалов 6×6 и отказ подрядчика от договорных цен из-за роста стоимости ДТ;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Повторная осадка отсыпки на заболоченных участках при осадках;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Окончание мобилизации и начало бурения ЮГ-1 запланированы на одну дату (25.10) — нет резерва на вышкомонтаж;</a:t>
            </a:r>
          </a:p>
          <a:p>
            <a:pPr marL="171450" indent="-171450" algn="l">
              <a:spcBef>
                <a:spcPts val="1000"/>
              </a:spcBef>
              <a:buFont typeface="Wingdings" pitchFamily="2" charset="2"/>
              <a:buChar char="v"/>
            </a:pPr>
            <a:r>
              <a:rPr lang="ru-RU" sz="1200" b="0" dirty="0">
                <a:solidFill>
                  <a:schemeClr val="bg2"/>
                </a:solidFill>
                <a:latin typeface="+mn-lt"/>
              </a:rPr>
              <a:t>Сезонное ухудшение погодных условий в октябре.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отставания и меры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Факторы, влияющие на сроки подготовки площадки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Южный блок Мутновского месторождения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500000"/>
            <a:ext cx="73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Основные причины продолжительной подготовки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71364" y="1890000"/>
            <a:ext cx="7300000" cy="786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Stack2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364" y="2063000"/>
            <a:ext cx="440000" cy="44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71364" y="1890000"/>
            <a:ext cx="21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Глинистые грунты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1364" y="1890000"/>
            <a:ext cx="40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70 % дороги от станции до Южного блока проходит по глинистым породам.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371364" y="2766000"/>
            <a:ext cx="7300000" cy="786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7" name="Иконка 17" descr="TbMountain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364" y="2939000"/>
            <a:ext cx="440000" cy="440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71364" y="2766000"/>
            <a:ext cx="21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Большой уклон дороги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21364" y="2766000"/>
            <a:ext cx="40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Потребовались срезка почвенно-растительного слоя и дополнительная отсыпка сложных участков.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371364" y="3642000"/>
            <a:ext cx="7300000" cy="786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1" name="Иконка 21" descr="TbDroplet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364" y="3815000"/>
            <a:ext cx="440000" cy="440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171364" y="3642000"/>
            <a:ext cx="21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Высокая заболоченность площадки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21364" y="3642000"/>
            <a:ext cx="40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Отсыпка под установку МБУ высотой 1,0 м после дождей дала осадку до 0,4 м.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371364" y="4518000"/>
            <a:ext cx="7300000" cy="786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5" name="Иконка 25" descr="TbTruck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364" y="4691000"/>
            <a:ext cx="440000" cy="440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171364" y="4518000"/>
            <a:ext cx="21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Дефицит техники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21364" y="4518000"/>
            <a:ext cx="40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Отсутствуют свободные самосвалы вездеходного типа 6×6 в Камчатском регионе.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371364" y="5394000"/>
            <a:ext cx="7300000" cy="786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9" name="Иконка 29" descr="TbGasStation_4BAF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1364" y="5567000"/>
            <a:ext cx="440000" cy="44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171364" y="5394000"/>
            <a:ext cx="21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rgbClr val="00326E"/>
                </a:solidFill>
                <a:latin typeface="+mj-lt"/>
              </a:rPr>
              <a:t>Рост цен на дизельное топливо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1364" y="5394000"/>
            <a:ext cx="4050000" cy="78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chemeClr val="bg2"/>
                </a:solidFill>
                <a:latin typeface="+mn-lt"/>
              </a:rPr>
              <a:t>Действующий подрядчик не готов работать в договорных ценах: рост стоимости ДТ более 60 %.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921364" y="1491000"/>
            <a:ext cx="3898752" cy="4689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8171364" y="1680000"/>
            <a:ext cx="3398752" cy="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0" dirty="0">
                <a:solidFill>
                  <a:srgbClr val="FFFFFF"/>
                </a:solidFill>
                <a:latin typeface="+mj-lt"/>
              </a:rPr>
              <a:t>Компенсационные мероприятия</a:t>
            </a:r>
          </a:p>
        </p:txBody>
      </p:sp>
      <p:pic>
        <p:nvPicPr>
          <p:cNvPr id="34" name="Иконка 34" descr="TbUsersPlus_FFFFFF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1364" y="2360000"/>
            <a:ext cx="420000" cy="4200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8721364" y="2420000"/>
            <a:ext cx="2848752" cy="1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Сокращение сроков вышкомонтажа</a:t>
            </a:r>
          </a:p>
          <a:p>
            <a:pPr algn="l">
              <a:spcBef>
                <a:spcPts val="600"/>
              </a:spcBef>
              <a:buNone/>
            </a:pPr>
            <a:r>
              <a:rPr lang="ru-RU" sz="1100" b="0" dirty="0">
                <a:solidFill>
                  <a:srgbClr val="FFFFFF"/>
                </a:solidFill>
                <a:latin typeface="+mn-lt"/>
              </a:rPr>
              <a:t>Привлечение дополнительного персонала из Усинского региона: сварщик, электрик, два помощника бурильщика.</a:t>
            </a:r>
          </a:p>
        </p:txBody>
      </p:sp>
      <p:pic>
        <p:nvPicPr>
          <p:cNvPr id="36" name="Иконка 36" descr="TbTruckDelivery_FFFFF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1364" y="4260000"/>
            <a:ext cx="420000" cy="420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8721364" y="4320000"/>
            <a:ext cx="2848752" cy="1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Опережающий переезд</a:t>
            </a:r>
          </a:p>
          <a:p>
            <a:pPr algn="l">
              <a:spcBef>
                <a:spcPts val="600"/>
              </a:spcBef>
              <a:buNone/>
            </a:pPr>
            <a:r>
              <a:rPr lang="ru-RU" sz="1100" b="0" dirty="0">
                <a:solidFill>
                  <a:srgbClr val="FFFFFF"/>
                </a:solidFill>
                <a:latin typeface="+mn-lt"/>
              </a:rPr>
              <a:t>С 28.09.2026 начата мобилизация МТР из г. Петропавловск-Камчатский; одновременно на Южный блок перевозится неиспользуемое оборудование с площадки Гео-12.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Статус подготовки площадки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Южный блок: готовность работ на 30.09.2026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Южный блок Мутновского месторождения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60000"/>
            <a:ext cx="3300000" cy="46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91000"/>
            <a:ext cx="33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91364" y="1730000"/>
            <a:ext cx="286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Общая готовность площадки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1364" y="2030000"/>
            <a:ext cx="2860000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6000" b="0" dirty="0">
                <a:solidFill>
                  <a:srgbClr val="00326E"/>
                </a:solidFill>
                <a:latin typeface="+mj-lt"/>
              </a:rPr>
              <a:t>44 %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591364" y="2980000"/>
            <a:ext cx="2860000" cy="1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Фигура 16"/>
          <p:cNvSpPr/>
          <p:nvPr/>
        </p:nvSpPr>
        <p:spPr>
          <a:xfrm>
            <a:off x="591364" y="2980000"/>
            <a:ext cx="1258400" cy="11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7" name="Иконка 17" descr="TbSnowflake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364" y="3400000"/>
            <a:ext cx="380000" cy="380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91364" y="3340000"/>
            <a:ext cx="23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326E"/>
                </a:solidFill>
                <a:latin typeface="+mj-lt"/>
              </a:rPr>
              <a:t>72 000 м³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1364" y="3670000"/>
            <a:ext cx="2360000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снега убрано с подъездного пути (16.07–14.08, 3 бульдозера)</a:t>
            </a:r>
          </a:p>
        </p:txBody>
      </p:sp>
      <p:pic>
        <p:nvPicPr>
          <p:cNvPr id="20" name="Иконка 20" descr="TbRoad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364" y="4280000"/>
            <a:ext cx="380000" cy="380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91364" y="4220000"/>
            <a:ext cx="23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326E"/>
                </a:solidFill>
                <a:latin typeface="+mj-lt"/>
              </a:rPr>
              <a:t>3 км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1364" y="4550000"/>
            <a:ext cx="2360000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подъём на Южный блок подготовлен на 90 %</a:t>
            </a:r>
          </a:p>
        </p:txBody>
      </p:sp>
      <p:pic>
        <p:nvPicPr>
          <p:cNvPr id="23" name="Иконка 23" descr="TbBarrierBlock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364" y="5160000"/>
            <a:ext cx="380000" cy="380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91364" y="5100000"/>
            <a:ext cx="23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326E"/>
                </a:solidFill>
                <a:latin typeface="+mj-lt"/>
              </a:rPr>
              <a:t>&gt; 700 м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1364" y="5430000"/>
            <a:ext cx="2360000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0" dirty="0">
                <a:solidFill>
                  <a:schemeClr val="bg2"/>
                </a:solidFill>
                <a:latin typeface="+mn-lt"/>
              </a:rPr>
              <a:t>сложных участков усилены георешёткой и материалами ТЕХНОНИКОЛЬ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21364" y="1500000"/>
            <a:ext cx="789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Готовность по видам работ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921364" y="1890000"/>
            <a:ext cx="789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4021364" y="1890000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Расчистка территории под планировку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7271364" y="2053333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Фигура 30"/>
          <p:cNvSpPr/>
          <p:nvPr/>
        </p:nvSpPr>
        <p:spPr>
          <a:xfrm>
            <a:off x="7271364" y="2053333"/>
            <a:ext cx="3648752" cy="15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11020116" y="1890000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100 %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21364" y="2366666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Подъём на Южный блок (3 км)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7271364" y="2530000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7271364" y="2530000"/>
            <a:ext cx="3283876" cy="15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11020116" y="2366666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90 %</a:t>
            </a:r>
          </a:p>
        </p:txBody>
      </p:sp>
      <p:sp>
        <p:nvSpPr>
          <p:cNvPr id="36" name="Фигура 36"/>
          <p:cNvSpPr/>
          <p:nvPr/>
        </p:nvSpPr>
        <p:spPr>
          <a:xfrm>
            <a:off x="3921364" y="2843333"/>
            <a:ext cx="789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4021364" y="2843333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Площадка приёмки оборудования и МТР</a:t>
            </a:r>
          </a:p>
        </p:txBody>
      </p:sp>
      <p:sp>
        <p:nvSpPr>
          <p:cNvPr id="38" name="Фигура 38"/>
          <p:cNvSpPr/>
          <p:nvPr/>
        </p:nvSpPr>
        <p:spPr>
          <a:xfrm>
            <a:off x="7271364" y="3006666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Фигура 39"/>
          <p:cNvSpPr/>
          <p:nvPr/>
        </p:nvSpPr>
        <p:spPr>
          <a:xfrm>
            <a:off x="7271364" y="3006666"/>
            <a:ext cx="3648752" cy="15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11020116" y="2843333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100 %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021364" y="3320000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Площадка под вахтовый посёлок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7271364" y="3483333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Фигура 43"/>
          <p:cNvSpPr/>
          <p:nvPr/>
        </p:nvSpPr>
        <p:spPr>
          <a:xfrm>
            <a:off x="7271364" y="3483333"/>
            <a:ext cx="2919001" cy="15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11020116" y="3320000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80 %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3921364" y="3796666"/>
            <a:ext cx="789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4021364" y="3796666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Площадка под буровую установку ZJ-30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черновая отсыпка — 31,7 %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7271364" y="3960000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Фигура 48"/>
          <p:cNvSpPr/>
          <p:nvPr/>
        </p:nvSpPr>
        <p:spPr>
          <a:xfrm>
            <a:off x="7271364" y="3960000"/>
            <a:ext cx="547312" cy="15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11020116" y="3796666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15 %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021364" y="4273333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Грунт доставлен к подножию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5 000 из 10 000 м³</a:t>
            </a:r>
          </a:p>
        </p:txBody>
      </p:sp>
      <p:sp>
        <p:nvSpPr>
          <p:cNvPr id="51" name="Фигура 51"/>
          <p:cNvSpPr/>
          <p:nvPr/>
        </p:nvSpPr>
        <p:spPr>
          <a:xfrm>
            <a:off x="7271364" y="4436666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Фигура 52"/>
          <p:cNvSpPr/>
          <p:nvPr/>
        </p:nvSpPr>
        <p:spPr>
          <a:xfrm>
            <a:off x="7271364" y="4436666"/>
            <a:ext cx="1824376" cy="15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11020116" y="4273333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50 %</a:t>
            </a:r>
          </a:p>
        </p:txBody>
      </p:sp>
      <p:sp>
        <p:nvSpPr>
          <p:cNvPr id="54" name="Фигура 54"/>
          <p:cNvSpPr/>
          <p:nvPr/>
        </p:nvSpPr>
        <p:spPr>
          <a:xfrm>
            <a:off x="3921364" y="4750000"/>
            <a:ext cx="789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5" name="TextBox 55"/>
          <p:cNvSpPr txBox="1"/>
          <p:nvPr/>
        </p:nvSpPr>
        <p:spPr>
          <a:xfrm>
            <a:off x="4021364" y="4750000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Грунт перевезён на Южный блок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3 300 из 8 000 м³</a:t>
            </a:r>
          </a:p>
        </p:txBody>
      </p:sp>
      <p:sp>
        <p:nvSpPr>
          <p:cNvPr id="56" name="Фигура 56"/>
          <p:cNvSpPr/>
          <p:nvPr/>
        </p:nvSpPr>
        <p:spPr>
          <a:xfrm>
            <a:off x="7271364" y="4913333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7" name="Фигура 57"/>
          <p:cNvSpPr/>
          <p:nvPr/>
        </p:nvSpPr>
        <p:spPr>
          <a:xfrm>
            <a:off x="7271364" y="4913333"/>
            <a:ext cx="1503285" cy="15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8" name="TextBox 58"/>
          <p:cNvSpPr txBox="1"/>
          <p:nvPr/>
        </p:nvSpPr>
        <p:spPr>
          <a:xfrm>
            <a:off x="11020116" y="4750000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00326E"/>
                </a:solidFill>
                <a:latin typeface="+mn-lt"/>
              </a:rPr>
              <a:t>41,2 %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021364" y="5226666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Обустройство шламового амбара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работы не начаты</a:t>
            </a:r>
          </a:p>
        </p:txBody>
      </p:sp>
      <p:sp>
        <p:nvSpPr>
          <p:cNvPr id="60" name="Фигура 60"/>
          <p:cNvSpPr/>
          <p:nvPr/>
        </p:nvSpPr>
        <p:spPr>
          <a:xfrm>
            <a:off x="7271364" y="5390000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1" name="TextBox 61"/>
          <p:cNvSpPr txBox="1"/>
          <p:nvPr/>
        </p:nvSpPr>
        <p:spPr>
          <a:xfrm>
            <a:off x="11020116" y="5226666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C00000"/>
                </a:solidFill>
                <a:latin typeface="+mn-lt"/>
              </a:rPr>
              <a:t>0 %</a:t>
            </a:r>
          </a:p>
        </p:txBody>
      </p:sp>
      <p:sp>
        <p:nvSpPr>
          <p:cNvPr id="62" name="Фигура 62"/>
          <p:cNvSpPr/>
          <p:nvPr/>
        </p:nvSpPr>
        <p:spPr>
          <a:xfrm>
            <a:off x="3921364" y="5703333"/>
            <a:ext cx="7898752" cy="47666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3" name="TextBox 63"/>
          <p:cNvSpPr txBox="1"/>
          <p:nvPr/>
        </p:nvSpPr>
        <p:spPr>
          <a:xfrm>
            <a:off x="4021364" y="5703333"/>
            <a:ext cx="32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0" dirty="0">
                <a:solidFill>
                  <a:srgbClr val="00326E"/>
                </a:solidFill>
                <a:latin typeface="+mn-lt"/>
              </a:rPr>
              <a:t>Водозабор и подвод коммуникаций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работы не начаты</a:t>
            </a:r>
          </a:p>
        </p:txBody>
      </p:sp>
      <p:sp>
        <p:nvSpPr>
          <p:cNvPr id="64" name="Фигура 64"/>
          <p:cNvSpPr/>
          <p:nvPr/>
        </p:nvSpPr>
        <p:spPr>
          <a:xfrm>
            <a:off x="7271364" y="5866666"/>
            <a:ext cx="3648752" cy="1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5" name="TextBox 65"/>
          <p:cNvSpPr txBox="1"/>
          <p:nvPr/>
        </p:nvSpPr>
        <p:spPr>
          <a:xfrm>
            <a:off x="11020116" y="5703333"/>
            <a:ext cx="700000" cy="47666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C00000"/>
                </a:solidFill>
                <a:latin typeface="+mn-lt"/>
              </a:rPr>
              <a:t>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12143</TotalTime>
  <Words>2889</Words>
  <Application>Microsoft Office PowerPoint</Application>
  <PresentationFormat>Широкоэкранный</PresentationFormat>
  <Paragraphs>429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0" baseType="lpstr">
      <vt:lpstr>Arial</vt:lpstr>
      <vt:lpstr>Wingdings</vt:lpstr>
      <vt:lpstr>Courier New</vt:lpstr>
      <vt:lpstr>TT Bluescreens Pro Normal Mediu</vt:lpstr>
      <vt:lpstr>TT Bluescreens Pro Expanded</vt:lpstr>
      <vt:lpstr>Tahoma</vt:lpstr>
      <vt:lpstr>Calibri</vt:lpstr>
      <vt:lpstr>TT Bluescreens Pro Expanded Med</vt:lpstr>
      <vt:lpstr>TT Bluescreens Pro Normal</vt:lpstr>
      <vt:lpstr>Тема Office 2013 – 2022</vt:lpstr>
      <vt:lpstr>Повышение эффективности ЗНСТ</vt:lpstr>
      <vt:lpstr>АМНГР</vt:lpstr>
      <vt:lpstr>Показатели отдела коммерции и маркетинга</vt:lpstr>
      <vt:lpstr>СПБУ «Невская»</vt:lpstr>
      <vt:lpstr>СПБУ «Северная Аврора»</vt:lpstr>
      <vt:lpstr>СПБУ «Победа»</vt:lpstr>
      <vt:lpstr>СПБУ «Мурманская»</vt:lpstr>
      <vt:lpstr>Экономические показатели</vt:lpstr>
      <vt:lpstr>Экономические показатели</vt:lpstr>
      <vt:lpstr>Меры повышения эффективности</vt:lpstr>
      <vt:lpstr>В сентябре 2026 г. успешно пройден аудит на соответствие требованиям международных стандартов ISO 14001:2015, ISO 45001:2018 в УК ООО «ЗН Скважинные технологии» и АО «АМНГР»</vt:lpstr>
      <vt:lpstr>Коэффициент травматизма</vt:lpstr>
      <vt:lpstr>РМНТК НЕФТЕОТДАЧА</vt:lpstr>
      <vt:lpstr>Экономические показатели</vt:lpstr>
      <vt:lpstr>Экономические показатели</vt:lpstr>
      <vt:lpstr>Экономические показатели</vt:lpstr>
      <vt:lpstr>Презентация PowerPoint</vt:lpstr>
      <vt:lpstr>Отдел бурения</vt:lpstr>
      <vt:lpstr>Отдел бурения</vt:lpstr>
      <vt:lpstr>Спасибо!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213</cp:revision>
  <dcterms:created xsi:type="dcterms:W3CDTF">2026-05-25T10:20:22Z</dcterms:created>
  <dcterms:modified xsi:type="dcterms:W3CDTF">2026-09-29T13:38:45Z</dcterms:modified>
</cp:coreProperties>
</file>